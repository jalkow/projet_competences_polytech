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263220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2808897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5B13E81-940D-4642-9FBB-D58CCA39D57C}" type="datetimeFigureOut">
              <a:rPr lang="fr-FR"/>
              <a:t>09/01/2026</a:t>
            </a:fld>
            <a:endParaRPr lang="fr-FR"/>
          </a:p>
        </p:txBody>
      </p:sp>
      <p:sp>
        <p:nvSpPr>
          <p:cNvPr id="124476700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343660159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54932232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4863391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012E30C-1A81-0444-AC6E-8E81B7BEE936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05348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9490619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+ Traiter le signal</a:t>
            </a:r>
            <a:endParaRPr/>
          </a:p>
        </p:txBody>
      </p:sp>
      <p:sp>
        <p:nvSpPr>
          <p:cNvPr id="645043703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3F361C0-824B-1940-B540-9651B5320CC2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512071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3409153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966481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012E30C-1A81-0444-AC6E-8E81B7BEE936}" type="slidenum">
              <a:rPr lang="fr-FR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867735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5204834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49533421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012E30C-1A81-0444-AC6E-8E81B7BEE936}" type="slidenum">
              <a:rPr lang="fr-FR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085133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679063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98890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012E30C-1A81-0444-AC6E-8E81B7BEE936}" type="slidenum">
              <a:rPr lang="fr-FR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187831" name="Espace réservé de l'image des diapositives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8946784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4109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012E30C-1A81-0444-AC6E-8E81B7BEE936}" type="slidenum">
              <a:rPr lang="fr-FR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345BE-0E75-F2D2-818F-8661613E081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187831" name="Espace réservé de l'image des diapositives 1">
            <a:extLst>
              <a:ext uri="{FF2B5EF4-FFF2-40B4-BE49-F238E27FC236}">
                <a16:creationId xmlns:a16="http://schemas.microsoft.com/office/drawing/2014/main" id="{54272E4D-FF76-4DFD-CE00-A577829D5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8946784" name="Espace réservé des notes 2">
            <a:extLst>
              <a:ext uri="{FF2B5EF4-FFF2-40B4-BE49-F238E27FC236}">
                <a16:creationId xmlns:a16="http://schemas.microsoft.com/office/drawing/2014/main" id="{C4AC1B18-7CB3-6A1C-16DF-DA36EDE455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4109892" name="Espace réservé du numéro de diapositive 3">
            <a:extLst>
              <a:ext uri="{FF2B5EF4-FFF2-40B4-BE49-F238E27FC236}">
                <a16:creationId xmlns:a16="http://schemas.microsoft.com/office/drawing/2014/main" id="{4608B784-A934-1C81-45D9-BB0F233DC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012E30C-1A81-0444-AC6E-8E81B7BEE936}" type="slidenum">
              <a:rPr lang="fr-FR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227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2257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86993598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9831516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220242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38880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1091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6226501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1526014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4603066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30878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8564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7538139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40680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21063935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4341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437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9536209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33196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32399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3612191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34118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029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4639619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8126752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695498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7188373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1486295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205572538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6595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778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72077944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3581034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1943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51360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4524977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161055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02992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25041093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165100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8931218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5459197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1961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97007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96233343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965808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6467277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1537804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5730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8934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843897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1126271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1698398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60132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6888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6501919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1133609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72159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55644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2512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883229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5591702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18622382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825774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753023" name="Freeform 119"/>
          <p:cNvSpPr/>
          <p:nvPr/>
        </p:nvSpPr>
        <p:spPr bwMode="auto">
          <a:xfrm>
            <a:off x="2" y="740576"/>
            <a:ext cx="18287999" cy="196452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 defTabSz="914445">
              <a:defRPr/>
            </a:pPr>
            <a:r>
              <a:rPr lang="fr-FR" sz="6000" b="1">
                <a:solidFill>
                  <a:srgbClr val="FFFFFF"/>
                </a:solidFill>
                <a:latin typeface="Arial"/>
                <a:cs typeface="Arial"/>
              </a:rPr>
              <a:t>RÉFÉRENTIEL DE COMPÉTENCES</a:t>
            </a:r>
            <a:endParaRPr/>
          </a:p>
          <a:p>
            <a:pPr algn="ctr" defTabSz="914445">
              <a:defRPr/>
            </a:pPr>
            <a:r>
              <a:rPr lang="fr-FR" sz="6000" b="1">
                <a:solidFill>
                  <a:srgbClr val="FFFFFF"/>
                </a:solidFill>
                <a:latin typeface="Arial"/>
                <a:cs typeface="Arial"/>
              </a:rPr>
              <a:t>SNI – POLYTECH ANNECY</a:t>
            </a:r>
            <a:endParaRPr/>
          </a:p>
        </p:txBody>
      </p:sp>
      <p:sp>
        <p:nvSpPr>
          <p:cNvPr id="1305187138" name="Freeform 119"/>
          <p:cNvSpPr/>
          <p:nvPr/>
        </p:nvSpPr>
        <p:spPr bwMode="auto">
          <a:xfrm>
            <a:off x="2057402" y="3401009"/>
            <a:ext cx="7010399" cy="304800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CONCEVOIR UN SYSTÈME D’ACQUISITION</a:t>
            </a:r>
          </a:p>
          <a:p>
            <a:pPr algn="ctr">
              <a:defRPr/>
            </a:pPr>
            <a:r>
              <a:rPr lang="fr-FR" sz="2400" cap="all" dirty="0">
                <a:solidFill>
                  <a:schemeClr val="bg1"/>
                </a:solidFill>
                <a:cs typeface="Calibri"/>
              </a:rPr>
              <a:t>RNCP35711BC01</a:t>
            </a:r>
            <a:br>
              <a:rPr lang="fr-FR" sz="2400" cap="all" dirty="0">
                <a:cs typeface="Calibri"/>
              </a:rPr>
            </a:b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sz="2400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509745807" name="Freeform 119"/>
          <p:cNvSpPr/>
          <p:nvPr/>
        </p:nvSpPr>
        <p:spPr bwMode="auto">
          <a:xfrm>
            <a:off x="2055846" y="6753809"/>
            <a:ext cx="7010399" cy="304800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ÉLABORER DES STRUCTURES</a:t>
            </a:r>
            <a:endParaRPr dirty="0"/>
          </a:p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DE COMMANDE ET DE PILOTAGE</a:t>
            </a:r>
            <a:endParaRPr dirty="0"/>
          </a:p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DE SYSTÈMES AUTOMATISÉS</a:t>
            </a:r>
          </a:p>
          <a:p>
            <a:pPr algn="ctr">
              <a:defRPr/>
            </a:pPr>
            <a:r>
              <a:rPr lang="fr-FR" sz="2400" cap="all" dirty="0">
                <a:solidFill>
                  <a:schemeClr val="bg1"/>
                </a:solidFill>
                <a:cs typeface="Calibri"/>
              </a:rPr>
              <a:t>RNCP35711BC03, RNCP35711BC04, RNCP35711BC05</a:t>
            </a:r>
            <a:endParaRPr lang="fr-FR" sz="2400" dirty="0">
              <a:solidFill>
                <a:schemeClr val="bg1"/>
              </a:solidFill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2050029325" name="Freeform 119"/>
          <p:cNvSpPr/>
          <p:nvPr/>
        </p:nvSpPr>
        <p:spPr bwMode="auto">
          <a:xfrm>
            <a:off x="9372602" y="3390901"/>
            <a:ext cx="7010399" cy="305810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TRAITER DES DONNÉES ISSUES</a:t>
            </a:r>
            <a:endParaRPr dirty="0"/>
          </a:p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DE CAPTEURS</a:t>
            </a:r>
          </a:p>
          <a:p>
            <a:pPr algn="ctr">
              <a:defRPr/>
            </a:pPr>
            <a:r>
              <a:rPr lang="fr-FR" sz="2400" cap="all" dirty="0">
                <a:solidFill>
                  <a:schemeClr val="bg1"/>
                </a:solidFill>
                <a:cs typeface="Calibri"/>
              </a:rPr>
              <a:t>RNCP35711BC02</a:t>
            </a:r>
            <a:br>
              <a:rPr lang="fr-FR" sz="2400" cap="all" dirty="0">
                <a:cs typeface="Calibri"/>
              </a:rPr>
            </a:b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sz="2400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1339421728" name="Freeform 119"/>
          <p:cNvSpPr/>
          <p:nvPr/>
        </p:nvSpPr>
        <p:spPr bwMode="auto">
          <a:xfrm>
            <a:off x="9372600" y="6743700"/>
            <a:ext cx="7010399" cy="304800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DÉVELOPPER UN SYSTÈME </a:t>
            </a:r>
            <a:b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 INFORMATIQUE </a:t>
            </a:r>
            <a:b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fr-FR" sz="3600" b="1" dirty="0">
                <a:solidFill>
                  <a:schemeClr val="bg1"/>
                </a:solidFill>
                <a:latin typeface="Calibri"/>
                <a:cs typeface="Calibri"/>
              </a:rPr>
              <a:t> EMBARQUÉ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cs typeface="Calibri"/>
              </a:rPr>
              <a:t>RNCP35711BC04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sz="2400" dirty="0">
              <a:solidFill>
                <a:schemeClr val="bg1"/>
              </a:solidFill>
            </a:endParaRPr>
          </a:p>
          <a:p>
            <a:pPr algn="ctr">
              <a:defRPr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432330" name="Freeform 119"/>
          <p:cNvSpPr/>
          <p:nvPr/>
        </p:nvSpPr>
        <p:spPr bwMode="auto">
          <a:xfrm>
            <a:off x="381003" y="346806"/>
            <a:ext cx="3124197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CONCEVOIR</a:t>
            </a:r>
            <a:endParaRPr dirty="0"/>
          </a:p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UN SYSTÈME</a:t>
            </a:r>
            <a:endParaRPr dirty="0"/>
          </a:p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D’ACQUISITION</a:t>
            </a:r>
          </a:p>
          <a:p>
            <a:pPr algn="ctr">
              <a:defRPr/>
            </a:pPr>
            <a:r>
              <a:rPr lang="fr-FR" cap="all" dirty="0">
                <a:solidFill>
                  <a:schemeClr val="bg1"/>
                </a:solidFill>
                <a:cs typeface="Calibri"/>
              </a:rPr>
              <a:t>RNCP35711BC01</a:t>
            </a:r>
            <a:br>
              <a:rPr lang="fr-FR" cap="all" dirty="0">
                <a:cs typeface="Calibri"/>
              </a:rPr>
            </a:br>
            <a:r>
              <a:rPr lang="fr-FR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2125001434" name="Freeform 119"/>
          <p:cNvSpPr/>
          <p:nvPr/>
        </p:nvSpPr>
        <p:spPr bwMode="auto">
          <a:xfrm>
            <a:off x="380999" y="3263755"/>
            <a:ext cx="17526002" cy="142254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alibri"/>
                <a:cs typeface="Calibri"/>
              </a:rPr>
              <a:t> Situations professionnelles :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 et mise en œuvre de bancs de test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 et développement de maquettes / prototypes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Contrôle qualité et surveillance de procédés</a:t>
            </a:r>
            <a:endParaRPr/>
          </a:p>
        </p:txBody>
      </p:sp>
      <p:sp>
        <p:nvSpPr>
          <p:cNvPr id="542183473" name="Freeform 119"/>
          <p:cNvSpPr/>
          <p:nvPr/>
        </p:nvSpPr>
        <p:spPr bwMode="auto">
          <a:xfrm>
            <a:off x="3657600" y="346806"/>
            <a:ext cx="14249400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400" b="1">
                <a:solidFill>
                  <a:srgbClr val="000000"/>
                </a:solidFill>
                <a:latin typeface="Calibri"/>
                <a:cs typeface="Calibri"/>
              </a:rPr>
              <a:t> Composantes essentielles :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répondant à l’expression des besoins de façon pertinente dans un contexte de développement durable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identifiant les phénomènes physiques mis en jeu lors de l’acquisition  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caractérisant de façon appropriée la source des données 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effectuant des traitements adaptés 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 utilisant des supports et modes adaptés pour la transmission de signaux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 communiquant de manière précise et adaptée aux différentes parties prenantes	</a:t>
            </a:r>
            <a:endParaRPr/>
          </a:p>
        </p:txBody>
      </p:sp>
      <p:sp>
        <p:nvSpPr>
          <p:cNvPr id="986440678" name="Freeform 119"/>
          <p:cNvSpPr/>
          <p:nvPr/>
        </p:nvSpPr>
        <p:spPr bwMode="auto">
          <a:xfrm>
            <a:off x="2401568" y="4810300"/>
            <a:ext cx="15505431" cy="160382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1D7A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Réaliser un circuit électrique avec les calculs associés  (lois de comportement courant -tension, puissances) et les mesures appropriées à son étude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Analyser les relations entre les structures des matériaux utilisés dans les capteurs et leurs propriétés physiques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Modéliser des systèmes électromagnétiques simples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Identifier les propriétés fonctionnelles mises en jeu dans les capteurs/transducteurs</a:t>
            </a:r>
            <a:endParaRPr/>
          </a:p>
        </p:txBody>
      </p:sp>
      <p:sp>
        <p:nvSpPr>
          <p:cNvPr id="803338468" name="Freeform 119"/>
          <p:cNvSpPr/>
          <p:nvPr/>
        </p:nvSpPr>
        <p:spPr bwMode="auto">
          <a:xfrm>
            <a:off x="2401568" y="6536466"/>
            <a:ext cx="15505431" cy="20832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1D7ACC">
                <a:alpha val="50196"/>
              </a:srgb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Spécifier l’instrumentation en fonction des usages et contraintes de l’environnement du système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Analyser les différents blocs électroniques (analogiques et numériques) constituant une chaîne de mesure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Réaliser les montages électroniques adaptés à la nature des données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Dimensionner et mettre en œuvre une chaîne de mesure (adaptation, calibrage, réglage, acquisition, interfaçage)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Exploiter les données d’une chaîne de mesures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Appliquer une méthode créative et centrée sur l’utilisateur (design thinking)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Rendre compte d’un travail scientifique sur un dispositif de mesure</a:t>
            </a:r>
            <a:endParaRPr/>
          </a:p>
        </p:txBody>
      </p:sp>
      <p:sp>
        <p:nvSpPr>
          <p:cNvPr id="98694863" name="Freeform 119"/>
          <p:cNvSpPr/>
          <p:nvPr/>
        </p:nvSpPr>
        <p:spPr bwMode="auto">
          <a:xfrm>
            <a:off x="2401568" y="8742021"/>
            <a:ext cx="15505431" cy="127910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1D7A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 un réseau de capteurs communicants en prenant en compte les contraintes énergétiques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Prendre des décisions justifiées à partir de mesures, d’observations sur l’environnement, de modèles et de critères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Rédiger des spécifications techniques</a:t>
            </a:r>
            <a:endParaRPr/>
          </a:p>
        </p:txBody>
      </p:sp>
      <p:sp>
        <p:nvSpPr>
          <p:cNvPr id="611182265" name="Freeform 119"/>
          <p:cNvSpPr/>
          <p:nvPr/>
        </p:nvSpPr>
        <p:spPr bwMode="auto">
          <a:xfrm rot="16199999">
            <a:off x="-1920813" y="7112111"/>
            <a:ext cx="5211536" cy="607911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rgbClr val="1D7A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latin typeface="Calibri"/>
                <a:cs typeface="Calibri"/>
              </a:rPr>
              <a:t>APPRENTISSAGES CRITIQUES</a:t>
            </a:r>
            <a:endParaRPr/>
          </a:p>
        </p:txBody>
      </p:sp>
      <p:sp>
        <p:nvSpPr>
          <p:cNvPr id="1064151528" name="Freeform 119"/>
          <p:cNvSpPr/>
          <p:nvPr/>
        </p:nvSpPr>
        <p:spPr bwMode="auto">
          <a:xfrm>
            <a:off x="1123739" y="4810300"/>
            <a:ext cx="1143000" cy="160382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50196"/>
            </a:srgbClr>
          </a:solidFill>
          <a:ln w="38100" cap="sq">
            <a:solidFill>
              <a:srgbClr val="1D79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3A</a:t>
            </a:r>
            <a:endParaRPr/>
          </a:p>
        </p:txBody>
      </p:sp>
      <p:sp>
        <p:nvSpPr>
          <p:cNvPr id="2115651127" name="Freeform 119"/>
          <p:cNvSpPr/>
          <p:nvPr/>
        </p:nvSpPr>
        <p:spPr bwMode="auto">
          <a:xfrm>
            <a:off x="1123739" y="6536466"/>
            <a:ext cx="1143000" cy="20832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50196"/>
            </a:srgbClr>
          </a:solidFill>
          <a:ln w="38100" cap="sq">
            <a:solidFill>
              <a:srgbClr val="1D79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4A</a:t>
            </a:r>
            <a:endParaRPr/>
          </a:p>
        </p:txBody>
      </p:sp>
      <p:sp>
        <p:nvSpPr>
          <p:cNvPr id="678299078" name="Freeform 119"/>
          <p:cNvSpPr/>
          <p:nvPr/>
        </p:nvSpPr>
        <p:spPr bwMode="auto">
          <a:xfrm>
            <a:off x="1123739" y="8742021"/>
            <a:ext cx="1143000" cy="127910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50196"/>
            </a:srgbClr>
          </a:solidFill>
          <a:ln w="38100" cap="sq">
            <a:solidFill>
              <a:srgbClr val="1D79CC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5A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73488" name="Freeform 119"/>
          <p:cNvSpPr/>
          <p:nvPr/>
        </p:nvSpPr>
        <p:spPr bwMode="auto">
          <a:xfrm>
            <a:off x="381003" y="346806"/>
            <a:ext cx="3124197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TRAITER</a:t>
            </a:r>
            <a:endParaRPr dirty="0"/>
          </a:p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DES DONNÉES ISSUES</a:t>
            </a:r>
            <a:endParaRPr dirty="0"/>
          </a:p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DE CAPTEURS</a:t>
            </a:r>
          </a:p>
          <a:p>
            <a:pPr algn="ctr">
              <a:defRPr/>
            </a:pPr>
            <a:r>
              <a:rPr lang="fr-FR" cap="all" dirty="0">
                <a:solidFill>
                  <a:schemeClr val="bg1"/>
                </a:solidFill>
                <a:cs typeface="Calibri"/>
              </a:rPr>
              <a:t>RNCP35711BC02</a:t>
            </a:r>
            <a:br>
              <a:rPr lang="fr-FR" cap="all" dirty="0">
                <a:cs typeface="Calibri"/>
              </a:rPr>
            </a:br>
            <a:r>
              <a:rPr lang="fr-FR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515018639" name="Freeform 119"/>
          <p:cNvSpPr/>
          <p:nvPr/>
        </p:nvSpPr>
        <p:spPr bwMode="auto">
          <a:xfrm>
            <a:off x="380999" y="3263755"/>
            <a:ext cx="17526002" cy="142254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alibri"/>
                <a:cs typeface="Calibri"/>
              </a:rPr>
              <a:t> Situations professionnelles :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Surveillance de phénomènes naturels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Étude de l’environnement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Gestion des énergies renouvelables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Développement de l’habitat intelligent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Monitoring de grands ouvrages</a:t>
            </a:r>
            <a:endParaRPr/>
          </a:p>
        </p:txBody>
      </p:sp>
      <p:sp>
        <p:nvSpPr>
          <p:cNvPr id="2054982801" name="Freeform 119"/>
          <p:cNvSpPr/>
          <p:nvPr/>
        </p:nvSpPr>
        <p:spPr bwMode="auto">
          <a:xfrm>
            <a:off x="3657600" y="346806"/>
            <a:ext cx="14249400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400" b="1" dirty="0">
                <a:solidFill>
                  <a:srgbClr val="000000"/>
                </a:solidFill>
                <a:latin typeface="Calibri"/>
                <a:cs typeface="Calibri"/>
              </a:rPr>
              <a:t> Composantes essentielles :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analysant des signaux naturels en accord avec la physique du milieu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modélisant de manière appropriée le signal utile et le bruit des données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construisant une chaîne de traitement adaptée aux besoins des clients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intégrant les contraintes d’exploitation des données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prenant en compte la dimension DDRS</a:t>
            </a:r>
            <a:endParaRPr dirty="0"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Calibri"/>
              </a:rPr>
              <a:t>En rendant compte en interne et en externe par une communication technique et scientifique adaptée</a:t>
            </a:r>
            <a:endParaRPr dirty="0"/>
          </a:p>
        </p:txBody>
      </p:sp>
      <p:sp>
        <p:nvSpPr>
          <p:cNvPr id="885374709" name="Freeform 119"/>
          <p:cNvSpPr/>
          <p:nvPr/>
        </p:nvSpPr>
        <p:spPr bwMode="auto">
          <a:xfrm>
            <a:off x="2401568" y="4810301"/>
            <a:ext cx="15505431" cy="124760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Choisir une représentation déterministe signal/image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Mettre en œuvre un échantillonnage d’un signal analogique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Effectuer une analyse temporelle et fréquentielle d’un signal déterministe 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Réaliser un filtre linéaire d’un signal déterministe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Évaluer l’impact environnemental des solutions proposées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Présenter des bilans d’études sur les choix techniques et les résultats obtenus</a:t>
            </a:r>
            <a:endParaRPr dirty="0"/>
          </a:p>
        </p:txBody>
      </p:sp>
      <p:sp>
        <p:nvSpPr>
          <p:cNvPr id="1869219310" name="Freeform 119"/>
          <p:cNvSpPr/>
          <p:nvPr/>
        </p:nvSpPr>
        <p:spPr bwMode="auto">
          <a:xfrm>
            <a:off x="2401568" y="6181903"/>
            <a:ext cx="15505431" cy="216199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Choisir une représentation d’un signal aléatoire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Réaliser une estimation de l’autocorrélation et de la densité spectrale d’un signal aléatoire et effectuer un filtre adaptatif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Effectuer des opérations de filtrage linéaire, d’ordre ou morphologique sur des images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Réaliser une détection d’objets, une segmentation d’images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Estimer les mouvements d’objets dans les séries d’images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Adapter les traitements aux données issues de l’observation de l’environnement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Caractériser les incertitudes liées aux données, modèles et méthodes utilisés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Synthétiser des ressources bibliographiques pour se positionner par rapport à l’état de l’art</a:t>
            </a:r>
            <a:endParaRPr/>
          </a:p>
        </p:txBody>
      </p:sp>
      <p:sp>
        <p:nvSpPr>
          <p:cNvPr id="987398649" name="Freeform 119"/>
          <p:cNvSpPr/>
          <p:nvPr/>
        </p:nvSpPr>
        <p:spPr bwMode="auto">
          <a:xfrm>
            <a:off x="2401568" y="8467903"/>
            <a:ext cx="15505431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Réaliser des traitements d’apprentissage non-supervisé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Mettre en œuvre des stratégies d’apprentissage supervisé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 des traitements pour mesurer les conséquences du changement climatique avec différentes sources de données issues de la télédétection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Élaborer un cahier des charges en tenant compte des objectifs de DDRS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Mettre en place une méthode de gestion de projet de type DMAIC ou PDCA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Présenter un rapport technique complet comportant les aspects du sujet d’étude </a:t>
            </a:r>
            <a:endParaRPr/>
          </a:p>
        </p:txBody>
      </p:sp>
      <p:sp>
        <p:nvSpPr>
          <p:cNvPr id="1627690905" name="Freeform 119"/>
          <p:cNvSpPr/>
          <p:nvPr/>
        </p:nvSpPr>
        <p:spPr bwMode="auto">
          <a:xfrm rot="16199999">
            <a:off x="-1920812" y="7112113"/>
            <a:ext cx="5211536" cy="6079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latin typeface="Calibri"/>
                <a:cs typeface="Calibri"/>
              </a:rPr>
              <a:t>APPRENTISSAGES CRITIQUES</a:t>
            </a:r>
            <a:endParaRPr/>
          </a:p>
        </p:txBody>
      </p:sp>
      <p:sp>
        <p:nvSpPr>
          <p:cNvPr id="1455245301" name="Freeform 119"/>
          <p:cNvSpPr/>
          <p:nvPr/>
        </p:nvSpPr>
        <p:spPr bwMode="auto">
          <a:xfrm>
            <a:off x="1123739" y="4810301"/>
            <a:ext cx="1143000" cy="124760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2">
              <a:alpha val="50196"/>
            </a:schemeClr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3A</a:t>
            </a:r>
            <a:endParaRPr/>
          </a:p>
        </p:txBody>
      </p:sp>
      <p:sp>
        <p:nvSpPr>
          <p:cNvPr id="1371231953" name="Freeform 119"/>
          <p:cNvSpPr/>
          <p:nvPr/>
        </p:nvSpPr>
        <p:spPr bwMode="auto">
          <a:xfrm>
            <a:off x="1123739" y="6181903"/>
            <a:ext cx="1143000" cy="216199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2">
              <a:alpha val="50196"/>
            </a:schemeClr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4A</a:t>
            </a:r>
            <a:endParaRPr/>
          </a:p>
        </p:txBody>
      </p:sp>
      <p:sp>
        <p:nvSpPr>
          <p:cNvPr id="219674688" name="Freeform 119"/>
          <p:cNvSpPr/>
          <p:nvPr/>
        </p:nvSpPr>
        <p:spPr bwMode="auto">
          <a:xfrm>
            <a:off x="1123739" y="8467903"/>
            <a:ext cx="1143000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2">
              <a:alpha val="50196"/>
            </a:schemeClr>
          </a:solidFill>
          <a:ln w="38100" cap="sq">
            <a:solidFill>
              <a:srgbClr val="4FA954">
                <a:alpha val="50196"/>
              </a:srgb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5A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426142" name="Freeform 119"/>
          <p:cNvSpPr/>
          <p:nvPr/>
        </p:nvSpPr>
        <p:spPr bwMode="auto">
          <a:xfrm>
            <a:off x="381003" y="346806"/>
            <a:ext cx="5257797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ÉLABORER</a:t>
            </a:r>
            <a:endParaRPr sz="2800" dirty="0"/>
          </a:p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DES STRUCTURES</a:t>
            </a:r>
            <a:endParaRPr sz="2800" dirty="0"/>
          </a:p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DE COMMANDE ET</a:t>
            </a:r>
            <a:endParaRPr sz="2800" dirty="0"/>
          </a:p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DE PILOTAGE</a:t>
            </a:r>
            <a:endParaRPr sz="2800" dirty="0"/>
          </a:p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DE SYSTÈMES AUTOMATISÉS</a:t>
            </a:r>
          </a:p>
          <a:p>
            <a:pPr algn="ctr">
              <a:defRPr/>
            </a:pPr>
            <a:r>
              <a:rPr lang="fr-FR" cap="all" dirty="0">
                <a:solidFill>
                  <a:schemeClr val="bg1"/>
                </a:solidFill>
                <a:cs typeface="Calibri"/>
              </a:rPr>
              <a:t>RNCP35711BC03, RNCP35711BC04, RNCP35711BC05</a:t>
            </a:r>
            <a:endParaRPr lang="fr-FR" dirty="0">
              <a:solidFill>
                <a:schemeClr val="bg1"/>
              </a:solidFill>
              <a:cs typeface="Calibri"/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1845256500" name="Freeform 119"/>
          <p:cNvSpPr/>
          <p:nvPr/>
        </p:nvSpPr>
        <p:spPr bwMode="auto">
          <a:xfrm>
            <a:off x="380999" y="3263755"/>
            <a:ext cx="17526002" cy="142254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alibri"/>
                <a:cs typeface="Calibri"/>
              </a:rPr>
              <a:t> Situations professionnelles :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Tests et prototypage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Surveillance et diagnostic 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 et développement de machines et machines spéciales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Pilotage et contrôle de procédés industriels ou de lignes de production </a:t>
            </a:r>
            <a:endParaRPr/>
          </a:p>
        </p:txBody>
      </p:sp>
      <p:sp>
        <p:nvSpPr>
          <p:cNvPr id="337298152" name="Freeform 119"/>
          <p:cNvSpPr/>
          <p:nvPr/>
        </p:nvSpPr>
        <p:spPr bwMode="auto">
          <a:xfrm>
            <a:off x="5791200" y="346806"/>
            <a:ext cx="12115800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400" b="1">
                <a:solidFill>
                  <a:srgbClr val="000000"/>
                </a:solidFill>
                <a:latin typeface="Calibri"/>
                <a:cs typeface="Calibri"/>
              </a:rPr>
              <a:t> Composantes essentielles :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adoptant une approche systémique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 utilisant des méthodes et outils adaptés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 répondant à l’expression des besoins de façon pertinente  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400">
                <a:solidFill>
                  <a:srgbClr val="000000"/>
                </a:solidFill>
                <a:latin typeface="Calibri"/>
                <a:cs typeface="Calibri"/>
              </a:rPr>
              <a:t>En communiquant de manière adaptée, étayée et précise</a:t>
            </a:r>
            <a:endParaRPr/>
          </a:p>
        </p:txBody>
      </p:sp>
      <p:sp>
        <p:nvSpPr>
          <p:cNvPr id="523238692" name="Freeform 119"/>
          <p:cNvSpPr/>
          <p:nvPr/>
        </p:nvSpPr>
        <p:spPr bwMode="auto">
          <a:xfrm>
            <a:off x="2401568" y="4810301"/>
            <a:ext cx="15505431" cy="165755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numCol="1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Mettre en œuvre une démarche d’analyse pour la modélisation et l’identification d’un système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Utiliser les outils mathématiques appropriés pour l’analyse des signaux et des systèmes continus ou échantillonnés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Simuler et mettre en œuvre une solution de commande en boucle ouverte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Utiliser les outils de modélisation de l’automatisation (GEMMA, GRAFCET)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Organiser la modularisation et hiérarchisation d’une solution de commande d’un automatisme simple et la mettre en œuvre</a:t>
            </a:r>
            <a:endParaRPr/>
          </a:p>
        </p:txBody>
      </p:sp>
      <p:sp>
        <p:nvSpPr>
          <p:cNvPr id="22225675" name="Freeform 119"/>
          <p:cNvSpPr/>
          <p:nvPr/>
        </p:nvSpPr>
        <p:spPr bwMode="auto">
          <a:xfrm>
            <a:off x="2401568" y="6591300"/>
            <a:ext cx="15505431" cy="1933958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numCol="1" anchor="ctr"/>
          <a:lstStyle/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Synthétiser un correcteur standard en s’assurant de la stabilité du système bouclé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Simuler et mettre en œuvre une solution de commande en boucle fermée   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Évaluer les performances de la solution de commande en boucle fermée 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Caractériser la solution centralisée / décentralisée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Organiser la démarche de décentralisation de la commande, la modularisation, la hiérarchisation de la solution et la mettre en œuvre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Collaborer sur un projet en équipe </a:t>
            </a:r>
            <a:endParaRPr dirty="0"/>
          </a:p>
        </p:txBody>
      </p:sp>
      <p:sp>
        <p:nvSpPr>
          <p:cNvPr id="299347870" name="Freeform 119"/>
          <p:cNvSpPr/>
          <p:nvPr/>
        </p:nvSpPr>
        <p:spPr bwMode="auto">
          <a:xfrm>
            <a:off x="2401568" y="8648699"/>
            <a:ext cx="15505431" cy="137242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numCol="1" anchor="ctr"/>
          <a:lstStyle/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Construire des modèles de type représentation d’état de systèmes multi-entrées multi-sorties 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Construire des observateurs pour obtenir des informations sur l’état d’un système</a:t>
            </a:r>
            <a:endParaRPr dirty="0"/>
          </a:p>
          <a:p>
            <a:pPr>
              <a:defRPr/>
            </a:pPr>
            <a:r>
              <a:rPr lang="fr-FR" sz="2000" dirty="0">
                <a:latin typeface="Calibri"/>
                <a:cs typeface="Calibri"/>
              </a:rPr>
              <a:t>Concevoir des structures de commande avancée</a:t>
            </a:r>
            <a:endParaRPr dirty="0"/>
          </a:p>
        </p:txBody>
      </p:sp>
      <p:sp>
        <p:nvSpPr>
          <p:cNvPr id="1399264993" name="Freeform 119"/>
          <p:cNvSpPr/>
          <p:nvPr/>
        </p:nvSpPr>
        <p:spPr bwMode="auto">
          <a:xfrm rot="16199999">
            <a:off x="-1920812" y="7112113"/>
            <a:ext cx="5211536" cy="6079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latin typeface="Calibri"/>
                <a:cs typeface="Calibri"/>
              </a:rPr>
              <a:t>APPRENTISSAGES CRITIQUES</a:t>
            </a:r>
            <a:endParaRPr/>
          </a:p>
        </p:txBody>
      </p:sp>
      <p:sp>
        <p:nvSpPr>
          <p:cNvPr id="293740356" name="Freeform 119"/>
          <p:cNvSpPr/>
          <p:nvPr/>
        </p:nvSpPr>
        <p:spPr bwMode="auto">
          <a:xfrm>
            <a:off x="1123739" y="4810301"/>
            <a:ext cx="1143000" cy="1657557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3">
              <a:alpha val="50196"/>
            </a:schemeClr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3A</a:t>
            </a:r>
            <a:endParaRPr/>
          </a:p>
        </p:txBody>
      </p:sp>
      <p:sp>
        <p:nvSpPr>
          <p:cNvPr id="804003349" name="Freeform 119"/>
          <p:cNvSpPr/>
          <p:nvPr/>
        </p:nvSpPr>
        <p:spPr bwMode="auto">
          <a:xfrm>
            <a:off x="1123739" y="6591300"/>
            <a:ext cx="1143000" cy="1933958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3">
              <a:alpha val="50196"/>
            </a:schemeClr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4A</a:t>
            </a:r>
            <a:endParaRPr/>
          </a:p>
        </p:txBody>
      </p:sp>
      <p:sp>
        <p:nvSpPr>
          <p:cNvPr id="1565883363" name="Freeform 119"/>
          <p:cNvSpPr/>
          <p:nvPr/>
        </p:nvSpPr>
        <p:spPr bwMode="auto">
          <a:xfrm>
            <a:off x="1123739" y="8648699"/>
            <a:ext cx="1143000" cy="137242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3">
              <a:alpha val="50196"/>
            </a:schemeClr>
          </a:solidFill>
          <a:ln w="38100" cap="sq">
            <a:solidFill>
              <a:schemeClr val="accent3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5A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59770" name="Freeform 119"/>
          <p:cNvSpPr/>
          <p:nvPr/>
        </p:nvSpPr>
        <p:spPr bwMode="auto">
          <a:xfrm>
            <a:off x="381003" y="346806"/>
            <a:ext cx="3505197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DÉVELOPPER UN SYSTÈME </a:t>
            </a:r>
            <a:b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 INFORMATIQUE </a:t>
            </a:r>
            <a:b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fr-FR" sz="2800" b="1" dirty="0">
                <a:solidFill>
                  <a:schemeClr val="bg1"/>
                </a:solidFill>
                <a:latin typeface="Calibri"/>
                <a:cs typeface="Calibri"/>
              </a:rPr>
              <a:t> EMBARQUÉ</a:t>
            </a:r>
          </a:p>
          <a:p>
            <a:pPr algn="ctr">
              <a:spcAft>
                <a:spcPts val="600"/>
              </a:spcAft>
            </a:pPr>
            <a:r>
              <a:rPr lang="fr-FR" cap="all" dirty="0">
                <a:solidFill>
                  <a:schemeClr val="bg1"/>
                </a:solidFill>
                <a:cs typeface="Calibri"/>
              </a:rPr>
              <a:t>RNCP35711BC04</a:t>
            </a:r>
          </a:p>
          <a:p>
            <a:pPr algn="ctr">
              <a:spcAft>
                <a:spcPts val="600"/>
              </a:spcAft>
            </a:pPr>
            <a:r>
              <a:rPr lang="fr-FR" cap="all" dirty="0">
                <a:solidFill>
                  <a:schemeClr val="bg1"/>
                </a:solidFill>
                <a:ea typeface="+mn-lt"/>
                <a:cs typeface="+mn-lt"/>
              </a:rPr>
              <a:t>RNCP35711BC05</a:t>
            </a:r>
            <a:endParaRPr lang="fr-FR" dirty="0">
              <a:solidFill>
                <a:schemeClr val="bg1"/>
              </a:solidFill>
            </a:endParaRPr>
          </a:p>
          <a:p>
            <a:pPr algn="ctr">
              <a:defRPr/>
            </a:pPr>
            <a:endParaRPr dirty="0"/>
          </a:p>
        </p:txBody>
      </p:sp>
      <p:sp>
        <p:nvSpPr>
          <p:cNvPr id="701456840" name="Freeform 119"/>
          <p:cNvSpPr/>
          <p:nvPr/>
        </p:nvSpPr>
        <p:spPr bwMode="auto">
          <a:xfrm>
            <a:off x="380999" y="3263755"/>
            <a:ext cx="17526002" cy="142254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alibri"/>
                <a:cs typeface="Calibri"/>
              </a:rPr>
              <a:t> Situations professionnelles :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 et mise en œuvre de l’Internet des Objets (Internet of Things, IoT)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 et réalisation d’applications logicielles</a:t>
            </a:r>
            <a:endParaRPr/>
          </a:p>
          <a:p>
            <a:pPr marL="914445" lvl="1" indent="-457223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Conception et réalisation d’un système informatique d’acquisition et de traitement de données</a:t>
            </a:r>
            <a:endParaRPr/>
          </a:p>
        </p:txBody>
      </p:sp>
      <p:sp>
        <p:nvSpPr>
          <p:cNvPr id="1219728738" name="Freeform 119"/>
          <p:cNvSpPr/>
          <p:nvPr/>
        </p:nvSpPr>
        <p:spPr bwMode="auto">
          <a:xfrm>
            <a:off x="4038600" y="346806"/>
            <a:ext cx="13868400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alibri"/>
                <a:cs typeface="Calibri"/>
              </a:rPr>
              <a:t> Composantes essentielles :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En répondant à l’expression des besoins de façon pertinente 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En utilisant de manière critique des méthodes et outils assurant la qualité du système (gestion de projet informatique, standards qualité, sûreté, sécurité, amélioration continue)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En adoptant une approche systémique (aspects matériels et logiciels)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En communiquant de manière adaptée, étayée et précise</a:t>
            </a:r>
            <a:endParaRPr/>
          </a:p>
          <a:p>
            <a:pPr marL="1028751" lvl="1" indent="-571529">
              <a:buFont typeface="Arial"/>
              <a:buChar char="•"/>
              <a:defRPr/>
            </a:pPr>
            <a:r>
              <a:rPr lang="fr-FR" sz="2000">
                <a:solidFill>
                  <a:srgbClr val="000000"/>
                </a:solidFill>
                <a:latin typeface="Calibri"/>
                <a:cs typeface="Calibri"/>
              </a:rPr>
              <a:t>En adoptant une démarche respectueuse de la réglementation, du développement durable et de la responsabilité sociétale  (frugalité numérique, accessibilité, RGPD, licences, ...)	</a:t>
            </a:r>
            <a:endParaRPr/>
          </a:p>
        </p:txBody>
      </p:sp>
      <p:sp>
        <p:nvSpPr>
          <p:cNvPr id="333076344" name="Freeform 119"/>
          <p:cNvSpPr/>
          <p:nvPr/>
        </p:nvSpPr>
        <p:spPr bwMode="auto">
          <a:xfrm>
            <a:off x="2401568" y="4810301"/>
            <a:ext cx="15505431" cy="165699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1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Concevoir, gérer et utiliser une base de données 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 et implémenter un algorithme dans un programme informatique pour résoudre un problème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 et implémenter une application logicielle avec un nombre limité de fonctionnalités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Développer une application Web intégrant une base de données relationnelle 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Définir le périmètre d’un projet</a:t>
            </a:r>
            <a:endParaRPr/>
          </a:p>
        </p:txBody>
      </p:sp>
      <p:sp>
        <p:nvSpPr>
          <p:cNvPr id="30417849" name="Freeform 119"/>
          <p:cNvSpPr/>
          <p:nvPr/>
        </p:nvSpPr>
        <p:spPr bwMode="auto">
          <a:xfrm>
            <a:off x="2401568" y="6591300"/>
            <a:ext cx="15505431" cy="175259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Intégrer les exigences du RGPD et du droit de la propriété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Spécifier et concevoir un système embarqué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Intégrer la dimension qualité dans le développement du système embarqué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Adopter une démarche de gestion de projet adaptée au développement d’un système informatique embarqué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Appliquer une méthode créative et centrée sur l’utilisateur (design thinking )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Développer une application s’appuyant sur un système N-tiers</a:t>
            </a:r>
            <a:endParaRPr/>
          </a:p>
        </p:txBody>
      </p:sp>
      <p:sp>
        <p:nvSpPr>
          <p:cNvPr id="1723527436" name="Freeform 119"/>
          <p:cNvSpPr/>
          <p:nvPr/>
        </p:nvSpPr>
        <p:spPr bwMode="auto">
          <a:xfrm>
            <a:off x="2401568" y="8467903"/>
            <a:ext cx="15505431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>
                <a:latin typeface="Calibri"/>
                <a:cs typeface="Calibri"/>
              </a:rPr>
              <a:t>Définir et mettre en œuvre une architecture pour les systèmes embarqués communicants (organisation matérielle et logicielle, IoT..)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Caractériser et choisir les moyens de communication entre les sous-systèmes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Identifier les critères garantissant la sûreté, la fiabilité et la sécurité d’un système embarqué  (production d’une documentation technique)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Concevoir des applications multitâches et temps réel </a:t>
            </a:r>
            <a:endParaRPr/>
          </a:p>
          <a:p>
            <a:pPr>
              <a:defRPr/>
            </a:pPr>
            <a:r>
              <a:rPr lang="fr-FR" sz="2000">
                <a:latin typeface="Calibri"/>
                <a:cs typeface="Calibri"/>
              </a:rPr>
              <a:t>Évaluer et optimiser les performances énergétiques d’un système embarqué </a:t>
            </a:r>
            <a:endParaRPr/>
          </a:p>
        </p:txBody>
      </p:sp>
      <p:sp>
        <p:nvSpPr>
          <p:cNvPr id="939577981" name="Freeform 119"/>
          <p:cNvSpPr/>
          <p:nvPr/>
        </p:nvSpPr>
        <p:spPr bwMode="auto">
          <a:xfrm rot="16199999">
            <a:off x="-1920812" y="7112113"/>
            <a:ext cx="5211536" cy="6079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latin typeface="Calibri"/>
                <a:cs typeface="Calibri"/>
              </a:rPr>
              <a:t>APPRENTISSAGES CRITIQUES</a:t>
            </a:r>
            <a:endParaRPr/>
          </a:p>
        </p:txBody>
      </p:sp>
      <p:sp>
        <p:nvSpPr>
          <p:cNvPr id="1278903176" name="Freeform 119"/>
          <p:cNvSpPr/>
          <p:nvPr/>
        </p:nvSpPr>
        <p:spPr bwMode="auto">
          <a:xfrm>
            <a:off x="1123739" y="4810301"/>
            <a:ext cx="1143000" cy="165699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3A</a:t>
            </a:r>
            <a:endParaRPr/>
          </a:p>
        </p:txBody>
      </p:sp>
      <p:sp>
        <p:nvSpPr>
          <p:cNvPr id="2068286769" name="Freeform 119"/>
          <p:cNvSpPr/>
          <p:nvPr/>
        </p:nvSpPr>
        <p:spPr bwMode="auto">
          <a:xfrm>
            <a:off x="1123739" y="6591300"/>
            <a:ext cx="1143000" cy="175259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4A</a:t>
            </a:r>
            <a:endParaRPr/>
          </a:p>
        </p:txBody>
      </p:sp>
      <p:sp>
        <p:nvSpPr>
          <p:cNvPr id="712328407" name="Freeform 119"/>
          <p:cNvSpPr/>
          <p:nvPr/>
        </p:nvSpPr>
        <p:spPr bwMode="auto">
          <a:xfrm>
            <a:off x="1123739" y="8467903"/>
            <a:ext cx="1143000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5A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3A658EE-FD96-A7DA-A95D-C2B26822E63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59770" name="Freeform 119">
            <a:extLst>
              <a:ext uri="{FF2B5EF4-FFF2-40B4-BE49-F238E27FC236}">
                <a16:creationId xmlns:a16="http://schemas.microsoft.com/office/drawing/2014/main" id="{9DFD8B71-8820-A18E-4B95-83A4E9792969}"/>
              </a:ext>
            </a:extLst>
          </p:cNvPr>
          <p:cNvSpPr/>
          <p:nvPr/>
        </p:nvSpPr>
        <p:spPr bwMode="auto">
          <a:xfrm>
            <a:off x="381003" y="346806"/>
            <a:ext cx="3505197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latin typeface="Calibri"/>
                <a:cs typeface="Calibri"/>
              </a:rPr>
              <a:t>GÉRER UN PROJET</a:t>
            </a:r>
            <a:endParaRPr dirty="0"/>
          </a:p>
        </p:txBody>
      </p:sp>
      <p:sp>
        <p:nvSpPr>
          <p:cNvPr id="701456840" name="Freeform 119">
            <a:extLst>
              <a:ext uri="{FF2B5EF4-FFF2-40B4-BE49-F238E27FC236}">
                <a16:creationId xmlns:a16="http://schemas.microsoft.com/office/drawing/2014/main" id="{15F1FA51-2DEA-DCDD-D68A-38B5402C0F6E}"/>
              </a:ext>
            </a:extLst>
          </p:cNvPr>
          <p:cNvSpPr/>
          <p:nvPr/>
        </p:nvSpPr>
        <p:spPr bwMode="auto">
          <a:xfrm>
            <a:off x="380999" y="3263755"/>
            <a:ext cx="17526002" cy="1422545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r>
              <a:rPr lang="fr-FR" sz="2000" b="1" dirty="0">
                <a:solidFill>
                  <a:srgbClr val="000000"/>
                </a:solidFill>
                <a:latin typeface="Calibri"/>
                <a:cs typeface="Calibri"/>
              </a:rPr>
              <a:t> Situations professionnelles :</a:t>
            </a:r>
          </a:p>
          <a:p>
            <a:pPr>
              <a:defRPr/>
            </a:pPr>
            <a:endParaRPr dirty="0"/>
          </a:p>
        </p:txBody>
      </p:sp>
      <p:sp>
        <p:nvSpPr>
          <p:cNvPr id="1219728738" name="Freeform 119">
            <a:extLst>
              <a:ext uri="{FF2B5EF4-FFF2-40B4-BE49-F238E27FC236}">
                <a16:creationId xmlns:a16="http://schemas.microsoft.com/office/drawing/2014/main" id="{E3FE2272-508F-6E88-37E0-F2F75E3A0156}"/>
              </a:ext>
            </a:extLst>
          </p:cNvPr>
          <p:cNvSpPr/>
          <p:nvPr/>
        </p:nvSpPr>
        <p:spPr bwMode="auto">
          <a:xfrm>
            <a:off x="4038600" y="346806"/>
            <a:ext cx="13868400" cy="279294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>
              <a:defRPr/>
            </a:pPr>
            <a:r>
              <a:rPr lang="fr-FR" sz="2000" b="1" dirty="0">
                <a:solidFill>
                  <a:srgbClr val="000000"/>
                </a:solidFill>
                <a:latin typeface="Calibri"/>
                <a:cs typeface="Calibri"/>
              </a:rPr>
              <a:t> Composantes essentielles :</a:t>
            </a:r>
            <a:endParaRPr dirty="0"/>
          </a:p>
          <a:p>
            <a:pPr marL="171450" indent="-171450">
              <a:buFont typeface="Arial"/>
              <a:buChar char="•"/>
            </a:pPr>
            <a:r>
              <a:rPr lang="fr-FR" dirty="0">
                <a:ea typeface="Calibri"/>
                <a:cs typeface="Times New Roman"/>
              </a:rPr>
              <a:t>en exerçant un management efficace (aspects économiques, financiers, besoins client)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dirty="0">
                <a:ea typeface="Calibri"/>
                <a:cs typeface="Calibri"/>
              </a:rPr>
              <a:t>en coopérant efficacement avec des acteurs de cultures différentes (métiers différents,  à l'international, en interne ou externe)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dirty="0">
                <a:ea typeface="Calibri"/>
                <a:cs typeface="Calibri"/>
              </a:rPr>
              <a:t>en prenant en compte la dimension développement durable et RSE</a:t>
            </a:r>
            <a:endParaRPr lang="en-US" dirty="0">
              <a:ea typeface="Calibri"/>
              <a:cs typeface="Calibri"/>
            </a:endParaRPr>
          </a:p>
          <a:p>
            <a:pPr marL="171450" lvl="0" indent="-171450" algn="just">
              <a:buFont typeface="Arial"/>
              <a:buChar char="•"/>
            </a:pPr>
            <a:r>
              <a:rPr lang="fr-FR" dirty="0"/>
              <a:t>en</a:t>
            </a:r>
            <a:r>
              <a:rPr lang="fr-FR" dirty="0">
                <a:ea typeface="+mn-lt"/>
                <a:cs typeface="+mn-lt"/>
              </a:rPr>
              <a:t> intégrant l’état de l’art des connaissances et des pratiques</a:t>
            </a:r>
          </a:p>
          <a:p>
            <a:pPr marL="171450" indent="-171450" algn="just">
              <a:buFont typeface="Arial"/>
              <a:buChar char="•"/>
            </a:pPr>
            <a:r>
              <a:rPr lang="fr-FR" dirty="0">
                <a:ea typeface="+mn-lt"/>
                <a:cs typeface="+mn-lt"/>
              </a:rPr>
              <a:t>en utilisant des méthodes et outils de gestion adaptés au projet</a:t>
            </a:r>
            <a:endParaRPr lang="fr-FR" dirty="0">
              <a:ea typeface="Calibri"/>
              <a:cs typeface="Calibri"/>
            </a:endParaRPr>
          </a:p>
          <a:p>
            <a:pPr marL="457222" lvl="1">
              <a:defRPr/>
            </a:pPr>
            <a:r>
              <a:rPr lang="fr-FR" sz="200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endParaRPr lang="fr-FR" dirty="0"/>
          </a:p>
        </p:txBody>
      </p:sp>
      <p:sp>
        <p:nvSpPr>
          <p:cNvPr id="333076344" name="Freeform 119">
            <a:extLst>
              <a:ext uri="{FF2B5EF4-FFF2-40B4-BE49-F238E27FC236}">
                <a16:creationId xmlns:a16="http://schemas.microsoft.com/office/drawing/2014/main" id="{74BDAA83-BA7F-DF58-6DEA-75EAD99B826C}"/>
              </a:ext>
            </a:extLst>
          </p:cNvPr>
          <p:cNvSpPr/>
          <p:nvPr/>
        </p:nvSpPr>
        <p:spPr bwMode="auto">
          <a:xfrm>
            <a:off x="2401568" y="4810301"/>
            <a:ext cx="15505431" cy="165699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1" anchor="ctr"/>
          <a:lstStyle/>
          <a:p>
            <a:pPr>
              <a:defRPr/>
            </a:pPr>
            <a:endParaRPr dirty="0"/>
          </a:p>
        </p:txBody>
      </p:sp>
      <p:sp>
        <p:nvSpPr>
          <p:cNvPr id="30417849" name="Freeform 119">
            <a:extLst>
              <a:ext uri="{FF2B5EF4-FFF2-40B4-BE49-F238E27FC236}">
                <a16:creationId xmlns:a16="http://schemas.microsoft.com/office/drawing/2014/main" id="{7B26F8E9-6607-007E-A1E3-F3D11ED85A62}"/>
              </a:ext>
            </a:extLst>
          </p:cNvPr>
          <p:cNvSpPr/>
          <p:nvPr/>
        </p:nvSpPr>
        <p:spPr bwMode="auto">
          <a:xfrm>
            <a:off x="2401568" y="6591300"/>
            <a:ext cx="15505431" cy="175259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endParaRPr dirty="0"/>
          </a:p>
        </p:txBody>
      </p:sp>
      <p:sp>
        <p:nvSpPr>
          <p:cNvPr id="1723527436" name="Freeform 119">
            <a:extLst>
              <a:ext uri="{FF2B5EF4-FFF2-40B4-BE49-F238E27FC236}">
                <a16:creationId xmlns:a16="http://schemas.microsoft.com/office/drawing/2014/main" id="{4B33D8AD-D454-F77F-1CD8-9948A56DC849}"/>
              </a:ext>
            </a:extLst>
          </p:cNvPr>
          <p:cNvSpPr/>
          <p:nvPr/>
        </p:nvSpPr>
        <p:spPr bwMode="auto">
          <a:xfrm>
            <a:off x="2401568" y="8467903"/>
            <a:ext cx="15505431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numCol="2" anchor="ctr"/>
          <a:lstStyle/>
          <a:p>
            <a:pPr>
              <a:defRPr/>
            </a:pPr>
            <a:endParaRPr dirty="0"/>
          </a:p>
        </p:txBody>
      </p:sp>
      <p:sp>
        <p:nvSpPr>
          <p:cNvPr id="939577981" name="Freeform 119">
            <a:extLst>
              <a:ext uri="{FF2B5EF4-FFF2-40B4-BE49-F238E27FC236}">
                <a16:creationId xmlns:a16="http://schemas.microsoft.com/office/drawing/2014/main" id="{20EDD8DE-143C-F66F-02B1-4B74FF4A6C33}"/>
              </a:ext>
            </a:extLst>
          </p:cNvPr>
          <p:cNvSpPr/>
          <p:nvPr/>
        </p:nvSpPr>
        <p:spPr bwMode="auto">
          <a:xfrm rot="16199999">
            <a:off x="-1920812" y="7112113"/>
            <a:ext cx="5211536" cy="607910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latin typeface="Calibri"/>
                <a:cs typeface="Calibri"/>
              </a:rPr>
              <a:t>APPRENTISSAGES CRITIQUES</a:t>
            </a:r>
            <a:endParaRPr/>
          </a:p>
        </p:txBody>
      </p:sp>
      <p:sp>
        <p:nvSpPr>
          <p:cNvPr id="1278903176" name="Freeform 119">
            <a:extLst>
              <a:ext uri="{FF2B5EF4-FFF2-40B4-BE49-F238E27FC236}">
                <a16:creationId xmlns:a16="http://schemas.microsoft.com/office/drawing/2014/main" id="{8F260424-CB9E-8FC1-DCB4-57C7DE53ECB8}"/>
              </a:ext>
            </a:extLst>
          </p:cNvPr>
          <p:cNvSpPr/>
          <p:nvPr/>
        </p:nvSpPr>
        <p:spPr bwMode="auto">
          <a:xfrm>
            <a:off x="1123739" y="4810301"/>
            <a:ext cx="1143000" cy="165699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3A</a:t>
            </a:r>
            <a:endParaRPr/>
          </a:p>
        </p:txBody>
      </p:sp>
      <p:sp>
        <p:nvSpPr>
          <p:cNvPr id="2068286769" name="Freeform 119">
            <a:extLst>
              <a:ext uri="{FF2B5EF4-FFF2-40B4-BE49-F238E27FC236}">
                <a16:creationId xmlns:a16="http://schemas.microsoft.com/office/drawing/2014/main" id="{E39DC9F5-87E7-97DC-C9C2-25C73A7EA6AF}"/>
              </a:ext>
            </a:extLst>
          </p:cNvPr>
          <p:cNvSpPr/>
          <p:nvPr/>
        </p:nvSpPr>
        <p:spPr bwMode="auto">
          <a:xfrm>
            <a:off x="1123739" y="6591300"/>
            <a:ext cx="1143000" cy="1752599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4A</a:t>
            </a:r>
            <a:endParaRPr/>
          </a:p>
        </p:txBody>
      </p:sp>
      <p:sp>
        <p:nvSpPr>
          <p:cNvPr id="712328407" name="Freeform 119">
            <a:extLst>
              <a:ext uri="{FF2B5EF4-FFF2-40B4-BE49-F238E27FC236}">
                <a16:creationId xmlns:a16="http://schemas.microsoft.com/office/drawing/2014/main" id="{8CFC7DF3-044E-0CF8-A636-5F9E1DBBEFEF}"/>
              </a:ext>
            </a:extLst>
          </p:cNvPr>
          <p:cNvSpPr/>
          <p:nvPr/>
        </p:nvSpPr>
        <p:spPr bwMode="auto">
          <a:xfrm>
            <a:off x="1123739" y="8467903"/>
            <a:ext cx="1143000" cy="1553226"/>
          </a:xfrm>
          <a:custGeom>
            <a:avLst/>
            <a:gdLst/>
            <a:ahLst/>
            <a:cxnLst/>
            <a:rect l="l" t="t" r="r" b="b"/>
            <a:pathLst>
              <a:path w="4736979" h="214229" extrusionOk="0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accent4">
              <a:alpha val="50196"/>
            </a:schemeClr>
          </a:solidFill>
          <a:ln w="38100" cap="sq">
            <a:solidFill>
              <a:schemeClr val="accent4">
                <a:alpha val="50196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>
              <a:defRPr/>
            </a:pPr>
            <a:r>
              <a:rPr lang="fr-FR" sz="3600">
                <a:latin typeface="Calibri"/>
                <a:cs typeface="Calibri"/>
              </a:rPr>
              <a:t>5A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0955903"/>
      </p:ext>
    </p:extLst>
  </p:cSld>
  <p:clrMapOvr>
    <a:masterClrMapping/>
  </p:clrMapOvr>
</p:sld>
</file>

<file path=ppt/theme/theme1.xml><?xml version="1.0" encoding="utf-8"?>
<a:theme xmlns:a="http://schemas.openxmlformats.org/drawingml/2006/main" name="Polytech-AVENIR(s)">
  <a:themeElements>
    <a:clrScheme name="AVENIR(s)-Compétences">
      <a:dk1>
        <a:srgbClr val="000000"/>
      </a:dk1>
      <a:lt1>
        <a:srgbClr val="FFFFFF"/>
      </a:lt1>
      <a:dk2>
        <a:srgbClr val="094170"/>
      </a:dk2>
      <a:lt2>
        <a:srgbClr val="009FE3"/>
      </a:lt2>
      <a:accent1>
        <a:srgbClr val="1D79CC"/>
      </a:accent1>
      <a:accent2>
        <a:srgbClr val="4FA954"/>
      </a:accent2>
      <a:accent3>
        <a:srgbClr val="F39830"/>
      </a:accent3>
      <a:accent4>
        <a:srgbClr val="8C4BE2"/>
      </a:accent4>
      <a:accent5>
        <a:srgbClr val="FAC710"/>
      </a:accent5>
      <a:accent6>
        <a:srgbClr val="F366A7"/>
      </a:accent6>
      <a:hlink>
        <a:srgbClr val="A385FE"/>
      </a:hlink>
      <a:folHlink>
        <a:srgbClr val="44D285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ee0ae4ad04d99a381a631d8baf9d36ac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3976bdb028b1ad95c0e1cc62d8590a7d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B1865FD-6F5E-428E-A7C8-454B1691BC74}"/>
</file>

<file path=customXml/itemProps2.xml><?xml version="1.0" encoding="utf-8"?>
<ds:datastoreItem xmlns:ds="http://schemas.openxmlformats.org/officeDocument/2006/customXml" ds:itemID="{F5D82BB3-9D2C-445F-9D86-18A30AACEF44}"/>
</file>

<file path=customXml/itemProps3.xml><?xml version="1.0" encoding="utf-8"?>
<ds:datastoreItem xmlns:ds="http://schemas.openxmlformats.org/officeDocument/2006/customXml" ds:itemID="{9314C23D-6B1D-4656-9A45-96431BBA812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</TotalTime>
  <Words>1310</Words>
  <Application>Microsoft Macintosh PowerPoint</Application>
  <PresentationFormat>Personnalisé</PresentationFormat>
  <Paragraphs>175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Calibri</vt:lpstr>
      <vt:lpstr>Arial</vt:lpstr>
      <vt:lpstr>Arial,Sans-Serif</vt:lpstr>
      <vt:lpstr>Polytech-AVENIR(s)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46</cp:revision>
  <dcterms:created xsi:type="dcterms:W3CDTF">2006-08-16T00:00:00Z</dcterms:created>
  <dcterms:modified xsi:type="dcterms:W3CDTF">2026-01-09T14:15:04Z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