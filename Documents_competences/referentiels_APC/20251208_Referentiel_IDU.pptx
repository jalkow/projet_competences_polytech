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76" r:id="rId3"/>
    <p:sldId id="274" r:id="rId4"/>
    <p:sldId id="277" r:id="rId5"/>
    <p:sldId id="278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58" autoAdjust="0"/>
  </p:normalViewPr>
  <p:slideViewPr>
    <p:cSldViewPr>
      <p:cViewPr varScale="1">
        <p:scale>
          <a:sx n="71" d="100"/>
          <a:sy n="71" d="100"/>
        </p:scale>
        <p:origin x="1304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 IDU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Concevoir et mettre en œuvre des systèmes informatiques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RNCP35994BC01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Gérer les usages des données numériques en lien avec le client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cap="all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Collecter et traiter des données numériques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b="1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RNCP35994BC02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Gérer un projet informatique</a:t>
            </a:r>
            <a:r>
              <a:rPr lang="fr-FR" sz="2400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cap="all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Concevoir et mettre en œuvre des systèmes informatiques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RNCP35994BC01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Ingénieur DevOps,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Architecte big data,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Architecte SI,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Ingénieur d’études / Recherche et Développement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endParaRPr lang="fr-FR" sz="8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 adaptant la solution aux besoins de l’utilisateur​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 utilisant des méthodes et outils assurant la qualité du système (développement logiciel, gestion de projet informatique, standards qualité, sûreté, sécurité, amélioration continue)​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 adoptant une approche systémique (aspects matériels et logiciels)​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avec des concepteurs, développeurs et utilisateurs (écrit, oral)​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l’impact environnemental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3886199" y="4932645"/>
            <a:ext cx="13965861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AC1.1</a:t>
            </a:r>
            <a:r>
              <a:rPr lang="fr-FR" sz="1600" dirty="0"/>
              <a:t> Concevoir, gérer et utiliser une base de données​</a:t>
            </a:r>
          </a:p>
          <a:p>
            <a:pPr fontAlgn="base"/>
            <a:r>
              <a:rPr lang="fr-FR" sz="1600" b="1" dirty="0"/>
              <a:t>AC1.2 </a:t>
            </a:r>
            <a:r>
              <a:rPr lang="fr-FR" sz="1600" dirty="0"/>
              <a:t>Concevoir et implémenter une application orientée objet de petite taille (&lt;10classes)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AC1.3 </a:t>
            </a:r>
            <a:r>
              <a:rPr lang="fr-FR" sz="1600" dirty="0"/>
              <a:t>Résoudre un problème en implémentant un algorithme dans un programme informatique procédural ou objet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AC1.4 </a:t>
            </a:r>
            <a:r>
              <a:rPr lang="fr-FR" sz="1600" dirty="0"/>
              <a:t>Mettre en œuvre une architecture client-serveur 3-tiers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AC1.5 </a:t>
            </a:r>
            <a:r>
              <a:rPr lang="fr-FR" sz="1600" dirty="0"/>
              <a:t>Concevoir et implémenter une application web de rendu de données / intégrant une BD​</a:t>
            </a:r>
          </a:p>
          <a:p>
            <a:pPr fontAlgn="base"/>
            <a:r>
              <a:rPr lang="fr-FR" sz="1600" b="1" dirty="0"/>
              <a:t>AC1.6 </a:t>
            </a:r>
            <a:r>
              <a:rPr lang="fr-FR" sz="1600" dirty="0"/>
              <a:t>Évaluer la consommation énergétique d’un programme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3886199" y="6674975"/>
            <a:ext cx="1396586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AC1.7 </a:t>
            </a:r>
            <a:r>
              <a:rPr lang="fr-FR" sz="1600" dirty="0"/>
              <a:t>Définir les caractéristiques techniques et fonctionnelles d'un système​</a:t>
            </a:r>
          </a:p>
          <a:p>
            <a:pPr fontAlgn="base"/>
            <a:r>
              <a:rPr lang="fr-FR" sz="1600" b="1" dirty="0"/>
              <a:t>AC1.8 </a:t>
            </a:r>
            <a:r>
              <a:rPr lang="fr-FR" sz="1600" dirty="0"/>
              <a:t>Spécifier et concevoir un logiciel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AC1.9 </a:t>
            </a:r>
            <a:r>
              <a:rPr lang="fr-FR" sz="1600" dirty="0"/>
              <a:t>Mettre en œuvre un processus qualité et d’intégration continue dans le développement logiciel​</a:t>
            </a:r>
          </a:p>
          <a:p>
            <a:pPr fontAlgn="base"/>
            <a:r>
              <a:rPr lang="fr-FR" sz="1600" b="1" dirty="0"/>
              <a:t>AC1.10 </a:t>
            </a:r>
            <a:r>
              <a:rPr lang="fr-FR" sz="1600" dirty="0"/>
              <a:t>Choisir une méthode de développement adaptée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3886197" y="8417306"/>
            <a:ext cx="13965863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AC1.11 </a:t>
            </a:r>
            <a:r>
              <a:rPr lang="fr-FR" sz="1600" dirty="0"/>
              <a:t>Définir et mettre en œuvre une architecture de système logiciel de données massives​</a:t>
            </a:r>
          </a:p>
          <a:p>
            <a:pPr fontAlgn="base"/>
            <a:r>
              <a:rPr lang="fr-FR" sz="1600" b="1" dirty="0"/>
              <a:t>AC1.12 </a:t>
            </a:r>
            <a:r>
              <a:rPr lang="fr-FR" sz="1600" dirty="0"/>
              <a:t>Caractériser et choisir les solutions logicielles et systèmes adaptés aux besoins​</a:t>
            </a:r>
          </a:p>
          <a:p>
            <a:pPr fontAlgn="base"/>
            <a:r>
              <a:rPr lang="fr-FR" sz="1600" b="1" dirty="0"/>
              <a:t>AC1.13 </a:t>
            </a:r>
            <a:r>
              <a:rPr lang="fr-FR" sz="1600" dirty="0"/>
              <a:t>S'assurer de la sûreté, la fiabilité et la sécurité du système, du traitement et des données​</a:t>
            </a:r>
          </a:p>
          <a:p>
            <a:pPr fontAlgn="base"/>
            <a:r>
              <a:rPr lang="fr-FR" sz="1600" b="1" dirty="0"/>
              <a:t>AC1.14 </a:t>
            </a:r>
            <a:r>
              <a:rPr lang="fr-FR" sz="1600" dirty="0"/>
              <a:t>Concevoir des applications et architectures multitâches et distribuées​</a:t>
            </a:r>
          </a:p>
          <a:p>
            <a:pPr fontAlgn="base"/>
            <a:r>
              <a:rPr lang="fr-FR" sz="1600" b="1" dirty="0"/>
              <a:t>AC1.15 </a:t>
            </a:r>
            <a:r>
              <a:rPr lang="fr-FR" sz="1600" dirty="0"/>
              <a:t>Évaluer et optimiser les performances opérationnelles et énergétiques d'un système logiciel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27791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b="1" dirty="0"/>
              <a:t>Niveau 1</a:t>
            </a:r>
            <a:r>
              <a:rPr lang="fr-FR" dirty="0"/>
              <a:t>​</a:t>
            </a:r>
          </a:p>
          <a:p>
            <a:pPr algn="ctr" fontAlgn="base"/>
            <a:r>
              <a:rPr lang="fr-FR" dirty="0"/>
              <a:t>Pour une application simple 3-tiers intégrant une base de données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27791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b="1" dirty="0"/>
              <a:t>Niveau 2</a:t>
            </a:r>
            <a:r>
              <a:rPr lang="fr-FR" dirty="0"/>
              <a:t>​</a:t>
            </a:r>
          </a:p>
          <a:p>
            <a:pPr algn="ctr" fontAlgn="base"/>
            <a:r>
              <a:rPr lang="fr-FR" dirty="0"/>
              <a:t>Pour une application N-tiers intégrant une base de données et programmée en langage objet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2779187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b="1" dirty="0"/>
              <a:t>Niveau 3</a:t>
            </a:r>
            <a:r>
              <a:rPr lang="fr-FR" dirty="0"/>
              <a:t>​</a:t>
            </a:r>
          </a:p>
          <a:p>
            <a:pPr algn="ctr" fontAlgn="base"/>
            <a:r>
              <a:rPr lang="fr-FR" dirty="0"/>
              <a:t>Pour une application traitant des données du </a:t>
            </a:r>
            <a:r>
              <a:rPr lang="fr-FR" dirty="0" err="1"/>
              <a:t>BigData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Collecter et traiter des données numériques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b="1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RNCP35994BC02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endParaRPr lang="fr-FR" sz="20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utilisant des outils d’acquisition adaptés à la source de données (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scrapping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, api web ou dépôts de données structurées ou non)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déployant des processus adaptés (mesure de la qualité, analyses statistiques, IA, rendus visuels...)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déployant des analyses et visuels dans un but décisionnel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choisissant et gérant un stockage adéquat aux caractéristiques de la donnée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réglementations légales </a:t>
            </a:r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600" dirty="0"/>
              <a:t>DATA </a:t>
            </a:r>
            <a:r>
              <a:rPr lang="fr-FR" sz="1600" dirty="0" err="1"/>
              <a:t>Engineer</a:t>
            </a:r>
            <a:r>
              <a:rPr lang="fr-FR" sz="1600" dirty="0"/>
              <a:t>, </a:t>
            </a:r>
            <a:r>
              <a:rPr lang="en-US" sz="16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600" dirty="0"/>
              <a:t>DATA </a:t>
            </a:r>
            <a:r>
              <a:rPr lang="fr-FR" sz="1600" dirty="0" err="1"/>
              <a:t>Analyst</a:t>
            </a:r>
            <a:r>
              <a:rPr lang="fr-FR" sz="1600" dirty="0"/>
              <a:t>, </a:t>
            </a:r>
            <a:r>
              <a:rPr lang="en-US" sz="16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600" dirty="0"/>
              <a:t>Data </a:t>
            </a:r>
            <a:r>
              <a:rPr lang="fr-FR" sz="1600" dirty="0" err="1"/>
              <a:t>scientist</a:t>
            </a:r>
            <a:endParaRPr lang="fr-FR" sz="1600" dirty="0"/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4648199" y="4932645"/>
            <a:ext cx="13203861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AC2.1 </a:t>
            </a:r>
            <a:r>
              <a:rPr lang="fr-FR" sz="1600" dirty="0"/>
              <a:t>Acquérir des données provenant d’Internet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AC2.2 </a:t>
            </a:r>
            <a:r>
              <a:rPr lang="fr-FR" sz="1600" dirty="0"/>
              <a:t>Récupérer des données provenant d’un dépôt de données structurées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AC2.3 </a:t>
            </a:r>
            <a:r>
              <a:rPr lang="fr-FR" sz="1600" dirty="0"/>
              <a:t>Organiser des données selon des structures de graphe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AC2.4 </a:t>
            </a:r>
            <a:r>
              <a:rPr lang="fr-FR" sz="1600" dirty="0"/>
              <a:t>Implémenter des outils mathématiques​</a:t>
            </a:r>
          </a:p>
          <a:p>
            <a:pPr fontAlgn="base"/>
            <a:r>
              <a:rPr lang="fr-FR" sz="1600" b="1" dirty="0"/>
              <a:t>AC2.5 </a:t>
            </a:r>
            <a:r>
              <a:rPr lang="fr-FR" sz="1600" dirty="0"/>
              <a:t>Déployer les bases algorithmiques de la logique du 1e ordre et des réseaux de neurones​</a:t>
            </a:r>
          </a:p>
          <a:p>
            <a:pPr fontAlgn="base"/>
            <a:r>
              <a:rPr lang="fr-FR" sz="1600" b="1" dirty="0"/>
              <a:t>AC2.6 </a:t>
            </a:r>
            <a:r>
              <a:rPr lang="fr-FR" sz="1600" dirty="0"/>
              <a:t>Réaliser des rendus visuels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4648199" y="6674975"/>
            <a:ext cx="1320386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AC2.7 </a:t>
            </a:r>
            <a:r>
              <a:rPr lang="fr-FR" sz="1600" dirty="0"/>
              <a:t>Évaluer la qualité de la donnée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AC2.8 </a:t>
            </a:r>
            <a:r>
              <a:rPr lang="fr-FR" sz="1600" dirty="0"/>
              <a:t>Répartir les fonctionnalités (acquisition, stockage, traitements, visualisation...) sur un système N-Tiers​</a:t>
            </a:r>
          </a:p>
          <a:p>
            <a:pPr fontAlgn="base"/>
            <a:r>
              <a:rPr lang="fr-FR" sz="1600" b="1" dirty="0"/>
              <a:t>AC2.9 </a:t>
            </a:r>
            <a:r>
              <a:rPr lang="fr-FR" sz="1600" dirty="0"/>
              <a:t>Déployer des traitements distribués​</a:t>
            </a:r>
          </a:p>
          <a:p>
            <a:pPr fontAlgn="base"/>
            <a:r>
              <a:rPr lang="fr-FR" sz="1600" b="1" dirty="0"/>
              <a:t>AC2.10 </a:t>
            </a:r>
            <a:r>
              <a:rPr lang="fr-FR" sz="1600" dirty="0"/>
              <a:t>Choisir et mettre en œuvre des outils d’IA (approches stochastiques, Deep Learning) pour l’analyse et la prédiction de données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AC2.11 </a:t>
            </a:r>
            <a:r>
              <a:rPr lang="fr-FR" sz="1600" dirty="0"/>
              <a:t>Développer des rendus visuels divers, en vue d’une aide à la décision ​</a:t>
            </a:r>
          </a:p>
          <a:p>
            <a:pPr fontAlgn="base"/>
            <a:r>
              <a:rPr lang="fr-FR" sz="1600" b="1" dirty="0"/>
              <a:t>AC2.12 </a:t>
            </a:r>
            <a:r>
              <a:rPr lang="fr-FR" sz="1600" dirty="0"/>
              <a:t>Concevoir et mettre en œuvre une base de données NoSQL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4648197" y="8417306"/>
            <a:ext cx="13203863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AC2.13 </a:t>
            </a:r>
            <a:r>
              <a:rPr lang="fr-FR" dirty="0"/>
              <a:t>Mettre en œuvre des traitements big data (cloud, batch, flux..)​</a:t>
            </a:r>
          </a:p>
          <a:p>
            <a:pPr fontAlgn="base"/>
            <a:r>
              <a:rPr lang="fr-FR" b="1" dirty="0"/>
              <a:t>AC2.14 </a:t>
            </a:r>
            <a:r>
              <a:rPr lang="fr-FR" dirty="0"/>
              <a:t>Développer des traitements distribués </a:t>
            </a:r>
            <a:r>
              <a:rPr lang="en-US" dirty="0"/>
              <a:t>​</a:t>
            </a:r>
          </a:p>
          <a:p>
            <a:pPr fontAlgn="base"/>
            <a:r>
              <a:rPr lang="fr-FR" b="1" dirty="0"/>
              <a:t>AC2.15 </a:t>
            </a:r>
            <a:r>
              <a:rPr lang="fr-FR" dirty="0"/>
              <a:t>Développer des rendus visuels divers, en vue d’une aide à la décision </a:t>
            </a:r>
            <a:r>
              <a:rPr lang="fr-FR" dirty="0" err="1"/>
              <a:t>multi-critères</a:t>
            </a:r>
            <a:r>
              <a:rPr lang="fr-FR" dirty="0"/>
              <a:t> </a:t>
            </a:r>
            <a:r>
              <a:rPr lang="en-US" dirty="0"/>
              <a:t>​</a:t>
            </a:r>
          </a:p>
          <a:p>
            <a:pPr fontAlgn="base"/>
            <a:r>
              <a:rPr lang="fr-FR" b="1" dirty="0"/>
              <a:t>AC2.16 </a:t>
            </a:r>
            <a:r>
              <a:rPr lang="fr-FR" dirty="0"/>
              <a:t>Intégrer des solutions issues de la recherche </a:t>
            </a:r>
            <a:r>
              <a:rPr lang="en-US" dirty="0"/>
              <a:t>​</a:t>
            </a:r>
          </a:p>
          <a:p>
            <a:pPr fontAlgn="base"/>
            <a:r>
              <a:rPr lang="fr-FR" b="1" dirty="0"/>
              <a:t>AC2.17 </a:t>
            </a:r>
            <a:r>
              <a:rPr lang="fr-FR" dirty="0"/>
              <a:t>Caractériser et choisir une représentation de données et les traitements adaptés dans un contexte de big data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35411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1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Pour des données simples, en petites quantités (&lt;1000 tuples, &lt;20 caractéristiques, traitables en temps réel sur un PC de type bureautique)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35411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2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Pour de grandes quantités de données nécessitant une ou plusieurs stations de calculs intensifs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3541187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3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Pour des données nécessitant des techniques de Big Data (en volume, vélocité ou variété)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Gérer les usages des données numériques en lien avec le client</a:t>
            </a:r>
            <a:r>
              <a:rPr lang="fr-FR" sz="2400" b="1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cap="all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respectant les réglementations en vigueur (RGPD, licences, ...)​</a:t>
            </a:r>
            <a:endParaRPr lang="fr-FR" sz="4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communiquant de manière professionnelle (écrit, oral)​</a:t>
            </a:r>
            <a:endParaRPr lang="fr-FR" sz="4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prenant en compte les besoins​</a:t>
            </a:r>
            <a:endParaRPr lang="fr-FR" sz="4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tenant compte des dimensions éthique, économiques, sociétale, environnementales et stratégiques de la donnée</a:t>
            </a:r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Développeur Front,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Entreprenariat,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Ingénieur sécurité, </a:t>
            </a:r>
            <a:r>
              <a:rPr lang="en-US" sz="14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1400" dirty="0"/>
              <a:t>Data Architect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4038599" y="4932645"/>
            <a:ext cx="13813461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AC3.1 </a:t>
            </a:r>
            <a:r>
              <a:rPr lang="fr-FR" dirty="0"/>
              <a:t>Lier des problématiques techniques aux problématiques sociétales​</a:t>
            </a:r>
          </a:p>
          <a:p>
            <a:pPr fontAlgn="base"/>
            <a:r>
              <a:rPr lang="fr-FR" b="1" dirty="0"/>
              <a:t>AC3.2 </a:t>
            </a:r>
            <a:r>
              <a:rPr lang="fr-FR" dirty="0"/>
              <a:t>Construire des API de Plateformes numériques​</a:t>
            </a:r>
          </a:p>
          <a:p>
            <a:pPr fontAlgn="base"/>
            <a:r>
              <a:rPr lang="fr-FR" b="1" dirty="0"/>
              <a:t>AC3.3 </a:t>
            </a:r>
            <a:r>
              <a:rPr lang="fr-FR" dirty="0"/>
              <a:t>Prendre en compte l’importance stratégique de la donnée​</a:t>
            </a:r>
          </a:p>
          <a:p>
            <a:pPr fontAlgn="base"/>
            <a:r>
              <a:rPr lang="fr-FR" b="1" dirty="0"/>
              <a:t>AC3.4 </a:t>
            </a:r>
            <a:r>
              <a:rPr lang="fr-FR" dirty="0"/>
              <a:t>Mesurer les impacts sociétaux liés à la production et à la consommation de données​</a:t>
            </a:r>
          </a:p>
          <a:p>
            <a:pPr fontAlgn="base"/>
            <a:r>
              <a:rPr lang="fr-FR" b="1" dirty="0"/>
              <a:t>AC3.5 </a:t>
            </a:r>
            <a:r>
              <a:rPr lang="fr-FR" dirty="0"/>
              <a:t>Intégrer à la démarche d’ingénierie la dimension éthique et le développement durable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4038599" y="6674975"/>
            <a:ext cx="1381346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AC3.6 </a:t>
            </a:r>
            <a:r>
              <a:rPr lang="fr-FR" dirty="0"/>
              <a:t>Intégrer le cadre légal et réglementaire du traitement de données </a:t>
            </a:r>
            <a:r>
              <a:rPr lang="en-US" dirty="0"/>
              <a:t>​</a:t>
            </a:r>
          </a:p>
          <a:p>
            <a:pPr fontAlgn="base"/>
            <a:r>
              <a:rPr lang="fr-FR" b="1" dirty="0"/>
              <a:t>AC3.7 </a:t>
            </a:r>
            <a:r>
              <a:rPr lang="fr-FR" dirty="0"/>
              <a:t>Analyser et maîtriser les exigences du RGPD et du droit de la propriété​</a:t>
            </a:r>
          </a:p>
          <a:p>
            <a:pPr fontAlgn="base"/>
            <a:r>
              <a:rPr lang="fr-FR" b="1" dirty="0"/>
              <a:t>AC3.8 </a:t>
            </a:r>
            <a:r>
              <a:rPr lang="fr-FR" dirty="0"/>
              <a:t>Intégrer la dimension économie de la donnée (valeur de la donnée, utilisation par les entreprises du numérique, mise en place de business plan)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4038597" y="8417306"/>
            <a:ext cx="13813463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AC3.9 </a:t>
            </a:r>
            <a:r>
              <a:rPr lang="fr-FR" dirty="0"/>
              <a:t>Identifier les risques de sécurité informatique sur les systèmes et les données (fuite de données) ​</a:t>
            </a:r>
          </a:p>
          <a:p>
            <a:pPr fontAlgn="base"/>
            <a:r>
              <a:rPr lang="fr-FR" b="1" dirty="0"/>
              <a:t>AC3.10 </a:t>
            </a:r>
            <a:r>
              <a:rPr lang="fr-FR" dirty="0"/>
              <a:t>Mettre en place les éléments de sécurité et de cryptographie​</a:t>
            </a:r>
          </a:p>
          <a:p>
            <a:pPr fontAlgn="base"/>
            <a:r>
              <a:rPr lang="fr-FR" b="1" dirty="0"/>
              <a:t>AC3.11 </a:t>
            </a:r>
            <a:r>
              <a:rPr lang="fr-FR" dirty="0"/>
              <a:t>Intégrer l’intermédiation dans la conception des systèmes numériques​</a:t>
            </a:r>
          </a:p>
          <a:p>
            <a:pPr fontAlgn="base"/>
            <a:r>
              <a:rPr lang="fr-FR" b="1" dirty="0"/>
              <a:t>AC3.12 </a:t>
            </a:r>
            <a:r>
              <a:rPr lang="fr-FR" dirty="0"/>
              <a:t>Comprendre les effets « réseaux » dans le développement de plateformes numériques​</a:t>
            </a:r>
          </a:p>
          <a:p>
            <a:pPr fontAlgn="base"/>
            <a:r>
              <a:rPr lang="fr-FR" b="1" dirty="0"/>
              <a:t>AC3.13 </a:t>
            </a:r>
            <a:r>
              <a:rPr lang="fr-FR" dirty="0"/>
              <a:t>Expliquer les flux, stockage, sécurisation des données au sein des entreprises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932645"/>
            <a:ext cx="29315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1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Appréhender les enjeux sociétaux de la donnée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674975"/>
            <a:ext cx="29315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2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Intégrer le caractère socio-économique de la donnée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417306"/>
            <a:ext cx="2931587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3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Protéger la donnée et les systèmes informatiques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fontAlgn="base"/>
            <a:r>
              <a:rPr lang="fr-FR" sz="2400" b="1" cap="all" dirty="0">
                <a:solidFill>
                  <a:schemeClr val="bg1"/>
                </a:solidFill>
              </a:rPr>
              <a:t>Gérer un projet informatique</a:t>
            </a:r>
            <a:r>
              <a:rPr lang="fr-FR" sz="2400" dirty="0">
                <a:solidFill>
                  <a:schemeClr val="bg1"/>
                </a:solidFill>
              </a:rPr>
              <a:t>​</a:t>
            </a:r>
          </a:p>
          <a:p>
            <a:pPr algn="ctr" fontAlgn="base"/>
            <a:endParaRPr lang="fr-FR" sz="2400" cap="all" dirty="0">
              <a:solidFill>
                <a:schemeClr val="bg1"/>
              </a:solidFill>
            </a:endParaRPr>
          </a:p>
          <a:p>
            <a:pPr algn="ctr" fontAlgn="base"/>
            <a:r>
              <a:rPr lang="fr-FR" sz="2400" cap="all" dirty="0">
                <a:solidFill>
                  <a:schemeClr val="bg1"/>
                </a:solidFill>
              </a:rPr>
              <a:t>RNCP35994BC05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endParaRPr lang="fr-FR" sz="28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exerçant un management opérationnel et stratégique​</a:t>
            </a:r>
            <a:endParaRPr lang="fr-FR" sz="4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coopérant avec des acteurs de professions et cultures différentes​</a:t>
            </a:r>
            <a:endParaRPr lang="fr-FR" sz="4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développant l'initiative, l'autonomie et l'esprit d'entreprenariat​</a:t>
            </a:r>
            <a:endParaRPr lang="fr-FR" sz="4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prenant en compte la dimension développement durable et RSE​</a:t>
            </a:r>
            <a:endParaRPr lang="fr-FR" sz="4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intégrant l’état de l’art des connaissances et des pratiques​</a:t>
            </a:r>
            <a:endParaRPr lang="fr-FR" sz="4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En utilisant des méthodes et outils de gestion et de suivi du projet</a:t>
            </a:r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endParaRPr lang="fr-FR" sz="16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/>
              <a:t>Conduite de projet informatique​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4038599" y="4932645"/>
            <a:ext cx="13813461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AC4.1 </a:t>
            </a:r>
            <a:r>
              <a:rPr lang="fr-FR" sz="1600" dirty="0"/>
              <a:t>Définir un projet, ses objectifs, ses acteurs et les outils de gestion de projet​</a:t>
            </a:r>
          </a:p>
          <a:p>
            <a:pPr fontAlgn="base"/>
            <a:r>
              <a:rPr lang="fr-FR" sz="1600" b="1" dirty="0"/>
              <a:t>AC4.2 </a:t>
            </a:r>
            <a:r>
              <a:rPr lang="fr-FR" sz="1600" dirty="0"/>
              <a:t>Mettre en œuvre une méthode de gestion de projet informatique et des outils collaboratifs associés​</a:t>
            </a:r>
          </a:p>
          <a:p>
            <a:pPr fontAlgn="base"/>
            <a:r>
              <a:rPr lang="fr-FR" sz="1600" b="1" dirty="0"/>
              <a:t>AC4.3 </a:t>
            </a:r>
            <a:r>
              <a:rPr lang="fr-FR" sz="1600" dirty="0"/>
              <a:t>Mettre en œuvre des outils de planification et de suivi de projet​</a:t>
            </a:r>
          </a:p>
          <a:p>
            <a:pPr fontAlgn="base"/>
            <a:r>
              <a:rPr lang="fr-FR" sz="1600" b="1" dirty="0"/>
              <a:t>AC4.4 </a:t>
            </a:r>
            <a:r>
              <a:rPr lang="fr-FR" sz="1600" dirty="0"/>
              <a:t>Évaluer la rentabilité des projets​</a:t>
            </a:r>
          </a:p>
          <a:p>
            <a:pPr fontAlgn="base"/>
            <a:r>
              <a:rPr lang="fr-FR" sz="1600" b="1" dirty="0"/>
              <a:t>AC4.5 </a:t>
            </a:r>
            <a:r>
              <a:rPr lang="fr-FR" sz="1600" dirty="0"/>
              <a:t>Concevoir les bases d'une stratégie d'entreprise​</a:t>
            </a:r>
          </a:p>
          <a:p>
            <a:pPr fontAlgn="base"/>
            <a:r>
              <a:rPr lang="fr-FR" sz="1600" b="1" dirty="0"/>
              <a:t>AC4.6 </a:t>
            </a:r>
            <a:r>
              <a:rPr lang="fr-FR" sz="1600" dirty="0"/>
              <a:t>Comprendre les lois et réglementations qui régissent leur domaine d'expertise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4038599" y="6674975"/>
            <a:ext cx="1381346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AC4.7 </a:t>
            </a:r>
            <a:r>
              <a:rPr lang="fr-FR" sz="1600" dirty="0"/>
              <a:t>Analyser les besoins, identifier les contraintes et élaborer un cahier des charges </a:t>
            </a:r>
            <a:r>
              <a:rPr lang="en-US" sz="1600" dirty="0"/>
              <a:t>​</a:t>
            </a:r>
          </a:p>
          <a:p>
            <a:pPr fontAlgn="base"/>
            <a:r>
              <a:rPr lang="fr-FR" sz="1600" b="1" dirty="0"/>
              <a:t>AC4.8 </a:t>
            </a:r>
            <a:r>
              <a:rPr lang="fr-FR" sz="1600" dirty="0"/>
              <a:t>Animer les réunions et organiser le travail pour clarifier les attendus​</a:t>
            </a:r>
          </a:p>
          <a:p>
            <a:pPr fontAlgn="base"/>
            <a:r>
              <a:rPr lang="fr-FR" sz="1600" b="1" dirty="0"/>
              <a:t>AC4.9 </a:t>
            </a:r>
            <a:r>
              <a:rPr lang="fr-FR" sz="1600" dirty="0"/>
              <a:t>Identifier et évaluer les risques triviaux d'un projet​</a:t>
            </a:r>
          </a:p>
          <a:p>
            <a:pPr fontAlgn="base"/>
            <a:r>
              <a:rPr lang="fr-FR" sz="1600" b="1" dirty="0"/>
              <a:t>AC4.10 </a:t>
            </a:r>
            <a:r>
              <a:rPr lang="fr-FR" sz="1600" dirty="0"/>
              <a:t>Utiliser les techniques de créativité pour apporter des solutions originales​</a:t>
            </a:r>
          </a:p>
          <a:p>
            <a:pPr fontAlgn="base"/>
            <a:r>
              <a:rPr lang="fr-FR" sz="1600" b="1" dirty="0"/>
              <a:t>AC4.11 </a:t>
            </a:r>
            <a:r>
              <a:rPr lang="fr-FR" sz="1600" dirty="0"/>
              <a:t>Analyser et évaluer les structures et les processus organisationnels​</a:t>
            </a:r>
          </a:p>
          <a:p>
            <a:pPr fontAlgn="base"/>
            <a:r>
              <a:rPr lang="fr-FR" sz="1600" b="1" dirty="0"/>
              <a:t>AC4.12 </a:t>
            </a:r>
            <a:r>
              <a:rPr lang="fr-FR" sz="1600" dirty="0"/>
              <a:t>Communiquer avec différentes cultures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4038597" y="8417306"/>
            <a:ext cx="13813463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sz="1600" b="1" dirty="0"/>
              <a:t>AC4.13 </a:t>
            </a:r>
            <a:r>
              <a:rPr lang="fr-FR" sz="1600" dirty="0"/>
              <a:t>Utiliser des méthodes de management pour la motivation en projet​</a:t>
            </a:r>
          </a:p>
          <a:p>
            <a:pPr fontAlgn="base"/>
            <a:r>
              <a:rPr lang="fr-FR" sz="1600" b="1" dirty="0"/>
              <a:t>AC4.14 </a:t>
            </a:r>
            <a:r>
              <a:rPr lang="fr-FR" sz="1600" dirty="0"/>
              <a:t>Manager des équipes projet (gestion des organisations, résistance au changement…)​</a:t>
            </a:r>
          </a:p>
          <a:p>
            <a:pPr fontAlgn="base"/>
            <a:r>
              <a:rPr lang="fr-FR" sz="1600" b="1" dirty="0"/>
              <a:t>AC4.15 </a:t>
            </a:r>
            <a:r>
              <a:rPr lang="fr-FR" sz="1600" dirty="0"/>
              <a:t>Évaluer l'impact du projet en interne et en externe (responsabilité sociétale et environnementale, stratégie de l'entreprise…)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29315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1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Dans un cas simple, à partir d'un cahier des charges donné​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293158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2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De façon semi-autonome à partir des besoins, dans un contexte socio-économique et culturel international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2931587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fontAlgn="base"/>
            <a:r>
              <a:rPr lang="fr-FR" b="1" dirty="0"/>
              <a:t>Niveau 3</a:t>
            </a:r>
            <a:r>
              <a:rPr lang="fr-FR" dirty="0"/>
              <a:t>​</a:t>
            </a:r>
          </a:p>
          <a:p>
            <a:pPr fontAlgn="base"/>
            <a:r>
              <a:rPr lang="fr-FR" dirty="0"/>
              <a:t>Dans un contexte autonome de d'amélioration, d'innovation ou de recherche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ee0ae4ad04d99a381a631d8baf9d36ac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3976bdb028b1ad95c0e1cc62d8590a7d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41B374-F26A-471B-BCAF-4F5EFC961458}"/>
</file>

<file path=customXml/itemProps2.xml><?xml version="1.0" encoding="utf-8"?>
<ds:datastoreItem xmlns:ds="http://schemas.openxmlformats.org/officeDocument/2006/customXml" ds:itemID="{50D54956-1020-4E72-B41D-721D4F53FFE4}"/>
</file>

<file path=customXml/itemProps3.xml><?xml version="1.0" encoding="utf-8"?>
<ds:datastoreItem xmlns:ds="http://schemas.openxmlformats.org/officeDocument/2006/customXml" ds:itemID="{3477BAFF-E295-45CD-8835-6573354BFDB2}"/>
</file>

<file path=docProps/app.xml><?xml version="1.0" encoding="utf-8"?>
<Properties xmlns="http://schemas.openxmlformats.org/officeDocument/2006/extended-properties" xmlns:vt="http://schemas.openxmlformats.org/officeDocument/2006/docPropsVTypes">
  <TotalTime>16597</TotalTime>
  <Words>1283</Words>
  <Application>Microsoft Macintosh PowerPoint</Application>
  <PresentationFormat>Personnalisé</PresentationFormat>
  <Paragraphs>163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37</cp:revision>
  <dcterms:created xsi:type="dcterms:W3CDTF">2006-08-16T00:00:00Z</dcterms:created>
  <dcterms:modified xsi:type="dcterms:W3CDTF">2025-12-08T19:39:06Z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