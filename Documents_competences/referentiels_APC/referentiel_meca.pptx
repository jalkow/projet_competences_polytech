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comments/modernComment_11A_161C0D4A.xml" ContentType="application/vnd.ms-powerpoint.comments+xml"/>
  <Override PartName="/ppt/notesSlides/notesSlide6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4"/>
  </p:sldMasterIdLst>
  <p:notesMasterIdLst>
    <p:notesMasterId r:id="rId12"/>
  </p:notesMasterIdLst>
  <p:sldIdLst>
    <p:sldId id="276" r:id="rId5"/>
    <p:sldId id="274" r:id="rId6"/>
    <p:sldId id="280" r:id="rId7"/>
    <p:sldId id="281" r:id="rId8"/>
    <p:sldId id="278" r:id="rId9"/>
    <p:sldId id="282" r:id="rId10"/>
    <p:sldId id="277" r:id="rId11"/>
  </p:sldIdLst>
  <p:sldSz cx="18288000" cy="10287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FFB27403-22C7-DB71-00DF-BB8B80B891D7}" name="Adrien Badel" initials="AB" userId="S::adrien.badel@univ-smb.fr::d14d62ed-19bc-4dc3-9902-d0d3dba6bde9" providerId="AD"/>
  <p188:author id="{D967E918-EB53-4B17-93F6-974E2AA2605D}" name="David Gibus" initials="DG" userId="S::david.gibus@univ-smb.fr::05f4bf82-704b-4c8c-8b03-1ded53405e0a" providerId="AD"/>
  <p188:author id="{C2F43BCA-2251-B4EB-B568-0B94C774C5B8}" name="Marc Villetard" initials="MV" userId="S::marc.villetard@univ-smb.fr::2c939e4c-f782-47cc-8796-fa0d748d6c3a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8C4BE2"/>
    <a:srgbClr val="F49831"/>
    <a:srgbClr val="4FA954"/>
    <a:srgbClr val="FEF3C2"/>
    <a:srgbClr val="7F7F7F"/>
    <a:srgbClr val="1D7ACC"/>
    <a:srgbClr val="369FE3"/>
    <a:srgbClr val="FAD632"/>
    <a:srgbClr val="FCDF51"/>
    <a:srgbClr val="FFE98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0976ABB-D223-04DB-4513-CC73E7BC0567}" v="3" dt="2025-10-28T20:41:51.822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1"/>
    <p:restoredTop sz="94694"/>
  </p:normalViewPr>
  <p:slideViewPr>
    <p:cSldViewPr snapToGrid="0">
      <p:cViewPr varScale="1">
        <p:scale>
          <a:sx n="71" d="100"/>
          <a:sy n="71" d="100"/>
        </p:scale>
        <p:origin x="1304" y="488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presProps" Target="presProps.xml"/><Relationship Id="rId18" Type="http://schemas.microsoft.com/office/2015/10/relationships/revisionInfo" Target="revisionInfo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notesMaster" Target="notesMasters/notesMaster1.xml"/><Relationship Id="rId17" Type="http://schemas.microsoft.com/office/2016/11/relationships/changesInfo" Target="changesInfos/changesInfo1.xml"/><Relationship Id="rId2" Type="http://schemas.openxmlformats.org/officeDocument/2006/relationships/customXml" Target="../customXml/item2.xml"/><Relationship Id="rId16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theme" Target="theme/theme1.xml"/><Relationship Id="rId10" Type="http://schemas.openxmlformats.org/officeDocument/2006/relationships/slide" Target="slides/slide6.xml"/><Relationship Id="rId19" Type="http://schemas.microsoft.com/office/2018/10/relationships/authors" Target="author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arc Skerrett" userId="S::marc.skerrett@univ-smb.fr::5838212c-6006-4602-b097-e4ba2e4953e8" providerId="AD" clId="Web-{60976ABB-D223-04DB-4513-CC73E7BC0567}"/>
    <pc:docChg chg="modSld">
      <pc:chgData name="Marc Skerrett" userId="S::marc.skerrett@univ-smb.fr::5838212c-6006-4602-b097-e4ba2e4953e8" providerId="AD" clId="Web-{60976ABB-D223-04DB-4513-CC73E7BC0567}" dt="2025-10-28T20:41:51.822" v="2" actId="20577"/>
      <pc:docMkLst>
        <pc:docMk/>
      </pc:docMkLst>
      <pc:sldChg chg="modSp">
        <pc:chgData name="Marc Skerrett" userId="S::marc.skerrett@univ-smb.fr::5838212c-6006-4602-b097-e4ba2e4953e8" providerId="AD" clId="Web-{60976ABB-D223-04DB-4513-CC73E7BC0567}" dt="2025-10-28T20:41:51.822" v="2" actId="20577"/>
        <pc:sldMkLst>
          <pc:docMk/>
          <pc:sldMk cId="370937162" sldId="282"/>
        </pc:sldMkLst>
        <pc:spChg chg="mod">
          <ac:chgData name="Marc Skerrett" userId="S::marc.skerrett@univ-smb.fr::5838212c-6006-4602-b097-e4ba2e4953e8" providerId="AD" clId="Web-{60976ABB-D223-04DB-4513-CC73E7BC0567}" dt="2025-10-28T20:41:38.681" v="0" actId="20577"/>
          <ac:spMkLst>
            <pc:docMk/>
            <pc:sldMk cId="370937162" sldId="282"/>
            <ac:spMk id="6" creationId="{FFE3588B-8C13-D619-E556-6A0A6E2ECB63}"/>
          </ac:spMkLst>
        </pc:spChg>
        <pc:spChg chg="mod">
          <ac:chgData name="Marc Skerrett" userId="S::marc.skerrett@univ-smb.fr::5838212c-6006-4602-b097-e4ba2e4953e8" providerId="AD" clId="Web-{60976ABB-D223-04DB-4513-CC73E7BC0567}" dt="2025-10-28T20:41:44.447" v="1" actId="20577"/>
          <ac:spMkLst>
            <pc:docMk/>
            <pc:sldMk cId="370937162" sldId="282"/>
            <ac:spMk id="7" creationId="{47CEA140-556F-3EC5-7022-79096AFD1B39}"/>
          </ac:spMkLst>
        </pc:spChg>
        <pc:spChg chg="mod">
          <ac:chgData name="Marc Skerrett" userId="S::marc.skerrett@univ-smb.fr::5838212c-6006-4602-b097-e4ba2e4953e8" providerId="AD" clId="Web-{60976ABB-D223-04DB-4513-CC73E7BC0567}" dt="2025-10-28T20:41:51.822" v="2" actId="20577"/>
          <ac:spMkLst>
            <pc:docMk/>
            <pc:sldMk cId="370937162" sldId="282"/>
            <ac:spMk id="8" creationId="{43734BA6-B5F7-A081-D91D-CB98BAAF35C2}"/>
          </ac:spMkLst>
        </pc:spChg>
      </pc:sldChg>
    </pc:docChg>
  </pc:docChgLst>
</pc:chgInfo>
</file>

<file path=ppt/comments/modernComment_11A_161C0D4A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125AD499-2312-4184-BF3E-C479DF3C1194}" authorId="{D967E918-EB53-4B17-93F6-974E2AA2605D}" created="2025-10-17T14:45:02.851">
    <ac:txMkLst xmlns:ac="http://schemas.microsoft.com/office/drawing/2013/main/command">
      <pc:docMk xmlns:pc="http://schemas.microsoft.com/office/powerpoint/2013/main/command"/>
      <pc:sldMk xmlns:pc="http://schemas.microsoft.com/office/powerpoint/2013/main/command" cId="370937162" sldId="282"/>
      <ac:spMk id="6" creationId="{FFE3588B-8C13-D619-E556-6A0A6E2ECB63}"/>
      <ac:txMk cp="0">
        <ac:context len="183" hash="1434218836"/>
      </ac:txMk>
    </ac:txMkLst>
    <p188:pos x="7390356" y="814191"/>
    <p188:replyLst>
      <p188:reply id="{63D7437D-DAE3-4E95-9FFD-EBA277CBA092}" authorId="{FFB27403-22C7-DB71-00DF-BB8B80B891D7}" created="2025-10-18T08:07:12.740">
        <p188:txBody>
          <a:bodyPr/>
          <a:lstStyle/>
          <a:p>
            <a:r>
              <a:rPr lang="fr-FR"/>
              <a:t>Oui. Proposition: "Concevoir et mettre en œuvre un montage électrique ou électronique simple, incluant le conditionnement des signaux de capteurs, la commande d’actionneurs et l’analyse des grandeurs électriques."</a:t>
            </a:r>
          </a:p>
        </p188:txBody>
      </p188:reply>
    </p188:replyLst>
    <p188:txBody>
      <a:bodyPr/>
      <a:lstStyle/>
      <a:p>
        <a:r>
          <a:rPr lang="en-US"/>
          <a:t>Ces 3 peuvent être regrouper. Peut-être par "modéliser ou réaliser ou concevoir un circuit électrique"</a:t>
        </a:r>
      </a:p>
    </p188:txBody>
  </p188:cm>
  <p188:cm id="{E927731D-E7AD-473A-9926-F0ACFEE8E4B8}" authorId="{D967E918-EB53-4B17-93F6-974E2AA2605D}" created="2025-10-17T14:49:19.571">
    <ac:txMkLst xmlns:ac="http://schemas.microsoft.com/office/drawing/2013/main/command">
      <pc:docMk xmlns:pc="http://schemas.microsoft.com/office/powerpoint/2013/main/command"/>
      <pc:sldMk xmlns:pc="http://schemas.microsoft.com/office/powerpoint/2013/main/command" cId="370937162" sldId="282"/>
      <ac:spMk id="7" creationId="{47CEA140-556F-3EC5-7022-79096AFD1B39}"/>
      <ac:txMk cp="300" len="108">
        <ac:context len="141" hash="3954628338"/>
      </ac:txMk>
    </ac:txMkLst>
    <p188:pos x="4164904" y="1550095"/>
    <p188:replyLst>
      <p188:reply id="{DE6CE9BC-8381-4282-8792-4FA7BA31C4A2}" authorId="{FFB27403-22C7-DB71-00DF-BB8B80B891D7}" created="2025-10-18T08:07:37.271">
        <p188:txBody>
          <a:bodyPr/>
          <a:lstStyle/>
          <a:p>
            <a:r>
              <a:rPr lang="fr-FR"/>
              <a:t>Oui !</a:t>
            </a:r>
          </a:p>
        </p188:txBody>
      </p188:reply>
    </p188:replyLst>
    <p188:txBody>
      <a:bodyPr/>
      <a:lstStyle/>
      <a:p>
        <a:r>
          <a:rPr lang="en-US"/>
          <a:t>Ces 2 peuvent être regroupés dans "concevoir une stratégie de contrôle commande" 
Ca serait davantage en 5A d'ailleurs</a:t>
        </a:r>
      </a:p>
    </p188:txBody>
  </p188:cm>
  <p188:cm id="{1EFF0471-7859-4F12-9B2B-ED6C6AFE0521}" authorId="{D967E918-EB53-4B17-93F6-974E2AA2605D}" created="2025-10-17T14:51:42.743">
    <ac:txMkLst xmlns:ac="http://schemas.microsoft.com/office/drawing/2013/main/command">
      <pc:docMk xmlns:pc="http://schemas.microsoft.com/office/powerpoint/2013/main/command"/>
      <pc:sldMk xmlns:pc="http://schemas.microsoft.com/office/powerpoint/2013/main/command" cId="370937162" sldId="282"/>
      <ac:spMk id="8" creationId="{43734BA6-B5F7-A081-D91D-CB98BAAF35C2}"/>
      <ac:txMk cp="0" len="124">
        <ac:context len="208" hash="477054767"/>
      </ac:txMk>
    </ac:txMkLst>
    <p188:pos x="5558424" y="688931"/>
    <p188:replyLst>
      <p188:reply id="{7BF82CA0-5574-4378-983E-AF836F56A727}" authorId="{D967E918-EB53-4B17-93F6-974E2AA2605D}" created="2025-10-17T14:53:24.603">
        <p188:txBody>
          <a:bodyPr/>
          <a:lstStyle/>
          <a:p>
            <a:r>
              <a:rPr lang="en-US"/>
              <a:t>Par ailleurs, potentiellement redondant avec l'apprentissage critique de 4A (​spécifier et concevoir un système embarqué (entrée/sortie, registre, interruption​)</a:t>
            </a:r>
          </a:p>
        </p188:txBody>
      </p188:reply>
    </p188:replyLst>
    <p188:txBody>
      <a:bodyPr/>
      <a:lstStyle/>
      <a:p>
        <a:r>
          <a:rPr lang="en-US"/>
          <a:t>Ces 2 peuvent être regroupées en supprimant la deuxième je dirais</a:t>
        </a:r>
      </a:p>
    </p188:txBody>
  </p188:cm>
  <p188:cm id="{8D42AAD1-8168-48CB-9918-B4823DFA5CD4}" authorId="{D967E918-EB53-4B17-93F6-974E2AA2605D}" created="2025-10-17T14:52:20.618">
    <ac:txMkLst xmlns:ac="http://schemas.microsoft.com/office/drawing/2013/main/command">
      <pc:docMk xmlns:pc="http://schemas.microsoft.com/office/powerpoint/2013/main/command"/>
      <pc:sldMk xmlns:pc="http://schemas.microsoft.com/office/powerpoint/2013/main/command" cId="370937162" sldId="282"/>
      <ac:spMk id="8" creationId="{43734BA6-B5F7-A081-D91D-CB98BAAF35C2}"/>
      <ac:txMk cp="227" len="42">
        <ac:context len="208" hash="477054767"/>
      </ac:txMk>
    </ac:txMkLst>
    <p188:pos x="3992671" y="1424835"/>
    <p188:replyLst>
      <p188:reply id="{2EAF8F4A-8D55-49DA-81C0-9A0B836A6C42}" authorId="{FFB27403-22C7-DB71-00DF-BB8B80B891D7}" created="2025-10-18T08:08:56.698">
        <p188:txBody>
          <a:bodyPr/>
          <a:lstStyle/>
          <a:p>
            <a:r>
              <a:rPr lang="fr-FR"/>
              <a:t>ça pourrait devenir "Piloter un système mécatronique ?"</a:t>
            </a:r>
          </a:p>
        </p188:txBody>
      </p188:reply>
    </p188:replyLst>
    <p188:txBody>
      <a:bodyPr/>
      <a:lstStyle/>
      <a:p>
        <a:r>
          <a:rPr lang="en-US"/>
          <a:t>J'ai l'impression qu'elle ne fait pas de sens en 5A. Soit 3A, soit supprimer je dirais</a:t>
        </a:r>
      </a:p>
    </p188:txBody>
  </p188:cm>
  <p188:cm id="{A0400061-DAA0-4F7D-838E-608679EE05A9}" authorId="{D967E918-EB53-4B17-93F6-974E2AA2605D}" created="2025-10-17T14:55:59.931">
    <ac:txMkLst xmlns:ac="http://schemas.microsoft.com/office/drawing/2013/main/command">
      <pc:docMk xmlns:pc="http://schemas.microsoft.com/office/powerpoint/2013/main/command"/>
      <pc:sldMk xmlns:pc="http://schemas.microsoft.com/office/powerpoint/2013/main/command" cId="370937162" sldId="282"/>
      <ac:spMk id="7" creationId="{47CEA140-556F-3EC5-7022-79096AFD1B39}"/>
      <ac:txMk cp="0" len="50">
        <ac:context len="135" hash="2584544876"/>
      </ac:txMk>
    </ac:txMkLst>
    <p188:pos x="4791205" y="344465"/>
    <p188:txBody>
      <a:bodyPr/>
      <a:lstStyle/>
      <a:p>
        <a:r>
          <a:rPr lang="en-US"/>
          <a:t>Potentiellement redondant avec l'"approche multi-objectifs" qui dans l'apprentissage critique de 5A</a:t>
        </a:r>
      </a:p>
    </p188:txBody>
  </p188:cm>
  <p188:cm id="{DC73D46A-3944-4BB6-AF1A-E9247B74AC47}" authorId="{D967E918-EB53-4B17-93F6-974E2AA2605D}" created="2025-10-17T15:04:11.605">
    <ac:txMkLst xmlns:ac="http://schemas.microsoft.com/office/drawing/2013/main/command">
      <pc:docMk xmlns:pc="http://schemas.microsoft.com/office/powerpoint/2013/main/command"/>
      <pc:sldMk xmlns:pc="http://schemas.microsoft.com/office/powerpoint/2013/main/command" cId="370937162" sldId="282"/>
      <ac:spMk id="2" creationId="{E5F2FD61-6409-EA03-2794-3D6DAACAEB60}"/>
      <ac:txMk cp="31" len="3">
        <ac:context len="93" hash="405971343"/>
      </ac:txMk>
    </ac:txMkLst>
    <p188:pos x="1205630" y="1111684"/>
    <p188:txBody>
      <a:bodyPr/>
      <a:lstStyle/>
      <a:p>
        <a:r>
          <a:rPr lang="en-US"/>
          <a:t>Ingénieur bureau d’étude​
Ingénieur R&amp;D</a:t>
        </a:r>
      </a:p>
    </p188:txBody>
  </p188:cm>
  <p188:cm id="{ECF4DAE8-2E3E-4DB5-A6C3-056BD3A54B29}" authorId="{D967E918-EB53-4B17-93F6-974E2AA2605D}" created="2025-10-17T15:27:48.109">
    <pc:sldMkLst xmlns:pc="http://schemas.microsoft.com/office/powerpoint/2013/main/command">
      <pc:docMk/>
      <pc:sldMk cId="2681372564" sldId="279"/>
    </pc:sldMkLst>
    <p188:replyLst>
      <p188:reply id="{766E9333-2037-405C-89D3-4429DA6042C7}" authorId="{FFB27403-22C7-DB71-00DF-BB8B80B891D7}" created="2025-10-18T08:10:02.529">
        <p188:txBody>
          <a:bodyPr/>
          <a:lstStyle/>
          <a:p>
            <a:r>
              <a:rPr lang="fr-FR"/>
              <a:t>oui. Par exemple, en automatique on peut développer des lois de commande qui visent à diminuer la consommation énergétique</a:t>
            </a:r>
          </a:p>
        </p188:txBody>
      </p188:reply>
    </p188:replyLst>
    <p188:txBody>
      <a:bodyPr/>
      <a:lstStyle/>
      <a:p>
        <a:r>
          <a:rPr lang="en-US"/>
          <a:t>J'ajouterais bien une composante sur l'environnement. Du type "en appliquant une démarche d’éco-conception"</a:t>
        </a:r>
      </a:p>
    </p188:txBody>
  </p188:cm>
</p188:cmLst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5B13E81-940D-4642-9FBB-D58CCA39D57C}" type="datetimeFigureOut">
              <a:rPr lang="fr-FR" smtClean="0"/>
              <a:t>28/10/2025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FR"/>
          </a:p>
        </p:txBody>
      </p:sp>
      <p:sp>
        <p:nvSpPr>
          <p:cNvPr id="5" name="Espace réservé des not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012E30C-1A81-0444-AC6E-8E81B7BEE936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51719184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012E30C-1A81-0444-AC6E-8E81B7BEE936}" type="slidenum">
              <a:rPr lang="fr-FR" smtClean="0"/>
              <a:t>2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25360251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8DAABE-B26A-CF1B-06B8-4E8A62749F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>
            <a:extLst>
              <a:ext uri="{FF2B5EF4-FFF2-40B4-BE49-F238E27FC236}">
                <a16:creationId xmlns:a16="http://schemas.microsoft.com/office/drawing/2014/main" id="{0374B544-C6CD-E18F-1135-7AFBFC9EEE3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>
            <a:extLst>
              <a:ext uri="{FF2B5EF4-FFF2-40B4-BE49-F238E27FC236}">
                <a16:creationId xmlns:a16="http://schemas.microsoft.com/office/drawing/2014/main" id="{FCCF3EE3-DF4D-5E41-6AD6-4413D0900B3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B4CDFA6C-9C30-FC8A-F490-F574371EEDE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012E30C-1A81-0444-AC6E-8E81B7BEE936}" type="slidenum">
              <a:rPr lang="fr-FR" smtClean="0"/>
              <a:t>3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60376737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87A7E3-D333-5F86-1FE7-DEECF9AE8F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>
            <a:extLst>
              <a:ext uri="{FF2B5EF4-FFF2-40B4-BE49-F238E27FC236}">
                <a16:creationId xmlns:a16="http://schemas.microsoft.com/office/drawing/2014/main" id="{E9CAD071-183C-C23E-73F6-6063E73821D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>
            <a:extLst>
              <a:ext uri="{FF2B5EF4-FFF2-40B4-BE49-F238E27FC236}">
                <a16:creationId xmlns:a16="http://schemas.microsoft.com/office/drawing/2014/main" id="{706EF91A-F8CA-DAA0-E573-D441FD50479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3B7AB0C5-A83B-C2A0-2ADE-4B18F9B16D5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012E30C-1A81-0444-AC6E-8E81B7BEE936}" type="slidenum">
              <a:rPr lang="fr-FR" smtClean="0"/>
              <a:t>4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77136616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8BD2D6-D756-EAD1-31EE-A6E1F026BA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>
            <a:extLst>
              <a:ext uri="{FF2B5EF4-FFF2-40B4-BE49-F238E27FC236}">
                <a16:creationId xmlns:a16="http://schemas.microsoft.com/office/drawing/2014/main" id="{B2F34487-C2EC-DDBD-839C-E954EB0A894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>
            <a:extLst>
              <a:ext uri="{FF2B5EF4-FFF2-40B4-BE49-F238E27FC236}">
                <a16:creationId xmlns:a16="http://schemas.microsoft.com/office/drawing/2014/main" id="{A045DE27-C4A1-77F3-DAD0-DD42A1E093B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80F981CD-90E7-B8F5-4623-CA7CD711808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012E30C-1A81-0444-AC6E-8E81B7BEE936}" type="slidenum">
              <a:rPr lang="fr-FR" smtClean="0"/>
              <a:t>5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41866823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0F73038-BE08-1BA8-AF1A-71ECF96144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>
            <a:extLst>
              <a:ext uri="{FF2B5EF4-FFF2-40B4-BE49-F238E27FC236}">
                <a16:creationId xmlns:a16="http://schemas.microsoft.com/office/drawing/2014/main" id="{73D6D2E4-E3FF-23FB-E7F8-F2AA3B0E971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>
            <a:extLst>
              <a:ext uri="{FF2B5EF4-FFF2-40B4-BE49-F238E27FC236}">
                <a16:creationId xmlns:a16="http://schemas.microsoft.com/office/drawing/2014/main" id="{FC2B8A0E-40CE-CBCC-A375-329A32B3E47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AF3075D3-4D98-5275-9FFF-C8A12B101B3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012E30C-1A81-0444-AC6E-8E81B7BEE936}" type="slidenum">
              <a:rPr lang="fr-FR" smtClean="0"/>
              <a:t>6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54963058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978551-9EC9-241E-756E-7E7C5CF7B4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>
            <a:extLst>
              <a:ext uri="{FF2B5EF4-FFF2-40B4-BE49-F238E27FC236}">
                <a16:creationId xmlns:a16="http://schemas.microsoft.com/office/drawing/2014/main" id="{743EF346-41CD-A87C-AD6D-EDBFEA37B0C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>
            <a:extLst>
              <a:ext uri="{FF2B5EF4-FFF2-40B4-BE49-F238E27FC236}">
                <a16:creationId xmlns:a16="http://schemas.microsoft.com/office/drawing/2014/main" id="{23E5EE7D-5BF3-10BA-FF77-6FFEAD58C16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AB54772A-8221-2B7A-3C60-CA8EA0FA841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012E30C-1A81-0444-AC6E-8E81B7BEE936}" type="slidenum">
              <a:rPr lang="fr-FR" smtClean="0"/>
              <a:t>7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25622231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10/28/2025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10/28/2025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10/28/2025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10/28/2025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microsoft.com/office/2018/10/relationships/comments" Target="../comments/modernComment_11A_161C0D4A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E53887-F143-01A2-208D-0B30DFB7F7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Freeform 119">
            <a:extLst>
              <a:ext uri="{FF2B5EF4-FFF2-40B4-BE49-F238E27FC236}">
                <a16:creationId xmlns:a16="http://schemas.microsoft.com/office/drawing/2014/main" id="{85F193DA-4C9B-31CF-9E03-8506104987BB}"/>
              </a:ext>
            </a:extLst>
          </p:cNvPr>
          <p:cNvSpPr/>
          <p:nvPr/>
        </p:nvSpPr>
        <p:spPr>
          <a:xfrm>
            <a:off x="0" y="740576"/>
            <a:ext cx="18287999" cy="1964524"/>
          </a:xfrm>
          <a:custGeom>
            <a:avLst/>
            <a:gdLst/>
            <a:ahLst/>
            <a:cxnLst/>
            <a:rect l="l" t="t" r="r" b="b"/>
            <a:pathLst>
              <a:path w="4736979" h="214229">
                <a:moveTo>
                  <a:pt x="0" y="0"/>
                </a:moveTo>
                <a:lnTo>
                  <a:pt x="4736979" y="0"/>
                </a:lnTo>
                <a:lnTo>
                  <a:pt x="4736979" y="214229"/>
                </a:lnTo>
                <a:lnTo>
                  <a:pt x="0" y="214229"/>
                </a:lnTo>
                <a:close/>
              </a:path>
            </a:pathLst>
          </a:custGeom>
          <a:solidFill>
            <a:srgbClr val="369FE3"/>
          </a:solidFill>
          <a:ln w="47625" cap="sq">
            <a:noFill/>
            <a:prstDash val="solid"/>
            <a:miter/>
          </a:ln>
        </p:spPr>
        <p:txBody>
          <a:bodyPr anchor="ctr"/>
          <a:lstStyle/>
          <a:p>
            <a:pPr algn="ctr"/>
            <a:r>
              <a:rPr lang="fr-FR" sz="800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MECA Polytech Annecy-Chambéry</a:t>
            </a:r>
          </a:p>
        </p:txBody>
      </p:sp>
      <p:pic>
        <p:nvPicPr>
          <p:cNvPr id="8" name="Image 7" descr="Une image contenant texte, capture d’écran, Police, Caractère coloré&#10;&#10;Le contenu généré par l’IA peut être incorrect.">
            <a:extLst>
              <a:ext uri="{FF2B5EF4-FFF2-40B4-BE49-F238E27FC236}">
                <a16:creationId xmlns:a16="http://schemas.microsoft.com/office/drawing/2014/main" id="{8464FE11-D557-707B-4FF6-B8F1A53492E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8233" y="2972286"/>
            <a:ext cx="17192232" cy="68943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3196556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F7D3D8-A672-CF34-E468-B4918780C4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Freeform 119">
            <a:extLst>
              <a:ext uri="{FF2B5EF4-FFF2-40B4-BE49-F238E27FC236}">
                <a16:creationId xmlns:a16="http://schemas.microsoft.com/office/drawing/2014/main" id="{B302F36A-63B2-5ED3-C2E8-0A6612FC23D9}"/>
              </a:ext>
            </a:extLst>
          </p:cNvPr>
          <p:cNvSpPr/>
          <p:nvPr/>
        </p:nvSpPr>
        <p:spPr>
          <a:xfrm>
            <a:off x="380999" y="3361609"/>
            <a:ext cx="17526001" cy="1346345"/>
          </a:xfrm>
          <a:custGeom>
            <a:avLst/>
            <a:gdLst/>
            <a:ahLst/>
            <a:cxnLst/>
            <a:rect l="l" t="t" r="r" b="b"/>
            <a:pathLst>
              <a:path w="4736979" h="214229">
                <a:moveTo>
                  <a:pt x="0" y="0"/>
                </a:moveTo>
                <a:lnTo>
                  <a:pt x="4736979" y="0"/>
                </a:lnTo>
                <a:lnTo>
                  <a:pt x="4736979" y="214229"/>
                </a:lnTo>
                <a:lnTo>
                  <a:pt x="0" y="214229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  <a:ln w="47625" cap="sq">
            <a:noFill/>
            <a:prstDash val="solid"/>
            <a:miter/>
          </a:ln>
        </p:spPr>
        <p:txBody>
          <a:bodyPr anchor="ctr"/>
          <a:lstStyle/>
          <a:p>
            <a:r>
              <a:rPr lang="fr-FR" sz="2400" b="1" i="0">
                <a:solidFill>
                  <a:srgbClr val="000000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Situations professionnelles :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fr-FR" sz="240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Ingénieur bureau d’étude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fr-FR" sz="240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Ingénieur R&amp;D</a:t>
            </a:r>
          </a:p>
        </p:txBody>
      </p:sp>
      <p:sp>
        <p:nvSpPr>
          <p:cNvPr id="20" name="Freeform 119">
            <a:extLst>
              <a:ext uri="{FF2B5EF4-FFF2-40B4-BE49-F238E27FC236}">
                <a16:creationId xmlns:a16="http://schemas.microsoft.com/office/drawing/2014/main" id="{24DB9B11-8866-5757-F64D-700ADA984492}"/>
              </a:ext>
            </a:extLst>
          </p:cNvPr>
          <p:cNvSpPr/>
          <p:nvPr/>
        </p:nvSpPr>
        <p:spPr>
          <a:xfrm>
            <a:off x="2401569" y="4932645"/>
            <a:ext cx="15450492" cy="1603820"/>
          </a:xfrm>
          <a:custGeom>
            <a:avLst/>
            <a:gdLst/>
            <a:ahLst/>
            <a:cxnLst/>
            <a:rect l="l" t="t" r="r" b="b"/>
            <a:pathLst>
              <a:path w="4736979" h="214229">
                <a:moveTo>
                  <a:pt x="0" y="0"/>
                </a:moveTo>
                <a:lnTo>
                  <a:pt x="4736979" y="0"/>
                </a:lnTo>
                <a:lnTo>
                  <a:pt x="4736979" y="214229"/>
                </a:lnTo>
                <a:lnTo>
                  <a:pt x="0" y="214229"/>
                </a:lnTo>
                <a:close/>
              </a:path>
            </a:pathLst>
          </a:custGeom>
          <a:solidFill>
            <a:schemeClr val="bg1"/>
          </a:solidFill>
          <a:ln w="38100" cap="sq">
            <a:solidFill>
              <a:schemeClr val="tx1">
                <a:lumMod val="50000"/>
                <a:lumOff val="50000"/>
              </a:schemeClr>
            </a:solidFill>
            <a:prstDash val="solid"/>
            <a:miter/>
          </a:ln>
        </p:spPr>
        <p:txBody>
          <a:bodyPr anchor="ctr"/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fr-FR" sz="2000" dirty="0">
                <a:latin typeface="Calibri" panose="020F0502020204030204" pitchFamily="34" charset="0"/>
                <a:cs typeface="Calibri" panose="020F0502020204030204" pitchFamily="34" charset="0"/>
              </a:rPr>
              <a:t>modéliser un produit mécanique, électrique, mécatronique.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fr-FR" sz="2000" dirty="0">
                <a:latin typeface="Calibri" panose="020F0502020204030204" pitchFamily="34" charset="0"/>
                <a:cs typeface="Calibri" panose="020F0502020204030204" pitchFamily="34" charset="0"/>
              </a:rPr>
              <a:t>analyser un document technique (dessin technique, schémas...)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fr-FR" sz="2000" dirty="0">
                <a:latin typeface="Calibri" panose="020F0502020204030204" pitchFamily="34" charset="0"/>
                <a:cs typeface="Calibri" panose="020F0502020204030204" pitchFamily="34" charset="0"/>
              </a:rPr>
              <a:t>élaborer un schéma technique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fr-FR" sz="2000" dirty="0">
                <a:latin typeface="Calibri" panose="020F0502020204030204" pitchFamily="34" charset="0"/>
                <a:cs typeface="Calibri" panose="020F0502020204030204" pitchFamily="34" charset="0"/>
              </a:rPr>
              <a:t>réaliser une notice de calcul</a:t>
            </a:r>
          </a:p>
          <a:p>
            <a:endParaRPr lang="fr-FR" sz="20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" name="Freeform 119">
            <a:extLst>
              <a:ext uri="{FF2B5EF4-FFF2-40B4-BE49-F238E27FC236}">
                <a16:creationId xmlns:a16="http://schemas.microsoft.com/office/drawing/2014/main" id="{2DA0866B-ABB3-687E-57CB-7A29C5E74551}"/>
              </a:ext>
            </a:extLst>
          </p:cNvPr>
          <p:cNvSpPr/>
          <p:nvPr/>
        </p:nvSpPr>
        <p:spPr>
          <a:xfrm>
            <a:off x="2401569" y="6674975"/>
            <a:ext cx="15450492" cy="1603820"/>
          </a:xfrm>
          <a:custGeom>
            <a:avLst/>
            <a:gdLst/>
            <a:ahLst/>
            <a:cxnLst/>
            <a:rect l="l" t="t" r="r" b="b"/>
            <a:pathLst>
              <a:path w="4736979" h="214229">
                <a:moveTo>
                  <a:pt x="0" y="0"/>
                </a:moveTo>
                <a:lnTo>
                  <a:pt x="4736979" y="0"/>
                </a:lnTo>
                <a:lnTo>
                  <a:pt x="4736979" y="214229"/>
                </a:lnTo>
                <a:lnTo>
                  <a:pt x="0" y="214229"/>
                </a:lnTo>
                <a:close/>
              </a:path>
            </a:pathLst>
          </a:custGeom>
          <a:solidFill>
            <a:schemeClr val="bg1"/>
          </a:solidFill>
          <a:ln w="38100" cap="sq">
            <a:solidFill>
              <a:schemeClr val="bg1">
                <a:lumMod val="65000"/>
              </a:schemeClr>
            </a:solidFill>
            <a:prstDash val="solid"/>
            <a:miter/>
          </a:ln>
        </p:spPr>
        <p:txBody>
          <a:bodyPr anchor="ctr"/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fr-FR" sz="2000" dirty="0">
                <a:latin typeface="Calibri" panose="020F0502020204030204" pitchFamily="34" charset="0"/>
                <a:cs typeface="Calibri" panose="020F0502020204030204" pitchFamily="34" charset="0"/>
              </a:rPr>
              <a:t>vérifier les comportements mécaniques du produit et de ses composants.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fr-FR" sz="2000" dirty="0">
                <a:latin typeface="Calibri" panose="020F0502020204030204" pitchFamily="34" charset="0"/>
                <a:cs typeface="Calibri" panose="020F0502020204030204" pitchFamily="34" charset="0"/>
              </a:rPr>
              <a:t>faire un benchmark produit (veille technique règlementaire et fonctionnelle, recherche de principes)​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fr-FR" sz="2000" dirty="0">
                <a:latin typeface="Calibri" panose="020F0502020204030204" pitchFamily="34" charset="0"/>
                <a:cs typeface="Calibri" panose="020F0502020204030204" pitchFamily="34" charset="0"/>
              </a:rPr>
              <a:t>analyser un produit existant mécanique, électrique, mécatronique.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fr-FR" sz="2000" dirty="0">
                <a:latin typeface="Calibri" panose="020F0502020204030204" pitchFamily="34" charset="0"/>
                <a:cs typeface="Calibri" panose="020F0502020204030204" pitchFamily="34" charset="0"/>
              </a:rPr>
              <a:t>rédiger un cahier des charges</a:t>
            </a:r>
          </a:p>
          <a:p>
            <a:endParaRPr lang="fr-FR" sz="20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" name="Freeform 119">
            <a:extLst>
              <a:ext uri="{FF2B5EF4-FFF2-40B4-BE49-F238E27FC236}">
                <a16:creationId xmlns:a16="http://schemas.microsoft.com/office/drawing/2014/main" id="{F1AD3F13-7C0A-7502-0403-C5465882C320}"/>
              </a:ext>
            </a:extLst>
          </p:cNvPr>
          <p:cNvSpPr/>
          <p:nvPr/>
        </p:nvSpPr>
        <p:spPr>
          <a:xfrm>
            <a:off x="2401569" y="8417306"/>
            <a:ext cx="15450492" cy="1603820"/>
          </a:xfrm>
          <a:custGeom>
            <a:avLst/>
            <a:gdLst/>
            <a:ahLst/>
            <a:cxnLst/>
            <a:rect l="l" t="t" r="r" b="b"/>
            <a:pathLst>
              <a:path w="4736979" h="214229">
                <a:moveTo>
                  <a:pt x="0" y="0"/>
                </a:moveTo>
                <a:lnTo>
                  <a:pt x="4736979" y="0"/>
                </a:lnTo>
                <a:lnTo>
                  <a:pt x="4736979" y="214229"/>
                </a:lnTo>
                <a:lnTo>
                  <a:pt x="0" y="214229"/>
                </a:lnTo>
                <a:close/>
              </a:path>
            </a:pathLst>
          </a:custGeom>
          <a:solidFill>
            <a:schemeClr val="bg1"/>
          </a:solidFill>
          <a:ln w="38100" cap="sq">
            <a:solidFill>
              <a:schemeClr val="bg1">
                <a:lumMod val="85000"/>
              </a:schemeClr>
            </a:solidFill>
            <a:prstDash val="solid"/>
            <a:miter/>
          </a:ln>
        </p:spPr>
        <p:txBody>
          <a:bodyPr anchor="ctr"/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fr-FR" sz="2000" dirty="0">
                <a:latin typeface="Calibri" panose="020F0502020204030204" pitchFamily="34" charset="0"/>
                <a:cs typeface="Calibri" panose="020F0502020204030204" pitchFamily="34" charset="0"/>
              </a:rPr>
              <a:t>optimiser la conception du produit en utilisant ses modèles.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fr-FR" sz="2000" dirty="0">
                <a:latin typeface="Calibri" panose="020F0502020204030204" pitchFamily="34" charset="0"/>
                <a:cs typeface="Calibri" panose="020F0502020204030204" pitchFamily="34" charset="0"/>
              </a:rPr>
              <a:t>étudier la faisabilité technique en phase de préconception (matériaux, tolérancement...)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fr-FR" sz="2000" dirty="0">
                <a:latin typeface="Calibri" panose="020F0502020204030204" pitchFamily="34" charset="0"/>
                <a:cs typeface="Calibri" panose="020F0502020204030204" pitchFamily="34" charset="0"/>
              </a:rPr>
              <a:t>documenter un produit (PLM, AMDEC, notice d'utilisation, gamme d’assemblage, etc.)</a:t>
            </a:r>
          </a:p>
        </p:txBody>
      </p:sp>
      <p:sp>
        <p:nvSpPr>
          <p:cNvPr id="5" name="Freeform 119">
            <a:extLst>
              <a:ext uri="{FF2B5EF4-FFF2-40B4-BE49-F238E27FC236}">
                <a16:creationId xmlns:a16="http://schemas.microsoft.com/office/drawing/2014/main" id="{57F3CB7D-4CBC-483F-FCC2-8ABF16AEBBB9}"/>
              </a:ext>
            </a:extLst>
          </p:cNvPr>
          <p:cNvSpPr/>
          <p:nvPr/>
        </p:nvSpPr>
        <p:spPr>
          <a:xfrm rot="16200000">
            <a:off x="-1859995" y="7172222"/>
            <a:ext cx="5089898" cy="607909"/>
          </a:xfrm>
          <a:custGeom>
            <a:avLst/>
            <a:gdLst/>
            <a:ahLst/>
            <a:cxnLst/>
            <a:rect l="l" t="t" r="r" b="b"/>
            <a:pathLst>
              <a:path w="4736979" h="214229">
                <a:moveTo>
                  <a:pt x="0" y="0"/>
                </a:moveTo>
                <a:lnTo>
                  <a:pt x="4736979" y="0"/>
                </a:lnTo>
                <a:lnTo>
                  <a:pt x="4736979" y="214229"/>
                </a:lnTo>
                <a:lnTo>
                  <a:pt x="0" y="214229"/>
                </a:lnTo>
                <a:close/>
              </a:path>
            </a:pathLst>
          </a:custGeom>
          <a:solidFill>
            <a:schemeClr val="bg1"/>
          </a:solidFill>
          <a:ln w="47625" cap="sq">
            <a:solidFill>
              <a:schemeClr val="tx1"/>
            </a:solidFill>
            <a:prstDash val="solid"/>
            <a:miter/>
          </a:ln>
        </p:spPr>
        <p:txBody>
          <a:bodyPr anchor="ctr"/>
          <a:lstStyle/>
          <a:p>
            <a:pPr algn="ctr"/>
            <a:r>
              <a:rPr lang="fr-FR" sz="2400" b="1">
                <a:latin typeface="Calibri" panose="020F0502020204030204" pitchFamily="34" charset="0"/>
                <a:cs typeface="Calibri" panose="020F0502020204030204" pitchFamily="34" charset="0"/>
              </a:rPr>
              <a:t>APPRENTISSAGES CRITIQUES</a:t>
            </a:r>
          </a:p>
        </p:txBody>
      </p:sp>
      <p:sp>
        <p:nvSpPr>
          <p:cNvPr id="9" name="Freeform 119">
            <a:extLst>
              <a:ext uri="{FF2B5EF4-FFF2-40B4-BE49-F238E27FC236}">
                <a16:creationId xmlns:a16="http://schemas.microsoft.com/office/drawing/2014/main" id="{51583935-A8D8-A4D8-37A7-32A31C428CB2}"/>
              </a:ext>
            </a:extLst>
          </p:cNvPr>
          <p:cNvSpPr/>
          <p:nvPr/>
        </p:nvSpPr>
        <p:spPr>
          <a:xfrm>
            <a:off x="1107010" y="4932645"/>
            <a:ext cx="1294559" cy="1603820"/>
          </a:xfrm>
          <a:custGeom>
            <a:avLst/>
            <a:gdLst/>
            <a:ahLst/>
            <a:cxnLst/>
            <a:rect l="l" t="t" r="r" b="b"/>
            <a:pathLst>
              <a:path w="4736979" h="214229">
                <a:moveTo>
                  <a:pt x="0" y="0"/>
                </a:moveTo>
                <a:lnTo>
                  <a:pt x="4736979" y="0"/>
                </a:lnTo>
                <a:lnTo>
                  <a:pt x="4736979" y="214229"/>
                </a:lnTo>
                <a:lnTo>
                  <a:pt x="0" y="214229"/>
                </a:lnTo>
                <a:close/>
              </a:path>
            </a:pathLst>
          </a:custGeom>
          <a:solidFill>
            <a:schemeClr val="tx1">
              <a:lumMod val="50000"/>
              <a:lumOff val="50000"/>
            </a:schemeClr>
          </a:solidFill>
          <a:ln w="38100" cap="sq">
            <a:solidFill>
              <a:schemeClr val="tx1">
                <a:lumMod val="50000"/>
                <a:lumOff val="50000"/>
              </a:schemeClr>
            </a:solidFill>
            <a:prstDash val="solid"/>
            <a:miter/>
          </a:ln>
        </p:spPr>
        <p:txBody>
          <a:bodyPr anchor="ctr"/>
          <a:lstStyle/>
          <a:p>
            <a:pPr algn="ctr"/>
            <a:r>
              <a:rPr lang="fr-FR" sz="3600" dirty="0">
                <a:latin typeface="Calibri" panose="020F0502020204030204" pitchFamily="34" charset="0"/>
                <a:cs typeface="Calibri" panose="020F0502020204030204" pitchFamily="34" charset="0"/>
              </a:rPr>
              <a:t>3A</a:t>
            </a:r>
          </a:p>
          <a:p>
            <a:pPr algn="ctr"/>
            <a:r>
              <a:rPr lang="fr-FR" dirty="0">
                <a:latin typeface="Calibri" panose="020F0502020204030204" pitchFamily="34" charset="0"/>
                <a:cs typeface="Calibri" panose="020F0502020204030204" pitchFamily="34" charset="0"/>
              </a:rPr>
              <a:t>Analyse</a:t>
            </a:r>
          </a:p>
        </p:txBody>
      </p:sp>
      <p:sp>
        <p:nvSpPr>
          <p:cNvPr id="10" name="Freeform 119">
            <a:extLst>
              <a:ext uri="{FF2B5EF4-FFF2-40B4-BE49-F238E27FC236}">
                <a16:creationId xmlns:a16="http://schemas.microsoft.com/office/drawing/2014/main" id="{9E7AEFDD-C48A-450F-4255-D56AF0A7D827}"/>
              </a:ext>
            </a:extLst>
          </p:cNvPr>
          <p:cNvSpPr/>
          <p:nvPr/>
        </p:nvSpPr>
        <p:spPr>
          <a:xfrm>
            <a:off x="1107010" y="6674975"/>
            <a:ext cx="1294559" cy="1603820"/>
          </a:xfrm>
          <a:custGeom>
            <a:avLst/>
            <a:gdLst/>
            <a:ahLst/>
            <a:cxnLst/>
            <a:rect l="l" t="t" r="r" b="b"/>
            <a:pathLst>
              <a:path w="4736979" h="214229">
                <a:moveTo>
                  <a:pt x="0" y="0"/>
                </a:moveTo>
                <a:lnTo>
                  <a:pt x="4736979" y="0"/>
                </a:lnTo>
                <a:lnTo>
                  <a:pt x="4736979" y="214229"/>
                </a:lnTo>
                <a:lnTo>
                  <a:pt x="0" y="214229"/>
                </a:lnTo>
                <a:close/>
              </a:path>
            </a:pathLst>
          </a:custGeom>
          <a:solidFill>
            <a:schemeClr val="bg1">
              <a:lumMod val="65000"/>
            </a:schemeClr>
          </a:solidFill>
          <a:ln w="38100" cap="sq">
            <a:solidFill>
              <a:schemeClr val="bg1">
                <a:lumMod val="65000"/>
              </a:schemeClr>
            </a:solidFill>
            <a:prstDash val="solid"/>
            <a:miter/>
          </a:ln>
        </p:spPr>
        <p:txBody>
          <a:bodyPr anchor="ctr"/>
          <a:lstStyle/>
          <a:p>
            <a:pPr algn="ctr"/>
            <a:r>
              <a:rPr lang="fr-FR" sz="3600" dirty="0">
                <a:latin typeface="Calibri" panose="020F0502020204030204" pitchFamily="34" charset="0"/>
                <a:cs typeface="Calibri" panose="020F0502020204030204" pitchFamily="34" charset="0"/>
              </a:rPr>
              <a:t>4A</a:t>
            </a:r>
          </a:p>
          <a:p>
            <a:pPr algn="ctr"/>
            <a:r>
              <a:rPr lang="fr-FR" sz="1600" dirty="0">
                <a:latin typeface="Calibri" panose="020F0502020204030204" pitchFamily="34" charset="0"/>
                <a:cs typeface="Calibri" panose="020F0502020204030204" pitchFamily="34" charset="0"/>
              </a:rPr>
              <a:t>Comparaison / spécification ?</a:t>
            </a:r>
          </a:p>
        </p:txBody>
      </p:sp>
      <p:sp>
        <p:nvSpPr>
          <p:cNvPr id="14" name="Freeform 119">
            <a:extLst>
              <a:ext uri="{FF2B5EF4-FFF2-40B4-BE49-F238E27FC236}">
                <a16:creationId xmlns:a16="http://schemas.microsoft.com/office/drawing/2014/main" id="{DFEA84A2-E282-DA50-986F-4B10C8221D48}"/>
              </a:ext>
            </a:extLst>
          </p:cNvPr>
          <p:cNvSpPr/>
          <p:nvPr/>
        </p:nvSpPr>
        <p:spPr>
          <a:xfrm>
            <a:off x="1107010" y="8417306"/>
            <a:ext cx="1294559" cy="1603820"/>
          </a:xfrm>
          <a:custGeom>
            <a:avLst/>
            <a:gdLst/>
            <a:ahLst/>
            <a:cxnLst/>
            <a:rect l="l" t="t" r="r" b="b"/>
            <a:pathLst>
              <a:path w="4736979" h="214229">
                <a:moveTo>
                  <a:pt x="0" y="0"/>
                </a:moveTo>
                <a:lnTo>
                  <a:pt x="4736979" y="0"/>
                </a:lnTo>
                <a:lnTo>
                  <a:pt x="4736979" y="214229"/>
                </a:lnTo>
                <a:lnTo>
                  <a:pt x="0" y="214229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  <a:ln w="38100" cap="sq">
            <a:solidFill>
              <a:schemeClr val="bg1">
                <a:lumMod val="85000"/>
              </a:schemeClr>
            </a:solidFill>
            <a:prstDash val="solid"/>
            <a:miter/>
          </a:ln>
        </p:spPr>
        <p:txBody>
          <a:bodyPr anchor="ctr"/>
          <a:lstStyle/>
          <a:p>
            <a:pPr algn="ctr"/>
            <a:r>
              <a:rPr lang="fr-FR" sz="3600" dirty="0">
                <a:latin typeface="Calibri" panose="020F0502020204030204" pitchFamily="34" charset="0"/>
                <a:cs typeface="Calibri" panose="020F0502020204030204" pitchFamily="34" charset="0"/>
              </a:rPr>
              <a:t>5A</a:t>
            </a:r>
          </a:p>
          <a:p>
            <a:pPr algn="ctr"/>
            <a:r>
              <a:rPr lang="fr-FR" dirty="0">
                <a:latin typeface="Calibri" panose="020F0502020204030204" pitchFamily="34" charset="0"/>
                <a:cs typeface="Calibri" panose="020F0502020204030204" pitchFamily="34" charset="0"/>
              </a:rPr>
              <a:t>Conception</a:t>
            </a:r>
          </a:p>
        </p:txBody>
      </p:sp>
      <p:sp>
        <p:nvSpPr>
          <p:cNvPr id="2" name="Freeform 119">
            <a:extLst>
              <a:ext uri="{FF2B5EF4-FFF2-40B4-BE49-F238E27FC236}">
                <a16:creationId xmlns:a16="http://schemas.microsoft.com/office/drawing/2014/main" id="{FD6A5E65-007E-8A19-FA23-2D52DE22BD6C}"/>
              </a:ext>
            </a:extLst>
          </p:cNvPr>
          <p:cNvSpPr/>
          <p:nvPr/>
        </p:nvSpPr>
        <p:spPr>
          <a:xfrm>
            <a:off x="381000" y="346805"/>
            <a:ext cx="5024283" cy="2792949"/>
          </a:xfrm>
          <a:custGeom>
            <a:avLst/>
            <a:gdLst/>
            <a:ahLst/>
            <a:cxnLst/>
            <a:rect l="l" t="t" r="r" b="b"/>
            <a:pathLst>
              <a:path w="4736979" h="214229">
                <a:moveTo>
                  <a:pt x="0" y="0"/>
                </a:moveTo>
                <a:lnTo>
                  <a:pt x="4736979" y="0"/>
                </a:lnTo>
                <a:lnTo>
                  <a:pt x="4736979" y="214229"/>
                </a:lnTo>
                <a:lnTo>
                  <a:pt x="0" y="214229"/>
                </a:lnTo>
                <a:close/>
              </a:path>
            </a:pathLst>
          </a:custGeom>
          <a:solidFill>
            <a:srgbClr val="1D7ACC"/>
          </a:solidFill>
          <a:ln w="47625" cap="sq">
            <a:noFill/>
            <a:prstDash val="solid"/>
            <a:miter/>
          </a:ln>
        </p:spPr>
        <p:txBody>
          <a:bodyPr anchor="ctr"/>
          <a:lstStyle/>
          <a:p>
            <a:pPr algn="ctr"/>
            <a:r>
              <a:rPr lang="fr-FR" sz="3600" b="1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Concevoir des produits manufacturés</a:t>
            </a:r>
          </a:p>
          <a:p>
            <a:pPr algn="ctr">
              <a:lnSpc>
                <a:spcPct val="150000"/>
              </a:lnSpc>
            </a:pPr>
            <a:r>
              <a:rPr lang="fr-FR" sz="360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RNCP</a:t>
            </a:r>
          </a:p>
        </p:txBody>
      </p:sp>
      <p:sp>
        <p:nvSpPr>
          <p:cNvPr id="6" name="Freeform 119">
            <a:extLst>
              <a:ext uri="{FF2B5EF4-FFF2-40B4-BE49-F238E27FC236}">
                <a16:creationId xmlns:a16="http://schemas.microsoft.com/office/drawing/2014/main" id="{61A725CD-40B9-4748-F7D7-CC1B1AD75865}"/>
              </a:ext>
            </a:extLst>
          </p:cNvPr>
          <p:cNvSpPr/>
          <p:nvPr/>
        </p:nvSpPr>
        <p:spPr>
          <a:xfrm>
            <a:off x="5638800" y="346805"/>
            <a:ext cx="12268200" cy="2792949"/>
          </a:xfrm>
          <a:custGeom>
            <a:avLst/>
            <a:gdLst/>
            <a:ahLst/>
            <a:cxnLst/>
            <a:rect l="l" t="t" r="r" b="b"/>
            <a:pathLst>
              <a:path w="4736979" h="214229">
                <a:moveTo>
                  <a:pt x="0" y="0"/>
                </a:moveTo>
                <a:lnTo>
                  <a:pt x="4736979" y="0"/>
                </a:lnTo>
                <a:lnTo>
                  <a:pt x="4736979" y="214229"/>
                </a:lnTo>
                <a:lnTo>
                  <a:pt x="0" y="214229"/>
                </a:lnTo>
                <a:close/>
              </a:path>
            </a:pathLst>
          </a:custGeom>
          <a:solidFill>
            <a:srgbClr val="1D7ACC">
              <a:alpha val="20000"/>
            </a:srgbClr>
          </a:solidFill>
          <a:ln w="47625" cap="sq">
            <a:noFill/>
            <a:prstDash val="solid"/>
            <a:miter/>
          </a:ln>
        </p:spPr>
        <p:txBody>
          <a:bodyPr anchor="ctr"/>
          <a:lstStyle/>
          <a:p>
            <a:r>
              <a:rPr lang="fr-FR" sz="2800" b="1" i="0" dirty="0">
                <a:solidFill>
                  <a:srgbClr val="000000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Composantes essentielles :</a:t>
            </a:r>
          </a:p>
          <a:p>
            <a:pPr lvl="1"/>
            <a:r>
              <a:rPr lang="fr-FR" sz="2000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• en prenant en compte les besoins du client.</a:t>
            </a:r>
          </a:p>
          <a:p>
            <a:pPr lvl="1"/>
            <a:r>
              <a:rPr lang="fr-FR" sz="2000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• en s'appuyant sur l'état de l'art (solutions existantes, normes en vigueur...)</a:t>
            </a:r>
          </a:p>
          <a:p>
            <a:pPr lvl="1"/>
            <a:r>
              <a:rPr lang="fr-FR" sz="2000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• en utilisant des méthodes et des outils adaptées (modélisation, logiciels...)</a:t>
            </a:r>
          </a:p>
          <a:p>
            <a:pPr lvl="1"/>
            <a:r>
              <a:rPr lang="fr-FR" sz="2000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• en démontrant la pertinence des solutions proposées (fabricabilité...)</a:t>
            </a:r>
          </a:p>
          <a:p>
            <a:pPr lvl="1"/>
            <a:r>
              <a:rPr lang="fr-FR" sz="2000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• en prenant en compte tout le cycle de vie du produit.</a:t>
            </a:r>
          </a:p>
          <a:p>
            <a:pPr lvl="1"/>
            <a:r>
              <a:rPr lang="fr-FR" sz="2000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• </a:t>
            </a:r>
            <a:r>
              <a:rPr lang="fr-FR" sz="2000" dirty="0">
                <a:latin typeface="Calibri" panose="020F0502020204030204" pitchFamily="34" charset="0"/>
                <a:cs typeface="Calibri" panose="020F0502020204030204" pitchFamily="34" charset="0"/>
              </a:rPr>
              <a:t>en appliquant une démarche d’éco-conception</a:t>
            </a:r>
          </a:p>
          <a:p>
            <a:pPr lvl="1"/>
            <a:endParaRPr lang="fr-FR" sz="2000" dirty="0">
              <a:solidFill>
                <a:srgbClr val="000000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464769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0F9413-0C63-495E-8694-EFCB465669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Freeform 119">
            <a:extLst>
              <a:ext uri="{FF2B5EF4-FFF2-40B4-BE49-F238E27FC236}">
                <a16:creationId xmlns:a16="http://schemas.microsoft.com/office/drawing/2014/main" id="{03EEC004-B001-38FC-E7F0-93DB238B49DA}"/>
              </a:ext>
            </a:extLst>
          </p:cNvPr>
          <p:cNvSpPr/>
          <p:nvPr/>
        </p:nvSpPr>
        <p:spPr>
          <a:xfrm>
            <a:off x="380999" y="3361609"/>
            <a:ext cx="17526001" cy="1346345"/>
          </a:xfrm>
          <a:custGeom>
            <a:avLst/>
            <a:gdLst/>
            <a:ahLst/>
            <a:cxnLst/>
            <a:rect l="l" t="t" r="r" b="b"/>
            <a:pathLst>
              <a:path w="4736979" h="214229">
                <a:moveTo>
                  <a:pt x="0" y="0"/>
                </a:moveTo>
                <a:lnTo>
                  <a:pt x="4736979" y="0"/>
                </a:lnTo>
                <a:lnTo>
                  <a:pt x="4736979" y="214229"/>
                </a:lnTo>
                <a:lnTo>
                  <a:pt x="0" y="214229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  <a:ln w="47625" cap="sq">
            <a:noFill/>
            <a:prstDash val="solid"/>
            <a:miter/>
          </a:ln>
        </p:spPr>
        <p:txBody>
          <a:bodyPr lIns="91440" tIns="45720" rIns="91440" bIns="45720" anchor="ctr"/>
          <a:lstStyle/>
          <a:p>
            <a:r>
              <a:rPr lang="fr-FR" sz="2400" b="1" i="0" dirty="0">
                <a:solidFill>
                  <a:srgbClr val="000000"/>
                </a:solidFill>
                <a:effectLst/>
                <a:latin typeface="Calibri"/>
                <a:ea typeface="Calibri"/>
                <a:cs typeface="Calibri"/>
              </a:rPr>
              <a:t> Situations professionnelles :</a:t>
            </a:r>
          </a:p>
          <a:p>
            <a:pPr marL="342900" indent="-342900">
              <a:buFont typeface="Arial"/>
              <a:buChar char="•"/>
            </a:pPr>
            <a:r>
              <a:rPr lang="fr-FR" sz="2000" dirty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Ingénieur méthodes </a:t>
            </a:r>
            <a:endParaRPr lang="fr-FR" sz="2000" dirty="0">
              <a:solidFill>
                <a:srgbClr val="000000"/>
              </a:solidFill>
              <a:latin typeface="Calibri" panose="020F0502020204030204" pitchFamily="34" charset="0"/>
              <a:ea typeface="Calibri"/>
              <a:cs typeface="Calibri" panose="020F0502020204030204" pitchFamily="34" charset="0"/>
            </a:endParaRPr>
          </a:p>
          <a:p>
            <a:pPr marL="342900" indent="-342900">
              <a:buFont typeface="Arial"/>
              <a:buChar char="•"/>
            </a:pPr>
            <a:r>
              <a:rPr lang="fr-FR" sz="2000" dirty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Ingénieur production</a:t>
            </a:r>
          </a:p>
          <a:p>
            <a:pPr marL="342900" indent="-342900">
              <a:buFont typeface="Arial"/>
              <a:buChar char="•"/>
            </a:pPr>
            <a:r>
              <a:rPr lang="fr-FR" sz="2000" dirty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Ingénieur qualité </a:t>
            </a:r>
          </a:p>
        </p:txBody>
      </p:sp>
      <p:sp>
        <p:nvSpPr>
          <p:cNvPr id="19" name="Freeform 119">
            <a:extLst>
              <a:ext uri="{FF2B5EF4-FFF2-40B4-BE49-F238E27FC236}">
                <a16:creationId xmlns:a16="http://schemas.microsoft.com/office/drawing/2014/main" id="{0513233B-A3AC-F818-3DFD-54ED917E651D}"/>
              </a:ext>
            </a:extLst>
          </p:cNvPr>
          <p:cNvSpPr/>
          <p:nvPr/>
        </p:nvSpPr>
        <p:spPr>
          <a:xfrm>
            <a:off x="5638800" y="346805"/>
            <a:ext cx="12268200" cy="2792949"/>
          </a:xfrm>
          <a:custGeom>
            <a:avLst/>
            <a:gdLst/>
            <a:ahLst/>
            <a:cxnLst/>
            <a:rect l="l" t="t" r="r" b="b"/>
            <a:pathLst>
              <a:path w="4736979" h="214229">
                <a:moveTo>
                  <a:pt x="0" y="0"/>
                </a:moveTo>
                <a:lnTo>
                  <a:pt x="4736979" y="0"/>
                </a:lnTo>
                <a:lnTo>
                  <a:pt x="4736979" y="214229"/>
                </a:lnTo>
                <a:lnTo>
                  <a:pt x="0" y="214229"/>
                </a:lnTo>
                <a:close/>
              </a:path>
            </a:pathLst>
          </a:custGeom>
          <a:solidFill>
            <a:srgbClr val="4FA954">
              <a:alpha val="50409"/>
            </a:srgbClr>
          </a:solidFill>
          <a:ln w="47625" cap="sq">
            <a:noFill/>
            <a:prstDash val="solid"/>
            <a:miter/>
          </a:ln>
        </p:spPr>
        <p:txBody>
          <a:bodyPr lIns="91440" tIns="45720" rIns="91440" bIns="45720" anchor="ctr"/>
          <a:lstStyle/>
          <a:p>
            <a:r>
              <a:rPr lang="fr-FR" sz="2400" b="1" i="0">
                <a:solidFill>
                  <a:srgbClr val="000000"/>
                </a:solidFill>
                <a:effectLst/>
                <a:latin typeface="Calibri"/>
                <a:ea typeface="Calibri"/>
                <a:cs typeface="Calibri"/>
              </a:rPr>
              <a:t> </a:t>
            </a:r>
            <a:r>
              <a:rPr lang="fr-FR" b="1" i="0">
                <a:solidFill>
                  <a:srgbClr val="000000"/>
                </a:solidFill>
                <a:effectLst/>
                <a:latin typeface="Calibri"/>
                <a:ea typeface="Calibri"/>
                <a:cs typeface="Calibri"/>
              </a:rPr>
              <a:t>Composantes essentielles :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fr-FR" sz="200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en tenant compte des spécifications techniques du produit et des technologies existantes.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fr-FR" sz="200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en tenant compte des exigences de coût, de qualité et de délai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fr-FR" sz="200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en utilisant efficacement les outils de gestion de production (logiciels, management visuel, kanban...).</a:t>
            </a:r>
            <a:endParaRPr lang="fr-FR" sz="2000">
              <a:solidFill>
                <a:srgbClr val="000000"/>
              </a:solidFill>
              <a:latin typeface="Calibri" panose="020F0502020204030204" pitchFamily="34" charset="0"/>
              <a:ea typeface="Calibri"/>
              <a:cs typeface="Calibri" panose="020F0502020204030204" pitchFamily="34" charset="0"/>
            </a:endParaRP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fr-FR" sz="200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en définissant des indicateurs pertinents.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fr-FR" sz="200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en prenant en compte les aspects QHSE et RSE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fr-FR" sz="200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en documentant de manière exhaustive le processus de fabrication choisi. </a:t>
            </a:r>
            <a:r>
              <a:rPr lang="fr-FR" sz="240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	</a:t>
            </a:r>
          </a:p>
        </p:txBody>
      </p:sp>
      <p:sp>
        <p:nvSpPr>
          <p:cNvPr id="20" name="Freeform 119">
            <a:extLst>
              <a:ext uri="{FF2B5EF4-FFF2-40B4-BE49-F238E27FC236}">
                <a16:creationId xmlns:a16="http://schemas.microsoft.com/office/drawing/2014/main" id="{8D3E7428-926A-4CD3-3C7E-E5562493C657}"/>
              </a:ext>
            </a:extLst>
          </p:cNvPr>
          <p:cNvSpPr/>
          <p:nvPr/>
        </p:nvSpPr>
        <p:spPr>
          <a:xfrm>
            <a:off x="2401569" y="4932645"/>
            <a:ext cx="15450492" cy="1603820"/>
          </a:xfrm>
          <a:custGeom>
            <a:avLst/>
            <a:gdLst/>
            <a:ahLst/>
            <a:cxnLst/>
            <a:rect l="l" t="t" r="r" b="b"/>
            <a:pathLst>
              <a:path w="4736979" h="214229">
                <a:moveTo>
                  <a:pt x="0" y="0"/>
                </a:moveTo>
                <a:lnTo>
                  <a:pt x="4736979" y="0"/>
                </a:lnTo>
                <a:lnTo>
                  <a:pt x="4736979" y="214229"/>
                </a:lnTo>
                <a:lnTo>
                  <a:pt x="0" y="214229"/>
                </a:lnTo>
                <a:close/>
              </a:path>
            </a:pathLst>
          </a:custGeom>
          <a:solidFill>
            <a:schemeClr val="bg1"/>
          </a:solidFill>
          <a:ln w="38100" cap="sq">
            <a:solidFill>
              <a:schemeClr val="tx1">
                <a:lumMod val="50000"/>
                <a:lumOff val="50000"/>
              </a:schemeClr>
            </a:solidFill>
            <a:prstDash val="solid"/>
            <a:miter/>
          </a:ln>
        </p:spPr>
        <p:txBody>
          <a:bodyPr anchor="ctr"/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fr-FR" sz="2000" dirty="0">
                <a:latin typeface="Calibri" panose="020F0502020204030204" pitchFamily="34" charset="0"/>
                <a:cs typeface="Calibri" panose="020F0502020204030204" pitchFamily="34" charset="0"/>
              </a:rPr>
              <a:t>élaborer les gammes de fabrication (mise en forme, assemblage).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fr-FR" sz="2000" dirty="0">
                <a:latin typeface="Calibri" panose="020F0502020204030204" pitchFamily="34" charset="0"/>
                <a:cs typeface="Calibri" panose="020F0502020204030204" pitchFamily="34" charset="0"/>
              </a:rPr>
              <a:t>concevoir un avant-projet d'étude de fabrication réaliste.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fr-FR" sz="2000" dirty="0">
                <a:latin typeface="Calibri" panose="020F0502020204030204" pitchFamily="34" charset="0"/>
                <a:cs typeface="Calibri" panose="020F0502020204030204" pitchFamily="34" charset="0"/>
              </a:rPr>
              <a:t>choisir les méthodes de fabrication.</a:t>
            </a:r>
          </a:p>
          <a:p>
            <a:endParaRPr lang="fr-FR" sz="20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" name="Freeform 119">
            <a:extLst>
              <a:ext uri="{FF2B5EF4-FFF2-40B4-BE49-F238E27FC236}">
                <a16:creationId xmlns:a16="http://schemas.microsoft.com/office/drawing/2014/main" id="{17D00D0F-4B6F-20AF-CCB8-E377A2425FD0}"/>
              </a:ext>
            </a:extLst>
          </p:cNvPr>
          <p:cNvSpPr/>
          <p:nvPr/>
        </p:nvSpPr>
        <p:spPr>
          <a:xfrm>
            <a:off x="2401569" y="6674975"/>
            <a:ext cx="15450492" cy="1603820"/>
          </a:xfrm>
          <a:custGeom>
            <a:avLst/>
            <a:gdLst/>
            <a:ahLst/>
            <a:cxnLst/>
            <a:rect l="l" t="t" r="r" b="b"/>
            <a:pathLst>
              <a:path w="4736979" h="214229">
                <a:moveTo>
                  <a:pt x="0" y="0"/>
                </a:moveTo>
                <a:lnTo>
                  <a:pt x="4736979" y="0"/>
                </a:lnTo>
                <a:lnTo>
                  <a:pt x="4736979" y="214229"/>
                </a:lnTo>
                <a:lnTo>
                  <a:pt x="0" y="214229"/>
                </a:lnTo>
                <a:close/>
              </a:path>
            </a:pathLst>
          </a:custGeom>
          <a:solidFill>
            <a:schemeClr val="bg1"/>
          </a:solidFill>
          <a:ln w="38100" cap="sq">
            <a:solidFill>
              <a:schemeClr val="bg1">
                <a:lumMod val="65000"/>
              </a:schemeClr>
            </a:solidFill>
            <a:prstDash val="solid"/>
            <a:miter/>
          </a:ln>
        </p:spPr>
        <p:txBody>
          <a:bodyPr lIns="91440" tIns="45720" rIns="91440" bIns="45720" anchor="ctr"/>
          <a:lstStyle/>
          <a:p>
            <a:pPr marL="342900" indent="-342900">
              <a:buFont typeface="Arial"/>
              <a:buChar char="•"/>
            </a:pPr>
            <a:r>
              <a:rPr lang="fr-FR" sz="2000" dirty="0">
                <a:latin typeface="Calibri"/>
                <a:ea typeface="Calibri"/>
                <a:cs typeface="Calibri"/>
              </a:rPr>
              <a:t>définir les méthodes de vérification des pièces fabriquées.</a:t>
            </a:r>
            <a:endParaRPr lang="fr-FR" dirty="0"/>
          </a:p>
          <a:p>
            <a:pPr marL="342900" indent="-342900">
              <a:buFont typeface="Arial"/>
              <a:buChar char="•"/>
            </a:pPr>
            <a:r>
              <a:rPr lang="fr-FR" sz="2000" dirty="0">
                <a:latin typeface="Calibri"/>
                <a:ea typeface="Calibri"/>
                <a:cs typeface="Calibri"/>
              </a:rPr>
              <a:t>planifier la production (calcul des besoins, ordonnancement, calcul des charges...).</a:t>
            </a:r>
          </a:p>
          <a:p>
            <a:pPr marL="342900" indent="-342900">
              <a:buFont typeface="Arial"/>
              <a:buChar char="•"/>
            </a:pPr>
            <a:r>
              <a:rPr lang="fr-FR" sz="2000" dirty="0">
                <a:latin typeface="Calibri"/>
                <a:ea typeface="Calibri"/>
                <a:cs typeface="Calibri"/>
              </a:rPr>
              <a:t>évaluer la qualité des produits.</a:t>
            </a:r>
            <a:endParaRPr lang="fr-FR" dirty="0">
              <a:ea typeface="Calibri"/>
              <a:cs typeface="Calibri"/>
            </a:endParaRPr>
          </a:p>
          <a:p>
            <a:endParaRPr lang="fr-FR" sz="200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" name="Freeform 119">
            <a:extLst>
              <a:ext uri="{FF2B5EF4-FFF2-40B4-BE49-F238E27FC236}">
                <a16:creationId xmlns:a16="http://schemas.microsoft.com/office/drawing/2014/main" id="{951E2583-75B9-67EE-CABB-180C418F8983}"/>
              </a:ext>
            </a:extLst>
          </p:cNvPr>
          <p:cNvSpPr/>
          <p:nvPr/>
        </p:nvSpPr>
        <p:spPr>
          <a:xfrm>
            <a:off x="2401569" y="8417306"/>
            <a:ext cx="15486209" cy="1632396"/>
          </a:xfrm>
          <a:custGeom>
            <a:avLst/>
            <a:gdLst/>
            <a:ahLst/>
            <a:cxnLst/>
            <a:rect l="l" t="t" r="r" b="b"/>
            <a:pathLst>
              <a:path w="4736979" h="214229">
                <a:moveTo>
                  <a:pt x="0" y="0"/>
                </a:moveTo>
                <a:lnTo>
                  <a:pt x="4736979" y="0"/>
                </a:lnTo>
                <a:lnTo>
                  <a:pt x="4736979" y="214229"/>
                </a:lnTo>
                <a:lnTo>
                  <a:pt x="0" y="214229"/>
                </a:lnTo>
                <a:close/>
              </a:path>
            </a:pathLst>
          </a:custGeom>
          <a:solidFill>
            <a:schemeClr val="bg1"/>
          </a:solidFill>
          <a:ln w="38100" cap="sq">
            <a:solidFill>
              <a:schemeClr val="bg1">
                <a:lumMod val="85000"/>
              </a:schemeClr>
            </a:solidFill>
            <a:prstDash val="solid"/>
            <a:miter/>
          </a:ln>
        </p:spPr>
        <p:txBody>
          <a:bodyPr lIns="91440" tIns="45720" rIns="91440" bIns="45720" anchor="ctr"/>
          <a:lstStyle/>
          <a:p>
            <a:pPr marL="342900" indent="-342900">
              <a:buFont typeface="Arial"/>
              <a:buChar char="•"/>
            </a:pPr>
            <a:r>
              <a:rPr lang="fr-FR" sz="2000" dirty="0">
                <a:latin typeface="Calibri"/>
                <a:ea typeface="Calibri"/>
                <a:cs typeface="Calibri"/>
              </a:rPr>
              <a:t>programmer les machines à commande numérique.</a:t>
            </a:r>
            <a:endParaRPr lang="fr-FR" dirty="0"/>
          </a:p>
          <a:p>
            <a:pPr marL="342900" indent="-342900">
              <a:buFont typeface="Arial"/>
              <a:buChar char="•"/>
            </a:pPr>
            <a:r>
              <a:rPr lang="fr-FR" sz="2000" dirty="0">
                <a:latin typeface="Calibri"/>
                <a:ea typeface="Calibri"/>
                <a:cs typeface="Calibri"/>
              </a:rPr>
              <a:t>synthétiser les résultats de production </a:t>
            </a:r>
          </a:p>
          <a:p>
            <a:pPr marL="342900" indent="-342900">
              <a:buFont typeface="Arial"/>
              <a:buChar char="•"/>
            </a:pPr>
            <a:r>
              <a:rPr lang="fr-FR" sz="2000" dirty="0">
                <a:latin typeface="Calibri"/>
                <a:ea typeface="Calibri"/>
                <a:cs typeface="Calibri"/>
              </a:rPr>
              <a:t>calculer des indicateurs de performance.</a:t>
            </a:r>
          </a:p>
          <a:p>
            <a:pPr marL="342900" indent="-342900">
              <a:buFont typeface="Arial"/>
              <a:buChar char="•"/>
            </a:pPr>
            <a:r>
              <a:rPr lang="fr-FR" sz="2000" dirty="0">
                <a:latin typeface="Calibri"/>
                <a:ea typeface="Calibri"/>
                <a:cs typeface="Calibri"/>
              </a:rPr>
              <a:t>organiser les maintenances pour s'assurer de la disponibilité des machines.</a:t>
            </a:r>
          </a:p>
          <a:p>
            <a:pPr marL="342900" indent="-342900">
              <a:buFont typeface="Arial"/>
              <a:buChar char="•"/>
            </a:pPr>
            <a:r>
              <a:rPr lang="fr-FR" sz="2000" dirty="0">
                <a:latin typeface="Calibri"/>
                <a:ea typeface="Calibri"/>
                <a:cs typeface="Calibri"/>
              </a:rPr>
              <a:t>définir des plans d'amélioration continue selon la performance atteinte.</a:t>
            </a:r>
            <a:endParaRPr lang="fr-FR" sz="2000" dirty="0">
              <a:latin typeface="Calibri" panose="020F0502020204030204" pitchFamily="34" charset="0"/>
              <a:ea typeface="Calibri"/>
              <a:cs typeface="Calibri" panose="020F0502020204030204" pitchFamily="34" charset="0"/>
            </a:endParaRPr>
          </a:p>
        </p:txBody>
      </p:sp>
      <p:sp>
        <p:nvSpPr>
          <p:cNvPr id="5" name="Freeform 119">
            <a:extLst>
              <a:ext uri="{FF2B5EF4-FFF2-40B4-BE49-F238E27FC236}">
                <a16:creationId xmlns:a16="http://schemas.microsoft.com/office/drawing/2014/main" id="{BAE00493-6C3E-C42D-3670-957DDC14A878}"/>
              </a:ext>
            </a:extLst>
          </p:cNvPr>
          <p:cNvSpPr/>
          <p:nvPr/>
        </p:nvSpPr>
        <p:spPr>
          <a:xfrm rot="16200000">
            <a:off x="-1859995" y="7172222"/>
            <a:ext cx="5089898" cy="607909"/>
          </a:xfrm>
          <a:custGeom>
            <a:avLst/>
            <a:gdLst/>
            <a:ahLst/>
            <a:cxnLst/>
            <a:rect l="l" t="t" r="r" b="b"/>
            <a:pathLst>
              <a:path w="4736979" h="214229">
                <a:moveTo>
                  <a:pt x="0" y="0"/>
                </a:moveTo>
                <a:lnTo>
                  <a:pt x="4736979" y="0"/>
                </a:lnTo>
                <a:lnTo>
                  <a:pt x="4736979" y="214229"/>
                </a:lnTo>
                <a:lnTo>
                  <a:pt x="0" y="214229"/>
                </a:lnTo>
                <a:close/>
              </a:path>
            </a:pathLst>
          </a:custGeom>
          <a:solidFill>
            <a:schemeClr val="bg1"/>
          </a:solidFill>
          <a:ln w="47625" cap="sq">
            <a:solidFill>
              <a:schemeClr val="tx1"/>
            </a:solidFill>
            <a:prstDash val="solid"/>
            <a:miter/>
          </a:ln>
        </p:spPr>
        <p:txBody>
          <a:bodyPr anchor="ctr"/>
          <a:lstStyle/>
          <a:p>
            <a:pPr algn="ctr"/>
            <a:r>
              <a:rPr lang="fr-FR" sz="2400" b="1">
                <a:latin typeface="Calibri" panose="020F0502020204030204" pitchFamily="34" charset="0"/>
                <a:cs typeface="Calibri" panose="020F0502020204030204" pitchFamily="34" charset="0"/>
              </a:rPr>
              <a:t>APPRENTISSAGES CRITIQUES</a:t>
            </a:r>
          </a:p>
        </p:txBody>
      </p:sp>
      <p:sp>
        <p:nvSpPr>
          <p:cNvPr id="9" name="Freeform 119">
            <a:extLst>
              <a:ext uri="{FF2B5EF4-FFF2-40B4-BE49-F238E27FC236}">
                <a16:creationId xmlns:a16="http://schemas.microsoft.com/office/drawing/2014/main" id="{86548397-B105-A17B-A892-F94B14D8057E}"/>
              </a:ext>
            </a:extLst>
          </p:cNvPr>
          <p:cNvSpPr/>
          <p:nvPr/>
        </p:nvSpPr>
        <p:spPr>
          <a:xfrm>
            <a:off x="1107010" y="4932645"/>
            <a:ext cx="1294559" cy="1603820"/>
          </a:xfrm>
          <a:custGeom>
            <a:avLst/>
            <a:gdLst/>
            <a:ahLst/>
            <a:cxnLst/>
            <a:rect l="l" t="t" r="r" b="b"/>
            <a:pathLst>
              <a:path w="4736979" h="214229">
                <a:moveTo>
                  <a:pt x="0" y="0"/>
                </a:moveTo>
                <a:lnTo>
                  <a:pt x="4736979" y="0"/>
                </a:lnTo>
                <a:lnTo>
                  <a:pt x="4736979" y="214229"/>
                </a:lnTo>
                <a:lnTo>
                  <a:pt x="0" y="214229"/>
                </a:lnTo>
                <a:close/>
              </a:path>
            </a:pathLst>
          </a:custGeom>
          <a:solidFill>
            <a:schemeClr val="tx1">
              <a:lumMod val="50000"/>
              <a:lumOff val="50000"/>
            </a:schemeClr>
          </a:solidFill>
          <a:ln w="38100" cap="sq">
            <a:solidFill>
              <a:schemeClr val="tx1">
                <a:lumMod val="50000"/>
                <a:lumOff val="50000"/>
              </a:schemeClr>
            </a:solidFill>
            <a:prstDash val="solid"/>
            <a:miter/>
          </a:ln>
        </p:spPr>
        <p:txBody>
          <a:bodyPr anchor="ctr"/>
          <a:lstStyle/>
          <a:p>
            <a:pPr algn="ctr"/>
            <a:r>
              <a:rPr lang="fr-FR" sz="3600">
                <a:latin typeface="Calibri" panose="020F0502020204030204" pitchFamily="34" charset="0"/>
                <a:cs typeface="Calibri" panose="020F0502020204030204" pitchFamily="34" charset="0"/>
              </a:rPr>
              <a:t>3A</a:t>
            </a:r>
          </a:p>
        </p:txBody>
      </p:sp>
      <p:sp>
        <p:nvSpPr>
          <p:cNvPr id="10" name="Freeform 119">
            <a:extLst>
              <a:ext uri="{FF2B5EF4-FFF2-40B4-BE49-F238E27FC236}">
                <a16:creationId xmlns:a16="http://schemas.microsoft.com/office/drawing/2014/main" id="{78B649FC-F92A-07B8-639B-089A3CF3EFB7}"/>
              </a:ext>
            </a:extLst>
          </p:cNvPr>
          <p:cNvSpPr/>
          <p:nvPr/>
        </p:nvSpPr>
        <p:spPr>
          <a:xfrm>
            <a:off x="1107010" y="6674975"/>
            <a:ext cx="1294559" cy="1603820"/>
          </a:xfrm>
          <a:custGeom>
            <a:avLst/>
            <a:gdLst/>
            <a:ahLst/>
            <a:cxnLst/>
            <a:rect l="l" t="t" r="r" b="b"/>
            <a:pathLst>
              <a:path w="4736979" h="214229">
                <a:moveTo>
                  <a:pt x="0" y="0"/>
                </a:moveTo>
                <a:lnTo>
                  <a:pt x="4736979" y="0"/>
                </a:lnTo>
                <a:lnTo>
                  <a:pt x="4736979" y="214229"/>
                </a:lnTo>
                <a:lnTo>
                  <a:pt x="0" y="214229"/>
                </a:lnTo>
                <a:close/>
              </a:path>
            </a:pathLst>
          </a:custGeom>
          <a:solidFill>
            <a:schemeClr val="bg1">
              <a:lumMod val="65000"/>
            </a:schemeClr>
          </a:solidFill>
          <a:ln w="38100" cap="sq">
            <a:solidFill>
              <a:schemeClr val="bg1">
                <a:lumMod val="65000"/>
              </a:schemeClr>
            </a:solidFill>
            <a:prstDash val="solid"/>
            <a:miter/>
          </a:ln>
        </p:spPr>
        <p:txBody>
          <a:bodyPr anchor="ctr"/>
          <a:lstStyle/>
          <a:p>
            <a:pPr algn="ctr"/>
            <a:r>
              <a:rPr lang="fr-FR" sz="3600">
                <a:latin typeface="Calibri" panose="020F0502020204030204" pitchFamily="34" charset="0"/>
                <a:cs typeface="Calibri" panose="020F0502020204030204" pitchFamily="34" charset="0"/>
              </a:rPr>
              <a:t>4A</a:t>
            </a:r>
          </a:p>
        </p:txBody>
      </p:sp>
      <p:sp>
        <p:nvSpPr>
          <p:cNvPr id="14" name="Freeform 119">
            <a:extLst>
              <a:ext uri="{FF2B5EF4-FFF2-40B4-BE49-F238E27FC236}">
                <a16:creationId xmlns:a16="http://schemas.microsoft.com/office/drawing/2014/main" id="{72575715-2581-E2C0-F6E2-305D1F3A92C0}"/>
              </a:ext>
            </a:extLst>
          </p:cNvPr>
          <p:cNvSpPr/>
          <p:nvPr/>
        </p:nvSpPr>
        <p:spPr>
          <a:xfrm>
            <a:off x="1107010" y="8417306"/>
            <a:ext cx="1294559" cy="1603820"/>
          </a:xfrm>
          <a:custGeom>
            <a:avLst/>
            <a:gdLst/>
            <a:ahLst/>
            <a:cxnLst/>
            <a:rect l="l" t="t" r="r" b="b"/>
            <a:pathLst>
              <a:path w="4736979" h="214229">
                <a:moveTo>
                  <a:pt x="0" y="0"/>
                </a:moveTo>
                <a:lnTo>
                  <a:pt x="4736979" y="0"/>
                </a:lnTo>
                <a:lnTo>
                  <a:pt x="4736979" y="214229"/>
                </a:lnTo>
                <a:lnTo>
                  <a:pt x="0" y="214229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  <a:ln w="38100" cap="sq">
            <a:solidFill>
              <a:schemeClr val="bg1">
                <a:lumMod val="85000"/>
              </a:schemeClr>
            </a:solidFill>
            <a:prstDash val="solid"/>
            <a:miter/>
          </a:ln>
        </p:spPr>
        <p:txBody>
          <a:bodyPr anchor="ctr"/>
          <a:lstStyle/>
          <a:p>
            <a:pPr algn="ctr"/>
            <a:r>
              <a:rPr lang="fr-FR" sz="3600">
                <a:latin typeface="Calibri" panose="020F0502020204030204" pitchFamily="34" charset="0"/>
                <a:cs typeface="Calibri" panose="020F0502020204030204" pitchFamily="34" charset="0"/>
              </a:rPr>
              <a:t>5A</a:t>
            </a:r>
          </a:p>
        </p:txBody>
      </p:sp>
      <p:sp>
        <p:nvSpPr>
          <p:cNvPr id="2" name="Freeform 119">
            <a:extLst>
              <a:ext uri="{FF2B5EF4-FFF2-40B4-BE49-F238E27FC236}">
                <a16:creationId xmlns:a16="http://schemas.microsoft.com/office/drawing/2014/main" id="{8907CB34-64F9-2101-EC7B-9F0D0B943E00}"/>
              </a:ext>
            </a:extLst>
          </p:cNvPr>
          <p:cNvSpPr/>
          <p:nvPr/>
        </p:nvSpPr>
        <p:spPr>
          <a:xfrm>
            <a:off x="381000" y="346805"/>
            <a:ext cx="5024283" cy="2792949"/>
          </a:xfrm>
          <a:custGeom>
            <a:avLst/>
            <a:gdLst/>
            <a:ahLst/>
            <a:cxnLst/>
            <a:rect l="l" t="t" r="r" b="b"/>
            <a:pathLst>
              <a:path w="4736979" h="214229">
                <a:moveTo>
                  <a:pt x="0" y="0"/>
                </a:moveTo>
                <a:lnTo>
                  <a:pt x="4736979" y="0"/>
                </a:lnTo>
                <a:lnTo>
                  <a:pt x="4736979" y="214229"/>
                </a:lnTo>
                <a:lnTo>
                  <a:pt x="0" y="214229"/>
                </a:lnTo>
                <a:close/>
              </a:path>
            </a:pathLst>
          </a:custGeom>
          <a:solidFill>
            <a:srgbClr val="4FA954"/>
          </a:solidFill>
          <a:ln w="47625" cap="sq">
            <a:noFill/>
            <a:prstDash val="solid"/>
            <a:miter/>
          </a:ln>
        </p:spPr>
        <p:txBody>
          <a:bodyPr anchor="ctr"/>
          <a:lstStyle/>
          <a:p>
            <a:pPr algn="ctr"/>
            <a:r>
              <a:rPr lang="fr-FR" sz="3600" b="1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Industrialiser des produits manufacturés</a:t>
            </a:r>
          </a:p>
          <a:p>
            <a:pPr algn="ctr">
              <a:lnSpc>
                <a:spcPct val="150000"/>
              </a:lnSpc>
            </a:pPr>
            <a:r>
              <a:rPr lang="fr-FR" sz="360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RNCP</a:t>
            </a:r>
          </a:p>
        </p:txBody>
      </p:sp>
    </p:spTree>
    <p:extLst>
      <p:ext uri="{BB962C8B-B14F-4D97-AF65-F5344CB8AC3E}">
        <p14:creationId xmlns:p14="http://schemas.microsoft.com/office/powerpoint/2010/main" val="124378960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94339F-7CC9-EFBF-7138-15848263A7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Freeform 119">
            <a:extLst>
              <a:ext uri="{FF2B5EF4-FFF2-40B4-BE49-F238E27FC236}">
                <a16:creationId xmlns:a16="http://schemas.microsoft.com/office/drawing/2014/main" id="{4C82FA3C-3FEA-221E-03E0-44F78B4DCCEB}"/>
              </a:ext>
            </a:extLst>
          </p:cNvPr>
          <p:cNvSpPr/>
          <p:nvPr/>
        </p:nvSpPr>
        <p:spPr>
          <a:xfrm>
            <a:off x="380999" y="3361609"/>
            <a:ext cx="17526001" cy="1346345"/>
          </a:xfrm>
          <a:custGeom>
            <a:avLst/>
            <a:gdLst/>
            <a:ahLst/>
            <a:cxnLst/>
            <a:rect l="l" t="t" r="r" b="b"/>
            <a:pathLst>
              <a:path w="4736979" h="214229">
                <a:moveTo>
                  <a:pt x="0" y="0"/>
                </a:moveTo>
                <a:lnTo>
                  <a:pt x="4736979" y="0"/>
                </a:lnTo>
                <a:lnTo>
                  <a:pt x="4736979" y="214229"/>
                </a:lnTo>
                <a:lnTo>
                  <a:pt x="0" y="214229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  <a:ln w="47625" cap="sq">
            <a:noFill/>
            <a:prstDash val="solid"/>
            <a:miter/>
          </a:ln>
        </p:spPr>
        <p:txBody>
          <a:bodyPr lIns="91440" tIns="45720" rIns="91440" bIns="45720" anchor="ctr"/>
          <a:lstStyle/>
          <a:p>
            <a:r>
              <a:rPr lang="fr-FR" sz="2400" b="1" i="0" dirty="0">
                <a:solidFill>
                  <a:srgbClr val="000000"/>
                </a:solidFill>
                <a:effectLst/>
                <a:latin typeface="Calibri"/>
                <a:ea typeface="Calibri"/>
                <a:cs typeface="Calibri"/>
              </a:rPr>
              <a:t> </a:t>
            </a:r>
            <a:endParaRPr lang="fr-FR"/>
          </a:p>
          <a:p>
            <a:r>
              <a:rPr lang="fr-FR" sz="2400" b="1" i="0" dirty="0">
                <a:solidFill>
                  <a:srgbClr val="000000"/>
                </a:solidFill>
                <a:effectLst/>
                <a:latin typeface="Calibri"/>
                <a:ea typeface="Calibri"/>
                <a:cs typeface="Calibri"/>
              </a:rPr>
              <a:t>Situations professionnelles :</a:t>
            </a:r>
            <a:endParaRPr lang="fr-FR" dirty="0"/>
          </a:p>
          <a:p>
            <a:pPr marL="800100" indent="-342900">
              <a:buFont typeface="Arial"/>
              <a:buChar char="•"/>
            </a:pPr>
            <a:r>
              <a:rPr lang="fr-FR" sz="2400" dirty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Chef de projet</a:t>
            </a:r>
          </a:p>
          <a:p>
            <a:pPr marL="800100" lvl="1" indent="-342900">
              <a:buFont typeface="Arial"/>
              <a:buChar char="•"/>
            </a:pPr>
            <a:r>
              <a:rPr lang="fr-FR" sz="2400" dirty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Directeur technique</a:t>
            </a:r>
            <a:endParaRPr lang="fr-FR" dirty="0">
              <a:ea typeface="Calibri"/>
              <a:cs typeface="Calibri"/>
            </a:endParaRPr>
          </a:p>
          <a:p>
            <a:pPr marL="914400" lvl="1" indent="-457200">
              <a:buFont typeface="Arial" panose="020B0604020202020204" pitchFamily="34" charset="0"/>
              <a:buChar char="•"/>
            </a:pPr>
            <a:endParaRPr lang="fr-FR" sz="2400" i="0" dirty="0">
              <a:solidFill>
                <a:srgbClr val="000000"/>
              </a:solidFill>
              <a:effectLst/>
              <a:latin typeface="Calibri" panose="020F0502020204030204" pitchFamily="34" charset="0"/>
              <a:ea typeface="Calibri"/>
              <a:cs typeface="Calibri" panose="020F0502020204030204" pitchFamily="34" charset="0"/>
            </a:endParaRPr>
          </a:p>
        </p:txBody>
      </p:sp>
      <p:sp>
        <p:nvSpPr>
          <p:cNvPr id="19" name="Freeform 119">
            <a:extLst>
              <a:ext uri="{FF2B5EF4-FFF2-40B4-BE49-F238E27FC236}">
                <a16:creationId xmlns:a16="http://schemas.microsoft.com/office/drawing/2014/main" id="{9F23E88D-0212-6E07-6030-FAF7BBF7C278}"/>
              </a:ext>
            </a:extLst>
          </p:cNvPr>
          <p:cNvSpPr/>
          <p:nvPr/>
        </p:nvSpPr>
        <p:spPr>
          <a:xfrm>
            <a:off x="5638800" y="346805"/>
            <a:ext cx="12268200" cy="2792949"/>
          </a:xfrm>
          <a:custGeom>
            <a:avLst/>
            <a:gdLst/>
            <a:ahLst/>
            <a:cxnLst/>
            <a:rect l="l" t="t" r="r" b="b"/>
            <a:pathLst>
              <a:path w="4736979" h="214229">
                <a:moveTo>
                  <a:pt x="0" y="0"/>
                </a:moveTo>
                <a:lnTo>
                  <a:pt x="4736979" y="0"/>
                </a:lnTo>
                <a:lnTo>
                  <a:pt x="4736979" y="214229"/>
                </a:lnTo>
                <a:lnTo>
                  <a:pt x="0" y="214229"/>
                </a:lnTo>
                <a:close/>
              </a:path>
            </a:pathLst>
          </a:custGeom>
          <a:solidFill>
            <a:srgbClr val="F49831">
              <a:alpha val="49711"/>
            </a:srgbClr>
          </a:solidFill>
          <a:ln w="47625" cap="sq">
            <a:noFill/>
            <a:prstDash val="solid"/>
            <a:miter/>
          </a:ln>
        </p:spPr>
        <p:txBody>
          <a:bodyPr lIns="91440" tIns="45720" rIns="91440" bIns="45720" anchor="ctr"/>
          <a:lstStyle/>
          <a:p>
            <a:r>
              <a:rPr lang="fr-FR" sz="2800" b="1" i="0" dirty="0">
                <a:solidFill>
                  <a:srgbClr val="000000"/>
                </a:solidFill>
                <a:effectLst/>
                <a:latin typeface="Calibri"/>
                <a:ea typeface="Calibri"/>
                <a:cs typeface="Calibri"/>
              </a:rPr>
              <a:t> Composantes essentielles :</a:t>
            </a:r>
          </a:p>
          <a:p>
            <a:pPr marL="742950" indent="-285750">
              <a:buFont typeface="Arial"/>
              <a:buChar char="•"/>
            </a:pPr>
            <a:r>
              <a:rPr lang="fr-FR" dirty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En tenant de compte des délais, des ressources, des objectifs, des coûts  </a:t>
            </a:r>
          </a:p>
          <a:p>
            <a:pPr marL="742950" lvl="1" indent="-285750">
              <a:buFont typeface="Arial"/>
              <a:buChar char="•"/>
            </a:pPr>
            <a:r>
              <a:rPr lang="fr-FR" dirty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En adoptant une démarche structurée et rigoureuse  </a:t>
            </a:r>
          </a:p>
          <a:p>
            <a:pPr marL="742950" lvl="1" indent="-285750">
              <a:buFont typeface="Arial"/>
              <a:buChar char="•"/>
            </a:pPr>
            <a:r>
              <a:rPr lang="fr-FR" dirty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En choisissant des indicateurs pertinents de suivi et de résultat (coût, qualité, délais, humains, environnement, etc.)</a:t>
            </a:r>
            <a:endParaRPr lang="fr-FR" dirty="0">
              <a:ea typeface="Calibri"/>
              <a:cs typeface="Calibri"/>
            </a:endParaRPr>
          </a:p>
          <a:p>
            <a:pPr marL="742950" lvl="1" indent="-285750">
              <a:buFont typeface="Arial"/>
              <a:buChar char="•"/>
            </a:pPr>
            <a:r>
              <a:rPr lang="fr-FR" dirty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En respectant les réglementations et les contraintes identifiées / applicables (économiques, techniques, HSE)  </a:t>
            </a:r>
            <a:endParaRPr lang="fr-FR" dirty="0">
              <a:ea typeface="Calibri"/>
              <a:cs typeface="Calibri"/>
            </a:endParaRPr>
          </a:p>
          <a:p>
            <a:pPr marL="742950" lvl="1" indent="-285750">
              <a:buFont typeface="Arial"/>
              <a:buChar char="•"/>
            </a:pPr>
            <a:r>
              <a:rPr lang="fr-FR" dirty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En manageant efficacement ses équipes (informer, former, motiver, organiser) et ses ressources</a:t>
            </a:r>
            <a:endParaRPr lang="fr-FR" dirty="0">
              <a:ea typeface="Calibri"/>
              <a:cs typeface="Calibri"/>
            </a:endParaRPr>
          </a:p>
          <a:p>
            <a:pPr marL="742950" lvl="1" indent="-285750">
              <a:buFont typeface="Arial"/>
              <a:buChar char="•"/>
            </a:pPr>
            <a:r>
              <a:rPr lang="fr-FR" dirty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En utilisant efficacement les outils et méthodes de conduite de projet  </a:t>
            </a:r>
            <a:endParaRPr lang="fr-FR" dirty="0">
              <a:ea typeface="Calibri"/>
              <a:cs typeface="Calibri"/>
            </a:endParaRPr>
          </a:p>
          <a:p>
            <a:pPr marL="742950" lvl="1" indent="-285750">
              <a:buFont typeface="Arial"/>
              <a:buChar char="•"/>
            </a:pPr>
            <a:r>
              <a:rPr lang="fr-FR" dirty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En communiquant de manière adaptée aux différentes parties prenantes dans un contexte national et international</a:t>
            </a:r>
          </a:p>
        </p:txBody>
      </p:sp>
      <p:sp>
        <p:nvSpPr>
          <p:cNvPr id="20" name="Freeform 119">
            <a:extLst>
              <a:ext uri="{FF2B5EF4-FFF2-40B4-BE49-F238E27FC236}">
                <a16:creationId xmlns:a16="http://schemas.microsoft.com/office/drawing/2014/main" id="{00BA6169-CF2F-8C1B-7CBE-A5141A6BDD02}"/>
              </a:ext>
            </a:extLst>
          </p:cNvPr>
          <p:cNvSpPr/>
          <p:nvPr/>
        </p:nvSpPr>
        <p:spPr>
          <a:xfrm>
            <a:off x="2401569" y="4932645"/>
            <a:ext cx="15450492" cy="1603820"/>
          </a:xfrm>
          <a:custGeom>
            <a:avLst/>
            <a:gdLst/>
            <a:ahLst/>
            <a:cxnLst/>
            <a:rect l="l" t="t" r="r" b="b"/>
            <a:pathLst>
              <a:path w="4736979" h="214229">
                <a:moveTo>
                  <a:pt x="0" y="0"/>
                </a:moveTo>
                <a:lnTo>
                  <a:pt x="4736979" y="0"/>
                </a:lnTo>
                <a:lnTo>
                  <a:pt x="4736979" y="214229"/>
                </a:lnTo>
                <a:lnTo>
                  <a:pt x="0" y="214229"/>
                </a:lnTo>
                <a:close/>
              </a:path>
            </a:pathLst>
          </a:custGeom>
          <a:solidFill>
            <a:schemeClr val="bg1"/>
          </a:solidFill>
          <a:ln w="38100" cap="sq">
            <a:solidFill>
              <a:schemeClr val="tx1">
                <a:lumMod val="50000"/>
                <a:lumOff val="50000"/>
              </a:schemeClr>
            </a:solidFill>
            <a:prstDash val="solid"/>
            <a:miter/>
          </a:ln>
        </p:spPr>
        <p:txBody>
          <a:bodyPr lIns="91440" tIns="45720" rIns="91440" bIns="45720" anchor="ctr"/>
          <a:lstStyle/>
          <a:p>
            <a:pPr marL="342900" indent="-342900">
              <a:buFont typeface="Arial"/>
              <a:buChar char="•"/>
            </a:pPr>
            <a:r>
              <a:rPr lang="fr-FR" sz="2000" dirty="0">
                <a:latin typeface="Calibri"/>
                <a:ea typeface="Calibri"/>
                <a:cs typeface="Calibri"/>
              </a:rPr>
              <a:t>définir le périmètre du projet. </a:t>
            </a:r>
            <a:endParaRPr lang="fr-FR" sz="2000" dirty="0">
              <a:ea typeface="Calibri"/>
              <a:cs typeface="Calibri"/>
            </a:endParaRPr>
          </a:p>
          <a:p>
            <a:pPr marL="342900" indent="-342900">
              <a:buFont typeface="Arial"/>
              <a:buChar char="•"/>
            </a:pPr>
            <a:r>
              <a:rPr lang="fr-FR" sz="2000" dirty="0">
                <a:latin typeface="Calibri"/>
                <a:ea typeface="Calibri"/>
                <a:cs typeface="Calibri"/>
              </a:rPr>
              <a:t>établir un état de l’art. </a:t>
            </a:r>
            <a:endParaRPr lang="fr-FR" sz="2000" dirty="0">
              <a:ea typeface="Calibri"/>
              <a:cs typeface="Calibri"/>
            </a:endParaRPr>
          </a:p>
          <a:p>
            <a:pPr marL="342900" indent="-342900">
              <a:buFont typeface="Arial"/>
              <a:buChar char="•"/>
            </a:pPr>
            <a:r>
              <a:rPr lang="fr-FR" sz="2000" dirty="0">
                <a:latin typeface="Calibri"/>
                <a:ea typeface="Calibri"/>
                <a:cs typeface="Calibri"/>
              </a:rPr>
              <a:t>organiser le projet (ressource, budget, humain, machine, ...).</a:t>
            </a:r>
            <a:endParaRPr lang="fr-FR" sz="2000" dirty="0">
              <a:ea typeface="Calibri"/>
              <a:cs typeface="Calibri"/>
            </a:endParaRPr>
          </a:p>
        </p:txBody>
      </p:sp>
      <p:sp>
        <p:nvSpPr>
          <p:cNvPr id="3" name="Freeform 119">
            <a:extLst>
              <a:ext uri="{FF2B5EF4-FFF2-40B4-BE49-F238E27FC236}">
                <a16:creationId xmlns:a16="http://schemas.microsoft.com/office/drawing/2014/main" id="{619F5B6A-C1FE-7D9F-42A5-D9BF09A39373}"/>
              </a:ext>
            </a:extLst>
          </p:cNvPr>
          <p:cNvSpPr/>
          <p:nvPr/>
        </p:nvSpPr>
        <p:spPr>
          <a:xfrm>
            <a:off x="2401569" y="6674975"/>
            <a:ext cx="15450492" cy="1603820"/>
          </a:xfrm>
          <a:custGeom>
            <a:avLst/>
            <a:gdLst/>
            <a:ahLst/>
            <a:cxnLst/>
            <a:rect l="l" t="t" r="r" b="b"/>
            <a:pathLst>
              <a:path w="4736979" h="214229">
                <a:moveTo>
                  <a:pt x="0" y="0"/>
                </a:moveTo>
                <a:lnTo>
                  <a:pt x="4736979" y="0"/>
                </a:lnTo>
                <a:lnTo>
                  <a:pt x="4736979" y="214229"/>
                </a:lnTo>
                <a:lnTo>
                  <a:pt x="0" y="214229"/>
                </a:lnTo>
                <a:close/>
              </a:path>
            </a:pathLst>
          </a:custGeom>
          <a:solidFill>
            <a:schemeClr val="bg1"/>
          </a:solidFill>
          <a:ln w="38100" cap="sq">
            <a:solidFill>
              <a:schemeClr val="bg1">
                <a:lumMod val="65000"/>
              </a:schemeClr>
            </a:solidFill>
            <a:prstDash val="solid"/>
            <a:miter/>
          </a:ln>
        </p:spPr>
        <p:txBody>
          <a:bodyPr lIns="91440" tIns="45720" rIns="91440" bIns="45720" anchor="ctr"/>
          <a:lstStyle/>
          <a:p>
            <a:pPr marL="342900" indent="-342900">
              <a:buFont typeface="Arial"/>
              <a:buChar char="•"/>
            </a:pPr>
            <a:r>
              <a:rPr lang="fr-FR" sz="2000" dirty="0">
                <a:latin typeface="Calibri"/>
                <a:ea typeface="Calibri"/>
                <a:cs typeface="Calibri"/>
              </a:rPr>
              <a:t>planifier le projet</a:t>
            </a:r>
            <a:endParaRPr lang="fr-FR" dirty="0"/>
          </a:p>
          <a:p>
            <a:pPr marL="342900" indent="-342900">
              <a:buFont typeface="Arial"/>
              <a:buChar char="•"/>
            </a:pPr>
            <a:r>
              <a:rPr lang="fr-FR" sz="2000" dirty="0">
                <a:latin typeface="Calibri"/>
                <a:ea typeface="Calibri"/>
                <a:cs typeface="Calibri"/>
              </a:rPr>
              <a:t>utiliser les méthodes de résolution de problème (PDCA, etc.)  et de gestion des risques (AMDEC)</a:t>
            </a:r>
          </a:p>
          <a:p>
            <a:pPr marL="342900" indent="-342900">
              <a:buFont typeface="Arial"/>
              <a:buChar char="•"/>
            </a:pPr>
            <a:r>
              <a:rPr lang="fr-FR" sz="2000" dirty="0">
                <a:latin typeface="Calibri"/>
                <a:ea typeface="Calibri"/>
                <a:cs typeface="Calibri"/>
              </a:rPr>
              <a:t>collaborer dans une équipe projet (RACI, jusqu’au management, etc.) / Interagir avec les parties prenantes</a:t>
            </a:r>
          </a:p>
          <a:p>
            <a:pPr marL="342900" indent="-342900">
              <a:buFont typeface="Arial"/>
              <a:buChar char="•"/>
            </a:pPr>
            <a:r>
              <a:rPr lang="fr-FR" sz="2000" dirty="0">
                <a:latin typeface="Calibri"/>
                <a:ea typeface="Calibri"/>
                <a:cs typeface="Calibri"/>
              </a:rPr>
              <a:t>Piloter l’avancement du projet (en s’appuyant sur le tableau de bord et les indicateurs)</a:t>
            </a:r>
          </a:p>
          <a:p>
            <a:endParaRPr lang="fr-FR" sz="2000" dirty="0">
              <a:latin typeface="Calibri" panose="020F0502020204030204" pitchFamily="34" charset="0"/>
              <a:ea typeface="Calibri"/>
              <a:cs typeface="Calibri" panose="020F0502020204030204" pitchFamily="34" charset="0"/>
            </a:endParaRPr>
          </a:p>
        </p:txBody>
      </p:sp>
      <p:sp>
        <p:nvSpPr>
          <p:cNvPr id="4" name="Freeform 119">
            <a:extLst>
              <a:ext uri="{FF2B5EF4-FFF2-40B4-BE49-F238E27FC236}">
                <a16:creationId xmlns:a16="http://schemas.microsoft.com/office/drawing/2014/main" id="{DA479696-6BE0-9C11-86B9-DF1E016DBD7B}"/>
              </a:ext>
            </a:extLst>
          </p:cNvPr>
          <p:cNvSpPr/>
          <p:nvPr/>
        </p:nvSpPr>
        <p:spPr>
          <a:xfrm>
            <a:off x="2401569" y="8417306"/>
            <a:ext cx="15450492" cy="1603820"/>
          </a:xfrm>
          <a:custGeom>
            <a:avLst/>
            <a:gdLst/>
            <a:ahLst/>
            <a:cxnLst/>
            <a:rect l="l" t="t" r="r" b="b"/>
            <a:pathLst>
              <a:path w="4736979" h="214229">
                <a:moveTo>
                  <a:pt x="0" y="0"/>
                </a:moveTo>
                <a:lnTo>
                  <a:pt x="4736979" y="0"/>
                </a:lnTo>
                <a:lnTo>
                  <a:pt x="4736979" y="214229"/>
                </a:lnTo>
                <a:lnTo>
                  <a:pt x="0" y="214229"/>
                </a:lnTo>
                <a:close/>
              </a:path>
            </a:pathLst>
          </a:custGeom>
          <a:solidFill>
            <a:schemeClr val="bg1"/>
          </a:solidFill>
          <a:ln w="38100" cap="sq">
            <a:solidFill>
              <a:schemeClr val="bg1">
                <a:lumMod val="85000"/>
              </a:schemeClr>
            </a:solidFill>
            <a:prstDash val="solid"/>
            <a:miter/>
          </a:ln>
        </p:spPr>
        <p:txBody>
          <a:bodyPr lIns="91440" tIns="45720" rIns="91440" bIns="45720" anchor="ctr"/>
          <a:lstStyle/>
          <a:p>
            <a:pPr marL="342900" indent="-342900">
              <a:buFont typeface="Arial"/>
              <a:buChar char="•"/>
            </a:pPr>
            <a:r>
              <a:rPr lang="fr-FR" sz="2000" dirty="0">
                <a:latin typeface="Calibri"/>
                <a:ea typeface="Calibri"/>
                <a:cs typeface="Calibri"/>
              </a:rPr>
              <a:t>évaluer les résultats (RETEX)</a:t>
            </a:r>
            <a:endParaRPr lang="fr-FR" dirty="0"/>
          </a:p>
          <a:p>
            <a:pPr marL="342900" indent="-342900">
              <a:buFont typeface="Arial"/>
              <a:buChar char="•"/>
            </a:pPr>
            <a:r>
              <a:rPr lang="fr-FR" sz="2000" dirty="0">
                <a:latin typeface="Calibri"/>
                <a:ea typeface="Calibri"/>
                <a:cs typeface="Calibri"/>
              </a:rPr>
              <a:t>rendre compte de l’avancement du projet</a:t>
            </a:r>
          </a:p>
          <a:p>
            <a:pPr marL="342900" indent="-342900">
              <a:buFont typeface="Arial"/>
              <a:buChar char="•"/>
            </a:pPr>
            <a:r>
              <a:rPr lang="fr-FR" sz="2000" dirty="0">
                <a:latin typeface="Calibri"/>
                <a:ea typeface="Calibri"/>
                <a:cs typeface="Calibri"/>
              </a:rPr>
              <a:t>utiliser des méthodes de créativité dans un contexte de projet industriel</a:t>
            </a:r>
          </a:p>
          <a:p>
            <a:pPr marL="342900" indent="-342900">
              <a:buFont typeface="Arial"/>
              <a:buChar char="•"/>
            </a:pPr>
            <a:r>
              <a:rPr lang="fr-FR" sz="2000" dirty="0">
                <a:latin typeface="Calibri"/>
                <a:ea typeface="Calibri"/>
                <a:cs typeface="Calibri"/>
              </a:rPr>
              <a:t>identifier la contribution du projet à une problématique R&amp;D</a:t>
            </a:r>
          </a:p>
          <a:p>
            <a:endParaRPr lang="fr-FR" sz="2000" dirty="0">
              <a:latin typeface="Calibri" panose="020F0502020204030204" pitchFamily="34" charset="0"/>
              <a:ea typeface="Calibri"/>
              <a:cs typeface="Calibri" panose="020F0502020204030204" pitchFamily="34" charset="0"/>
            </a:endParaRPr>
          </a:p>
        </p:txBody>
      </p:sp>
      <p:sp>
        <p:nvSpPr>
          <p:cNvPr id="5" name="Freeform 119">
            <a:extLst>
              <a:ext uri="{FF2B5EF4-FFF2-40B4-BE49-F238E27FC236}">
                <a16:creationId xmlns:a16="http://schemas.microsoft.com/office/drawing/2014/main" id="{66F9030C-4F9B-7F32-B5E5-A3FD4B06FB2A}"/>
              </a:ext>
            </a:extLst>
          </p:cNvPr>
          <p:cNvSpPr/>
          <p:nvPr/>
        </p:nvSpPr>
        <p:spPr>
          <a:xfrm rot="16200000">
            <a:off x="-1859995" y="7172222"/>
            <a:ext cx="5089898" cy="607909"/>
          </a:xfrm>
          <a:custGeom>
            <a:avLst/>
            <a:gdLst/>
            <a:ahLst/>
            <a:cxnLst/>
            <a:rect l="l" t="t" r="r" b="b"/>
            <a:pathLst>
              <a:path w="4736979" h="214229">
                <a:moveTo>
                  <a:pt x="0" y="0"/>
                </a:moveTo>
                <a:lnTo>
                  <a:pt x="4736979" y="0"/>
                </a:lnTo>
                <a:lnTo>
                  <a:pt x="4736979" y="214229"/>
                </a:lnTo>
                <a:lnTo>
                  <a:pt x="0" y="214229"/>
                </a:lnTo>
                <a:close/>
              </a:path>
            </a:pathLst>
          </a:custGeom>
          <a:solidFill>
            <a:schemeClr val="bg1"/>
          </a:solidFill>
          <a:ln w="47625" cap="sq">
            <a:solidFill>
              <a:schemeClr val="tx1"/>
            </a:solidFill>
            <a:prstDash val="solid"/>
            <a:miter/>
          </a:ln>
        </p:spPr>
        <p:txBody>
          <a:bodyPr anchor="ctr"/>
          <a:lstStyle/>
          <a:p>
            <a:pPr algn="ctr"/>
            <a:r>
              <a:rPr lang="fr-FR" sz="2400" b="1">
                <a:latin typeface="Calibri" panose="020F0502020204030204" pitchFamily="34" charset="0"/>
                <a:cs typeface="Calibri" panose="020F0502020204030204" pitchFamily="34" charset="0"/>
              </a:rPr>
              <a:t>APPRENTISSAGES CRITIQUES</a:t>
            </a:r>
          </a:p>
        </p:txBody>
      </p:sp>
      <p:sp>
        <p:nvSpPr>
          <p:cNvPr id="9" name="Freeform 119">
            <a:extLst>
              <a:ext uri="{FF2B5EF4-FFF2-40B4-BE49-F238E27FC236}">
                <a16:creationId xmlns:a16="http://schemas.microsoft.com/office/drawing/2014/main" id="{B5135A4A-89D9-C790-2008-6DFCC9F5FA12}"/>
              </a:ext>
            </a:extLst>
          </p:cNvPr>
          <p:cNvSpPr/>
          <p:nvPr/>
        </p:nvSpPr>
        <p:spPr>
          <a:xfrm>
            <a:off x="1107010" y="4932645"/>
            <a:ext cx="1294559" cy="1603820"/>
          </a:xfrm>
          <a:custGeom>
            <a:avLst/>
            <a:gdLst/>
            <a:ahLst/>
            <a:cxnLst/>
            <a:rect l="l" t="t" r="r" b="b"/>
            <a:pathLst>
              <a:path w="4736979" h="214229">
                <a:moveTo>
                  <a:pt x="0" y="0"/>
                </a:moveTo>
                <a:lnTo>
                  <a:pt x="4736979" y="0"/>
                </a:lnTo>
                <a:lnTo>
                  <a:pt x="4736979" y="214229"/>
                </a:lnTo>
                <a:lnTo>
                  <a:pt x="0" y="214229"/>
                </a:lnTo>
                <a:close/>
              </a:path>
            </a:pathLst>
          </a:custGeom>
          <a:solidFill>
            <a:schemeClr val="tx1">
              <a:lumMod val="50000"/>
              <a:lumOff val="50000"/>
            </a:schemeClr>
          </a:solidFill>
          <a:ln w="38100" cap="sq">
            <a:solidFill>
              <a:schemeClr val="tx1">
                <a:lumMod val="50000"/>
                <a:lumOff val="50000"/>
              </a:schemeClr>
            </a:solidFill>
            <a:prstDash val="solid"/>
            <a:miter/>
          </a:ln>
        </p:spPr>
        <p:txBody>
          <a:bodyPr anchor="ctr"/>
          <a:lstStyle/>
          <a:p>
            <a:pPr algn="ctr"/>
            <a:r>
              <a:rPr lang="fr-FR" sz="3600">
                <a:latin typeface="Calibri" panose="020F0502020204030204" pitchFamily="34" charset="0"/>
                <a:cs typeface="Calibri" panose="020F0502020204030204" pitchFamily="34" charset="0"/>
              </a:rPr>
              <a:t>3A</a:t>
            </a:r>
          </a:p>
        </p:txBody>
      </p:sp>
      <p:sp>
        <p:nvSpPr>
          <p:cNvPr id="10" name="Freeform 119">
            <a:extLst>
              <a:ext uri="{FF2B5EF4-FFF2-40B4-BE49-F238E27FC236}">
                <a16:creationId xmlns:a16="http://schemas.microsoft.com/office/drawing/2014/main" id="{BAC9B68A-D94B-42AC-FB53-0AC4AF71543B}"/>
              </a:ext>
            </a:extLst>
          </p:cNvPr>
          <p:cNvSpPr/>
          <p:nvPr/>
        </p:nvSpPr>
        <p:spPr>
          <a:xfrm>
            <a:off x="1107010" y="6674975"/>
            <a:ext cx="1294559" cy="1603820"/>
          </a:xfrm>
          <a:custGeom>
            <a:avLst/>
            <a:gdLst/>
            <a:ahLst/>
            <a:cxnLst/>
            <a:rect l="l" t="t" r="r" b="b"/>
            <a:pathLst>
              <a:path w="4736979" h="214229">
                <a:moveTo>
                  <a:pt x="0" y="0"/>
                </a:moveTo>
                <a:lnTo>
                  <a:pt x="4736979" y="0"/>
                </a:lnTo>
                <a:lnTo>
                  <a:pt x="4736979" y="214229"/>
                </a:lnTo>
                <a:lnTo>
                  <a:pt x="0" y="214229"/>
                </a:lnTo>
                <a:close/>
              </a:path>
            </a:pathLst>
          </a:custGeom>
          <a:solidFill>
            <a:schemeClr val="bg1">
              <a:lumMod val="65000"/>
            </a:schemeClr>
          </a:solidFill>
          <a:ln w="38100" cap="sq">
            <a:solidFill>
              <a:schemeClr val="bg1">
                <a:lumMod val="65000"/>
              </a:schemeClr>
            </a:solidFill>
            <a:prstDash val="solid"/>
            <a:miter/>
          </a:ln>
        </p:spPr>
        <p:txBody>
          <a:bodyPr anchor="ctr"/>
          <a:lstStyle/>
          <a:p>
            <a:pPr algn="ctr"/>
            <a:r>
              <a:rPr lang="fr-FR" sz="3600">
                <a:latin typeface="Calibri" panose="020F0502020204030204" pitchFamily="34" charset="0"/>
                <a:cs typeface="Calibri" panose="020F0502020204030204" pitchFamily="34" charset="0"/>
              </a:rPr>
              <a:t>4A</a:t>
            </a:r>
          </a:p>
        </p:txBody>
      </p:sp>
      <p:sp>
        <p:nvSpPr>
          <p:cNvPr id="14" name="Freeform 119">
            <a:extLst>
              <a:ext uri="{FF2B5EF4-FFF2-40B4-BE49-F238E27FC236}">
                <a16:creationId xmlns:a16="http://schemas.microsoft.com/office/drawing/2014/main" id="{5C2E7BC2-1D30-75AB-0361-F995D22C6A85}"/>
              </a:ext>
            </a:extLst>
          </p:cNvPr>
          <p:cNvSpPr/>
          <p:nvPr/>
        </p:nvSpPr>
        <p:spPr>
          <a:xfrm>
            <a:off x="1107010" y="8417306"/>
            <a:ext cx="1294559" cy="1603820"/>
          </a:xfrm>
          <a:custGeom>
            <a:avLst/>
            <a:gdLst/>
            <a:ahLst/>
            <a:cxnLst/>
            <a:rect l="l" t="t" r="r" b="b"/>
            <a:pathLst>
              <a:path w="4736979" h="214229">
                <a:moveTo>
                  <a:pt x="0" y="0"/>
                </a:moveTo>
                <a:lnTo>
                  <a:pt x="4736979" y="0"/>
                </a:lnTo>
                <a:lnTo>
                  <a:pt x="4736979" y="214229"/>
                </a:lnTo>
                <a:lnTo>
                  <a:pt x="0" y="214229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  <a:ln w="38100" cap="sq">
            <a:solidFill>
              <a:schemeClr val="bg1">
                <a:lumMod val="85000"/>
              </a:schemeClr>
            </a:solidFill>
            <a:prstDash val="solid"/>
            <a:miter/>
          </a:ln>
        </p:spPr>
        <p:txBody>
          <a:bodyPr anchor="ctr"/>
          <a:lstStyle/>
          <a:p>
            <a:pPr algn="ctr"/>
            <a:r>
              <a:rPr lang="fr-FR" sz="3600">
                <a:latin typeface="Calibri" panose="020F0502020204030204" pitchFamily="34" charset="0"/>
                <a:cs typeface="Calibri" panose="020F0502020204030204" pitchFamily="34" charset="0"/>
              </a:rPr>
              <a:t>5A</a:t>
            </a:r>
          </a:p>
        </p:txBody>
      </p:sp>
      <p:sp>
        <p:nvSpPr>
          <p:cNvPr id="2" name="Freeform 119">
            <a:extLst>
              <a:ext uri="{FF2B5EF4-FFF2-40B4-BE49-F238E27FC236}">
                <a16:creationId xmlns:a16="http://schemas.microsoft.com/office/drawing/2014/main" id="{7EB19D80-3C42-9F28-CDB7-69220BD8D669}"/>
              </a:ext>
            </a:extLst>
          </p:cNvPr>
          <p:cNvSpPr/>
          <p:nvPr/>
        </p:nvSpPr>
        <p:spPr>
          <a:xfrm>
            <a:off x="381000" y="346805"/>
            <a:ext cx="5024283" cy="2792949"/>
          </a:xfrm>
          <a:custGeom>
            <a:avLst/>
            <a:gdLst/>
            <a:ahLst/>
            <a:cxnLst/>
            <a:rect l="l" t="t" r="r" b="b"/>
            <a:pathLst>
              <a:path w="4736979" h="214229">
                <a:moveTo>
                  <a:pt x="0" y="0"/>
                </a:moveTo>
                <a:lnTo>
                  <a:pt x="4736979" y="0"/>
                </a:lnTo>
                <a:lnTo>
                  <a:pt x="4736979" y="214229"/>
                </a:lnTo>
                <a:lnTo>
                  <a:pt x="0" y="214229"/>
                </a:lnTo>
                <a:close/>
              </a:path>
            </a:pathLst>
          </a:custGeom>
          <a:solidFill>
            <a:srgbClr val="F49831"/>
          </a:solidFill>
          <a:ln w="47625" cap="sq">
            <a:noFill/>
            <a:prstDash val="solid"/>
            <a:miter/>
          </a:ln>
        </p:spPr>
        <p:txBody>
          <a:bodyPr lIns="91440" tIns="45720" rIns="91440" bIns="45720" anchor="ctr"/>
          <a:lstStyle/>
          <a:p>
            <a:pPr algn="ctr"/>
            <a:r>
              <a:rPr lang="fr-FR" sz="3600" b="1" dirty="0">
                <a:solidFill>
                  <a:schemeClr val="bg1"/>
                </a:solidFill>
                <a:latin typeface="Calibri"/>
                <a:ea typeface="Calibri"/>
                <a:cs typeface="Calibri"/>
              </a:rPr>
              <a:t>Gérer un projet dans le domaine industriel </a:t>
            </a:r>
          </a:p>
          <a:p>
            <a:pPr algn="ctr">
              <a:lnSpc>
                <a:spcPct val="150000"/>
              </a:lnSpc>
            </a:pPr>
            <a:r>
              <a:rPr lang="fr-FR" sz="3600" dirty="0">
                <a:solidFill>
                  <a:schemeClr val="bg1"/>
                </a:solidFill>
                <a:latin typeface="Calibri"/>
                <a:ea typeface="Calibri"/>
                <a:cs typeface="Calibri"/>
              </a:rPr>
              <a:t>RNCP</a:t>
            </a:r>
          </a:p>
        </p:txBody>
      </p:sp>
    </p:spTree>
    <p:extLst>
      <p:ext uri="{BB962C8B-B14F-4D97-AF65-F5344CB8AC3E}">
        <p14:creationId xmlns:p14="http://schemas.microsoft.com/office/powerpoint/2010/main" val="412225072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BBA806-CF13-993C-E0E0-C099F303C0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19">
            <a:extLst>
              <a:ext uri="{FF2B5EF4-FFF2-40B4-BE49-F238E27FC236}">
                <a16:creationId xmlns:a16="http://schemas.microsoft.com/office/drawing/2014/main" id="{BF693259-F9EF-F253-6A91-6833D6C788A9}"/>
              </a:ext>
            </a:extLst>
          </p:cNvPr>
          <p:cNvSpPr/>
          <p:nvPr/>
        </p:nvSpPr>
        <p:spPr>
          <a:xfrm>
            <a:off x="380999" y="3361609"/>
            <a:ext cx="17526001" cy="1346345"/>
          </a:xfrm>
          <a:custGeom>
            <a:avLst/>
            <a:gdLst/>
            <a:ahLst/>
            <a:cxnLst/>
            <a:rect l="l" t="t" r="r" b="b"/>
            <a:pathLst>
              <a:path w="4736979" h="214229">
                <a:moveTo>
                  <a:pt x="0" y="0"/>
                </a:moveTo>
                <a:lnTo>
                  <a:pt x="4736979" y="0"/>
                </a:lnTo>
                <a:lnTo>
                  <a:pt x="4736979" y="214229"/>
                </a:lnTo>
                <a:lnTo>
                  <a:pt x="0" y="214229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  <a:ln w="47625" cap="sq">
            <a:noFill/>
            <a:prstDash val="solid"/>
            <a:miter/>
          </a:ln>
        </p:spPr>
        <p:txBody>
          <a:bodyPr lIns="91440" tIns="45720" rIns="91440" bIns="45720" anchor="ctr"/>
          <a:lstStyle/>
          <a:p>
            <a:r>
              <a:rPr lang="fr-FR" sz="2400" b="1" i="0" dirty="0">
                <a:solidFill>
                  <a:srgbClr val="000000"/>
                </a:solidFill>
                <a:effectLst/>
                <a:latin typeface="Calibri"/>
                <a:ea typeface="Calibri"/>
                <a:cs typeface="Calibri"/>
              </a:rPr>
              <a:t> Situations professionnelles :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fr-FR" sz="2400" dirty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Ingénieur production</a:t>
            </a:r>
            <a:endParaRPr lang="fr-FR" sz="2400" dirty="0">
              <a:solidFill>
                <a:srgbClr val="000000"/>
              </a:solidFill>
              <a:latin typeface="Calibri" panose="020F0502020204030204" pitchFamily="34" charset="0"/>
              <a:ea typeface="Calibri"/>
              <a:cs typeface="Calibri" panose="020F0502020204030204" pitchFamily="34" charset="0"/>
            </a:endParaRP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fr-FR" sz="2400" dirty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Ingénieur qualité</a:t>
            </a:r>
            <a:endParaRPr lang="fr-FR" sz="2400" i="0" dirty="0">
              <a:solidFill>
                <a:srgbClr val="000000"/>
              </a:solidFill>
              <a:effectLst/>
              <a:latin typeface="Calibri" panose="020F0502020204030204" pitchFamily="34" charset="0"/>
              <a:ea typeface="Calibri"/>
              <a:cs typeface="Calibri" panose="020F0502020204030204" pitchFamily="34" charset="0"/>
            </a:endParaRPr>
          </a:p>
        </p:txBody>
      </p:sp>
      <p:sp>
        <p:nvSpPr>
          <p:cNvPr id="6" name="Freeform 119">
            <a:extLst>
              <a:ext uri="{FF2B5EF4-FFF2-40B4-BE49-F238E27FC236}">
                <a16:creationId xmlns:a16="http://schemas.microsoft.com/office/drawing/2014/main" id="{ED582853-8316-3AA7-B446-9C890792606B}"/>
              </a:ext>
            </a:extLst>
          </p:cNvPr>
          <p:cNvSpPr/>
          <p:nvPr/>
        </p:nvSpPr>
        <p:spPr>
          <a:xfrm>
            <a:off x="2401569" y="4932645"/>
            <a:ext cx="15450492" cy="1603820"/>
          </a:xfrm>
          <a:custGeom>
            <a:avLst/>
            <a:gdLst/>
            <a:ahLst/>
            <a:cxnLst/>
            <a:rect l="l" t="t" r="r" b="b"/>
            <a:pathLst>
              <a:path w="4736979" h="214229">
                <a:moveTo>
                  <a:pt x="0" y="0"/>
                </a:moveTo>
                <a:lnTo>
                  <a:pt x="4736979" y="0"/>
                </a:lnTo>
                <a:lnTo>
                  <a:pt x="4736979" y="214229"/>
                </a:lnTo>
                <a:lnTo>
                  <a:pt x="0" y="214229"/>
                </a:lnTo>
                <a:close/>
              </a:path>
            </a:pathLst>
          </a:custGeom>
          <a:solidFill>
            <a:schemeClr val="bg1"/>
          </a:solidFill>
          <a:ln w="38100" cap="sq">
            <a:solidFill>
              <a:schemeClr val="tx1">
                <a:lumMod val="50000"/>
                <a:lumOff val="50000"/>
              </a:schemeClr>
            </a:solidFill>
            <a:prstDash val="solid"/>
            <a:miter/>
          </a:ln>
        </p:spPr>
        <p:txBody>
          <a:bodyPr lIns="91440" tIns="45720" rIns="91440" bIns="45720" anchor="ctr"/>
          <a:lstStyle/>
          <a:p>
            <a:pPr marL="342900" indent="-342900">
              <a:buFont typeface="Arial"/>
              <a:buChar char="•"/>
            </a:pPr>
            <a:r>
              <a:rPr lang="fr-FR" sz="2000" dirty="0">
                <a:latin typeface="Calibri"/>
                <a:ea typeface="Calibri"/>
                <a:cs typeface="Calibri"/>
              </a:rPr>
              <a:t>utiliser les outils qualité de résolution de problème ("outils qualité").</a:t>
            </a:r>
            <a:endParaRPr lang="fr-FR" sz="2000" dirty="0">
              <a:ea typeface="Calibri"/>
              <a:cs typeface="Calibri"/>
            </a:endParaRPr>
          </a:p>
          <a:p>
            <a:pPr marL="342900" indent="-342900">
              <a:buFont typeface="Arial"/>
              <a:buChar char="•"/>
            </a:pPr>
            <a:r>
              <a:rPr lang="fr-FR" sz="2000" dirty="0">
                <a:latin typeface="Calibri"/>
                <a:ea typeface="Calibri"/>
                <a:cs typeface="Calibri"/>
              </a:rPr>
              <a:t>mesurer la performance de la production.</a:t>
            </a:r>
            <a:endParaRPr lang="fr-FR" sz="2000" dirty="0">
              <a:ea typeface="Calibri"/>
              <a:cs typeface="Calibri"/>
            </a:endParaRPr>
          </a:p>
        </p:txBody>
      </p:sp>
      <p:sp>
        <p:nvSpPr>
          <p:cNvPr id="7" name="Freeform 119">
            <a:extLst>
              <a:ext uri="{FF2B5EF4-FFF2-40B4-BE49-F238E27FC236}">
                <a16:creationId xmlns:a16="http://schemas.microsoft.com/office/drawing/2014/main" id="{2C148358-2148-D2E7-F73F-4EAB29F77648}"/>
              </a:ext>
            </a:extLst>
          </p:cNvPr>
          <p:cNvSpPr/>
          <p:nvPr/>
        </p:nvSpPr>
        <p:spPr>
          <a:xfrm>
            <a:off x="2401569" y="6674975"/>
            <a:ext cx="15450492" cy="1603820"/>
          </a:xfrm>
          <a:custGeom>
            <a:avLst/>
            <a:gdLst/>
            <a:ahLst/>
            <a:cxnLst/>
            <a:rect l="l" t="t" r="r" b="b"/>
            <a:pathLst>
              <a:path w="4736979" h="214229">
                <a:moveTo>
                  <a:pt x="0" y="0"/>
                </a:moveTo>
                <a:lnTo>
                  <a:pt x="4736979" y="0"/>
                </a:lnTo>
                <a:lnTo>
                  <a:pt x="4736979" y="214229"/>
                </a:lnTo>
                <a:lnTo>
                  <a:pt x="0" y="214229"/>
                </a:lnTo>
                <a:close/>
              </a:path>
            </a:pathLst>
          </a:custGeom>
          <a:solidFill>
            <a:schemeClr val="bg1"/>
          </a:solidFill>
          <a:ln w="38100" cap="sq">
            <a:solidFill>
              <a:schemeClr val="bg1">
                <a:lumMod val="65000"/>
              </a:schemeClr>
            </a:solidFill>
            <a:prstDash val="solid"/>
            <a:miter/>
          </a:ln>
        </p:spPr>
        <p:txBody>
          <a:bodyPr lIns="91440" tIns="45720" rIns="91440" bIns="45720" anchor="ctr"/>
          <a:lstStyle/>
          <a:p>
            <a:pPr marL="342900" indent="-342900">
              <a:buFont typeface="Arial"/>
              <a:buChar char="•"/>
            </a:pPr>
            <a:r>
              <a:rPr lang="fr-FR" sz="2000" dirty="0">
                <a:latin typeface="Calibri"/>
                <a:ea typeface="Calibri"/>
                <a:cs typeface="Calibri"/>
              </a:rPr>
              <a:t>modéliser les flux.</a:t>
            </a:r>
            <a:endParaRPr lang="fr-FR" sz="2000" dirty="0">
              <a:ea typeface="Calibri"/>
              <a:cs typeface="Calibri"/>
            </a:endParaRPr>
          </a:p>
          <a:p>
            <a:pPr marL="342900" indent="-342900">
              <a:buFont typeface="Arial"/>
              <a:buChar char="•"/>
            </a:pPr>
            <a:r>
              <a:rPr lang="fr-FR" sz="2000" dirty="0">
                <a:latin typeface="Calibri"/>
                <a:ea typeface="Calibri"/>
                <a:cs typeface="Calibri"/>
              </a:rPr>
              <a:t>identifier les paramètres influents du procédé.</a:t>
            </a:r>
          </a:p>
          <a:p>
            <a:pPr marL="342900" indent="-342900">
              <a:buFont typeface="Arial"/>
              <a:buChar char="•"/>
            </a:pPr>
            <a:r>
              <a:rPr lang="fr-FR" sz="2000" dirty="0">
                <a:latin typeface="Calibri"/>
                <a:ea typeface="Calibri"/>
                <a:cs typeface="Calibri"/>
              </a:rPr>
              <a:t>utiliser les outils de résolution de problème pour le pilotage de la production</a:t>
            </a:r>
          </a:p>
        </p:txBody>
      </p:sp>
      <p:sp>
        <p:nvSpPr>
          <p:cNvPr id="8" name="Freeform 119">
            <a:extLst>
              <a:ext uri="{FF2B5EF4-FFF2-40B4-BE49-F238E27FC236}">
                <a16:creationId xmlns:a16="http://schemas.microsoft.com/office/drawing/2014/main" id="{F37F1302-0150-32C4-19D2-575D7E56DC95}"/>
              </a:ext>
            </a:extLst>
          </p:cNvPr>
          <p:cNvSpPr/>
          <p:nvPr/>
        </p:nvSpPr>
        <p:spPr>
          <a:xfrm>
            <a:off x="2401569" y="8417306"/>
            <a:ext cx="15450492" cy="1603820"/>
          </a:xfrm>
          <a:custGeom>
            <a:avLst/>
            <a:gdLst/>
            <a:ahLst/>
            <a:cxnLst/>
            <a:rect l="l" t="t" r="r" b="b"/>
            <a:pathLst>
              <a:path w="4736979" h="214229">
                <a:moveTo>
                  <a:pt x="0" y="0"/>
                </a:moveTo>
                <a:lnTo>
                  <a:pt x="4736979" y="0"/>
                </a:lnTo>
                <a:lnTo>
                  <a:pt x="4736979" y="214229"/>
                </a:lnTo>
                <a:lnTo>
                  <a:pt x="0" y="214229"/>
                </a:lnTo>
                <a:close/>
              </a:path>
            </a:pathLst>
          </a:custGeom>
          <a:solidFill>
            <a:schemeClr val="bg1"/>
          </a:solidFill>
          <a:ln w="38100" cap="sq">
            <a:solidFill>
              <a:schemeClr val="bg1">
                <a:lumMod val="85000"/>
              </a:schemeClr>
            </a:solidFill>
            <a:prstDash val="solid"/>
            <a:miter/>
          </a:ln>
        </p:spPr>
        <p:txBody>
          <a:bodyPr lIns="91440" tIns="45720" rIns="91440" bIns="45720" anchor="ctr"/>
          <a:lstStyle/>
          <a:p>
            <a:pPr marL="285750" indent="-285750">
              <a:buFont typeface="Arial"/>
              <a:buChar char="•"/>
            </a:pPr>
            <a:r>
              <a:rPr lang="fr-FR" sz="2000" dirty="0">
                <a:latin typeface="Calibri"/>
                <a:ea typeface="Calibri"/>
                <a:cs typeface="Calibri"/>
              </a:rPr>
              <a:t>optimiser les flux (implantation des postes...).</a:t>
            </a:r>
            <a:endParaRPr lang="fr-FR" sz="2000" dirty="0">
              <a:ea typeface="Calibri"/>
              <a:cs typeface="Calibri"/>
            </a:endParaRPr>
          </a:p>
          <a:p>
            <a:pPr marL="285750" indent="-285750">
              <a:buFont typeface="Arial"/>
              <a:buChar char="•"/>
            </a:pPr>
            <a:r>
              <a:rPr lang="fr-FR" sz="2000" dirty="0">
                <a:latin typeface="Calibri"/>
                <a:ea typeface="Calibri"/>
                <a:cs typeface="Calibri"/>
              </a:rPr>
              <a:t>analyser les défaillances, les dysfonctionnements des procédés.</a:t>
            </a:r>
          </a:p>
          <a:p>
            <a:pPr marL="285750" indent="-285750">
              <a:buFont typeface="Arial"/>
              <a:buChar char="•"/>
            </a:pPr>
            <a:r>
              <a:rPr lang="fr-FR" sz="2000" dirty="0">
                <a:latin typeface="Calibri"/>
                <a:ea typeface="Calibri"/>
                <a:cs typeface="Calibri"/>
              </a:rPr>
              <a:t>utiliser les outils de résolution de problème pour le pilotage de la production </a:t>
            </a:r>
          </a:p>
          <a:p>
            <a:pPr marL="285750" indent="-285750">
              <a:buFont typeface="Arial"/>
              <a:buChar char="•"/>
            </a:pPr>
            <a:r>
              <a:rPr lang="fr-FR" sz="2000" dirty="0">
                <a:latin typeface="Calibri"/>
                <a:ea typeface="Calibri"/>
                <a:cs typeface="Calibri"/>
              </a:rPr>
              <a:t>intégrer les évolutions technologiques (Industrie du futur, IA, …)</a:t>
            </a:r>
            <a:endParaRPr lang="fr-FR" sz="2000" dirty="0">
              <a:ea typeface="Calibri"/>
              <a:cs typeface="Calibri"/>
            </a:endParaRPr>
          </a:p>
          <a:p>
            <a:endParaRPr lang="fr-FR" sz="2000" dirty="0">
              <a:latin typeface="Calibri" panose="020F0502020204030204" pitchFamily="34" charset="0"/>
              <a:ea typeface="Calibri"/>
              <a:cs typeface="Calibri" panose="020F0502020204030204" pitchFamily="34" charset="0"/>
            </a:endParaRPr>
          </a:p>
        </p:txBody>
      </p:sp>
      <p:sp>
        <p:nvSpPr>
          <p:cNvPr id="11" name="Freeform 119">
            <a:extLst>
              <a:ext uri="{FF2B5EF4-FFF2-40B4-BE49-F238E27FC236}">
                <a16:creationId xmlns:a16="http://schemas.microsoft.com/office/drawing/2014/main" id="{B4653456-05E2-1EF7-E5AD-9F894A3A76D2}"/>
              </a:ext>
            </a:extLst>
          </p:cNvPr>
          <p:cNvSpPr/>
          <p:nvPr/>
        </p:nvSpPr>
        <p:spPr>
          <a:xfrm rot="16200000">
            <a:off x="-1859995" y="7172222"/>
            <a:ext cx="5089898" cy="607909"/>
          </a:xfrm>
          <a:custGeom>
            <a:avLst/>
            <a:gdLst/>
            <a:ahLst/>
            <a:cxnLst/>
            <a:rect l="l" t="t" r="r" b="b"/>
            <a:pathLst>
              <a:path w="4736979" h="214229">
                <a:moveTo>
                  <a:pt x="0" y="0"/>
                </a:moveTo>
                <a:lnTo>
                  <a:pt x="4736979" y="0"/>
                </a:lnTo>
                <a:lnTo>
                  <a:pt x="4736979" y="214229"/>
                </a:lnTo>
                <a:lnTo>
                  <a:pt x="0" y="214229"/>
                </a:lnTo>
                <a:close/>
              </a:path>
            </a:pathLst>
          </a:custGeom>
          <a:solidFill>
            <a:schemeClr val="bg1"/>
          </a:solidFill>
          <a:ln w="47625" cap="sq">
            <a:solidFill>
              <a:schemeClr val="tx1"/>
            </a:solidFill>
            <a:prstDash val="solid"/>
            <a:miter/>
          </a:ln>
        </p:spPr>
        <p:txBody>
          <a:bodyPr anchor="ctr"/>
          <a:lstStyle/>
          <a:p>
            <a:pPr algn="ctr"/>
            <a:r>
              <a:rPr lang="fr-FR" sz="2400" b="1">
                <a:latin typeface="Calibri" panose="020F0502020204030204" pitchFamily="34" charset="0"/>
                <a:cs typeface="Calibri" panose="020F0502020204030204" pitchFamily="34" charset="0"/>
              </a:rPr>
              <a:t>APPRENTISSAGES CRITIQUES</a:t>
            </a:r>
          </a:p>
        </p:txBody>
      </p:sp>
      <p:sp>
        <p:nvSpPr>
          <p:cNvPr id="12" name="Freeform 119">
            <a:extLst>
              <a:ext uri="{FF2B5EF4-FFF2-40B4-BE49-F238E27FC236}">
                <a16:creationId xmlns:a16="http://schemas.microsoft.com/office/drawing/2014/main" id="{855B75E0-5347-98C9-A1F8-8DCEF31ADB57}"/>
              </a:ext>
            </a:extLst>
          </p:cNvPr>
          <p:cNvSpPr/>
          <p:nvPr/>
        </p:nvSpPr>
        <p:spPr>
          <a:xfrm>
            <a:off x="1107010" y="4932645"/>
            <a:ext cx="1294559" cy="1603820"/>
          </a:xfrm>
          <a:custGeom>
            <a:avLst/>
            <a:gdLst/>
            <a:ahLst/>
            <a:cxnLst/>
            <a:rect l="l" t="t" r="r" b="b"/>
            <a:pathLst>
              <a:path w="4736979" h="214229">
                <a:moveTo>
                  <a:pt x="0" y="0"/>
                </a:moveTo>
                <a:lnTo>
                  <a:pt x="4736979" y="0"/>
                </a:lnTo>
                <a:lnTo>
                  <a:pt x="4736979" y="214229"/>
                </a:lnTo>
                <a:lnTo>
                  <a:pt x="0" y="214229"/>
                </a:lnTo>
                <a:close/>
              </a:path>
            </a:pathLst>
          </a:custGeom>
          <a:solidFill>
            <a:schemeClr val="tx1">
              <a:lumMod val="50000"/>
              <a:lumOff val="50000"/>
            </a:schemeClr>
          </a:solidFill>
          <a:ln w="38100" cap="sq">
            <a:solidFill>
              <a:schemeClr val="tx1">
                <a:lumMod val="50000"/>
                <a:lumOff val="50000"/>
              </a:schemeClr>
            </a:solidFill>
            <a:prstDash val="solid"/>
            <a:miter/>
          </a:ln>
        </p:spPr>
        <p:txBody>
          <a:bodyPr anchor="ctr"/>
          <a:lstStyle/>
          <a:p>
            <a:pPr algn="ctr"/>
            <a:r>
              <a:rPr lang="fr-FR" sz="3600">
                <a:latin typeface="Calibri" panose="020F0502020204030204" pitchFamily="34" charset="0"/>
                <a:cs typeface="Calibri" panose="020F0502020204030204" pitchFamily="34" charset="0"/>
              </a:rPr>
              <a:t>3A</a:t>
            </a:r>
          </a:p>
        </p:txBody>
      </p:sp>
      <p:sp>
        <p:nvSpPr>
          <p:cNvPr id="13" name="Freeform 119">
            <a:extLst>
              <a:ext uri="{FF2B5EF4-FFF2-40B4-BE49-F238E27FC236}">
                <a16:creationId xmlns:a16="http://schemas.microsoft.com/office/drawing/2014/main" id="{34202A5C-18A5-947D-17E9-1ED96B40B1A8}"/>
              </a:ext>
            </a:extLst>
          </p:cNvPr>
          <p:cNvSpPr/>
          <p:nvPr/>
        </p:nvSpPr>
        <p:spPr>
          <a:xfrm>
            <a:off x="1107010" y="6674975"/>
            <a:ext cx="1294559" cy="1603820"/>
          </a:xfrm>
          <a:custGeom>
            <a:avLst/>
            <a:gdLst/>
            <a:ahLst/>
            <a:cxnLst/>
            <a:rect l="l" t="t" r="r" b="b"/>
            <a:pathLst>
              <a:path w="4736979" h="214229">
                <a:moveTo>
                  <a:pt x="0" y="0"/>
                </a:moveTo>
                <a:lnTo>
                  <a:pt x="4736979" y="0"/>
                </a:lnTo>
                <a:lnTo>
                  <a:pt x="4736979" y="214229"/>
                </a:lnTo>
                <a:lnTo>
                  <a:pt x="0" y="214229"/>
                </a:lnTo>
                <a:close/>
              </a:path>
            </a:pathLst>
          </a:custGeom>
          <a:solidFill>
            <a:schemeClr val="bg1">
              <a:lumMod val="65000"/>
            </a:schemeClr>
          </a:solidFill>
          <a:ln w="38100" cap="sq">
            <a:solidFill>
              <a:schemeClr val="bg1">
                <a:lumMod val="65000"/>
              </a:schemeClr>
            </a:solidFill>
            <a:prstDash val="solid"/>
            <a:miter/>
          </a:ln>
        </p:spPr>
        <p:txBody>
          <a:bodyPr anchor="ctr"/>
          <a:lstStyle/>
          <a:p>
            <a:pPr algn="ctr"/>
            <a:r>
              <a:rPr lang="fr-FR" sz="3600">
                <a:latin typeface="Calibri" panose="020F0502020204030204" pitchFamily="34" charset="0"/>
                <a:cs typeface="Calibri" panose="020F0502020204030204" pitchFamily="34" charset="0"/>
              </a:rPr>
              <a:t>4A</a:t>
            </a:r>
          </a:p>
        </p:txBody>
      </p:sp>
      <p:sp>
        <p:nvSpPr>
          <p:cNvPr id="15" name="Freeform 119">
            <a:extLst>
              <a:ext uri="{FF2B5EF4-FFF2-40B4-BE49-F238E27FC236}">
                <a16:creationId xmlns:a16="http://schemas.microsoft.com/office/drawing/2014/main" id="{40690583-5DC5-0BBC-568B-FEE41B2D0728}"/>
              </a:ext>
            </a:extLst>
          </p:cNvPr>
          <p:cNvSpPr/>
          <p:nvPr/>
        </p:nvSpPr>
        <p:spPr>
          <a:xfrm>
            <a:off x="1107010" y="8417306"/>
            <a:ext cx="1294559" cy="1603820"/>
          </a:xfrm>
          <a:custGeom>
            <a:avLst/>
            <a:gdLst/>
            <a:ahLst/>
            <a:cxnLst/>
            <a:rect l="l" t="t" r="r" b="b"/>
            <a:pathLst>
              <a:path w="4736979" h="214229">
                <a:moveTo>
                  <a:pt x="0" y="0"/>
                </a:moveTo>
                <a:lnTo>
                  <a:pt x="4736979" y="0"/>
                </a:lnTo>
                <a:lnTo>
                  <a:pt x="4736979" y="214229"/>
                </a:lnTo>
                <a:lnTo>
                  <a:pt x="0" y="214229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  <a:ln w="38100" cap="sq">
            <a:solidFill>
              <a:schemeClr val="bg1">
                <a:lumMod val="85000"/>
              </a:schemeClr>
            </a:solidFill>
            <a:prstDash val="solid"/>
            <a:miter/>
          </a:ln>
        </p:spPr>
        <p:txBody>
          <a:bodyPr anchor="ctr"/>
          <a:lstStyle/>
          <a:p>
            <a:pPr algn="ctr"/>
            <a:r>
              <a:rPr lang="fr-FR" sz="3600">
                <a:latin typeface="Calibri" panose="020F0502020204030204" pitchFamily="34" charset="0"/>
                <a:cs typeface="Calibri" panose="020F0502020204030204" pitchFamily="34" charset="0"/>
              </a:rPr>
              <a:t>5A</a:t>
            </a:r>
          </a:p>
        </p:txBody>
      </p:sp>
      <p:sp>
        <p:nvSpPr>
          <p:cNvPr id="3" name="Freeform 119">
            <a:extLst>
              <a:ext uri="{FF2B5EF4-FFF2-40B4-BE49-F238E27FC236}">
                <a16:creationId xmlns:a16="http://schemas.microsoft.com/office/drawing/2014/main" id="{CEF21B90-D57D-41AC-BA26-7FC5E9A0164B}"/>
              </a:ext>
            </a:extLst>
          </p:cNvPr>
          <p:cNvSpPr/>
          <p:nvPr/>
        </p:nvSpPr>
        <p:spPr>
          <a:xfrm>
            <a:off x="381000" y="346805"/>
            <a:ext cx="5024283" cy="2792949"/>
          </a:xfrm>
          <a:custGeom>
            <a:avLst/>
            <a:gdLst/>
            <a:ahLst/>
            <a:cxnLst/>
            <a:rect l="l" t="t" r="r" b="b"/>
            <a:pathLst>
              <a:path w="4736979" h="214229">
                <a:moveTo>
                  <a:pt x="0" y="0"/>
                </a:moveTo>
                <a:lnTo>
                  <a:pt x="4736979" y="0"/>
                </a:lnTo>
                <a:lnTo>
                  <a:pt x="4736979" y="214229"/>
                </a:lnTo>
                <a:lnTo>
                  <a:pt x="0" y="214229"/>
                </a:lnTo>
                <a:close/>
              </a:path>
            </a:pathLst>
          </a:custGeom>
          <a:solidFill>
            <a:srgbClr val="8C4BE2"/>
          </a:solidFill>
          <a:ln w="47625" cap="sq">
            <a:noFill/>
            <a:prstDash val="solid"/>
            <a:miter/>
          </a:ln>
        </p:spPr>
        <p:txBody>
          <a:bodyPr lIns="91440" tIns="45720" rIns="91440" bIns="45720" anchor="ctr"/>
          <a:lstStyle/>
          <a:p>
            <a:pPr algn="ctr"/>
            <a:r>
              <a:rPr lang="fr-FR" sz="3600" b="1" dirty="0">
                <a:solidFill>
                  <a:schemeClr val="bg1"/>
                </a:solidFill>
                <a:latin typeface="Calibri"/>
                <a:ea typeface="Calibri"/>
                <a:cs typeface="Calibri"/>
              </a:rPr>
              <a:t>Optimiser les procédés de fabrication</a:t>
            </a:r>
          </a:p>
          <a:p>
            <a:pPr algn="ctr">
              <a:lnSpc>
                <a:spcPct val="150000"/>
              </a:lnSpc>
            </a:pPr>
            <a:r>
              <a:rPr lang="fr-FR" sz="3600" dirty="0">
                <a:solidFill>
                  <a:schemeClr val="bg1"/>
                </a:solidFill>
                <a:latin typeface="Calibri"/>
                <a:ea typeface="Calibri"/>
                <a:cs typeface="Calibri"/>
              </a:rPr>
              <a:t>RNCP</a:t>
            </a:r>
          </a:p>
        </p:txBody>
      </p:sp>
      <p:sp>
        <p:nvSpPr>
          <p:cNvPr id="4" name="Freeform 119">
            <a:extLst>
              <a:ext uri="{FF2B5EF4-FFF2-40B4-BE49-F238E27FC236}">
                <a16:creationId xmlns:a16="http://schemas.microsoft.com/office/drawing/2014/main" id="{D6F02BD9-C926-AC9E-9D0F-7AE3797422E0}"/>
              </a:ext>
            </a:extLst>
          </p:cNvPr>
          <p:cNvSpPr/>
          <p:nvPr/>
        </p:nvSpPr>
        <p:spPr>
          <a:xfrm>
            <a:off x="5638800" y="346805"/>
            <a:ext cx="12268200" cy="2792949"/>
          </a:xfrm>
          <a:custGeom>
            <a:avLst/>
            <a:gdLst/>
            <a:ahLst/>
            <a:cxnLst/>
            <a:rect l="l" t="t" r="r" b="b"/>
            <a:pathLst>
              <a:path w="4736979" h="214229">
                <a:moveTo>
                  <a:pt x="0" y="0"/>
                </a:moveTo>
                <a:lnTo>
                  <a:pt x="4736979" y="0"/>
                </a:lnTo>
                <a:lnTo>
                  <a:pt x="4736979" y="214229"/>
                </a:lnTo>
                <a:lnTo>
                  <a:pt x="0" y="214229"/>
                </a:lnTo>
                <a:close/>
              </a:path>
            </a:pathLst>
          </a:custGeom>
          <a:solidFill>
            <a:srgbClr val="8C4BE2">
              <a:alpha val="50000"/>
            </a:srgbClr>
          </a:solidFill>
          <a:ln w="47625" cap="sq">
            <a:noFill/>
            <a:prstDash val="solid"/>
            <a:miter/>
          </a:ln>
        </p:spPr>
        <p:txBody>
          <a:bodyPr lIns="91440" tIns="45720" rIns="91440" bIns="45720" anchor="ctr"/>
          <a:lstStyle/>
          <a:p>
            <a:r>
              <a:rPr lang="fr-FR" sz="2800" b="1" i="0" dirty="0">
                <a:solidFill>
                  <a:srgbClr val="000000"/>
                </a:solidFill>
                <a:effectLst/>
                <a:latin typeface="Calibri"/>
                <a:ea typeface="Calibri"/>
                <a:cs typeface="Calibri"/>
              </a:rPr>
              <a:t> Composantes essentielles :</a:t>
            </a:r>
          </a:p>
          <a:p>
            <a:pPr lvl="1"/>
            <a:r>
              <a:rPr lang="fr-FR" sz="2000" dirty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• en choisissant les outils qualité adéquats.</a:t>
            </a:r>
          </a:p>
          <a:p>
            <a:pPr lvl="1"/>
            <a:r>
              <a:rPr lang="fr-FR" sz="2000" dirty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• en veillant à la sobriété des procédés (énergie, matière première, déchets), aux coûts de production et à la qualité des produits.</a:t>
            </a:r>
          </a:p>
          <a:p>
            <a:pPr lvl="1"/>
            <a:r>
              <a:rPr lang="fr-FR" sz="2000" dirty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• en tenant compte des évolutions technologiques.</a:t>
            </a:r>
          </a:p>
          <a:p>
            <a:pPr lvl="1"/>
            <a:r>
              <a:rPr lang="fr-FR" sz="2000" dirty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• en communicant efficacement avec les personnels de production.</a:t>
            </a:r>
          </a:p>
          <a:p>
            <a:pPr lvl="1"/>
            <a:r>
              <a:rPr lang="fr-FR" sz="2000" dirty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• en respectant les règles HSE.</a:t>
            </a:r>
          </a:p>
          <a:p>
            <a:pPr lvl="1"/>
            <a:r>
              <a:rPr lang="fr-FR" sz="2800" dirty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	</a:t>
            </a:r>
          </a:p>
        </p:txBody>
      </p:sp>
    </p:spTree>
    <p:extLst>
      <p:ext uri="{BB962C8B-B14F-4D97-AF65-F5344CB8AC3E}">
        <p14:creationId xmlns:p14="http://schemas.microsoft.com/office/powerpoint/2010/main" val="40956201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AD1729-E3BA-F219-DB1D-078514127F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19">
            <a:extLst>
              <a:ext uri="{FF2B5EF4-FFF2-40B4-BE49-F238E27FC236}">
                <a16:creationId xmlns:a16="http://schemas.microsoft.com/office/drawing/2014/main" id="{E5F2FD61-6409-EA03-2794-3D6DAACAEB60}"/>
              </a:ext>
            </a:extLst>
          </p:cNvPr>
          <p:cNvSpPr/>
          <p:nvPr/>
        </p:nvSpPr>
        <p:spPr>
          <a:xfrm>
            <a:off x="380999" y="3361609"/>
            <a:ext cx="17526001" cy="1346345"/>
          </a:xfrm>
          <a:custGeom>
            <a:avLst/>
            <a:gdLst/>
            <a:ahLst/>
            <a:cxnLst/>
            <a:rect l="l" t="t" r="r" b="b"/>
            <a:pathLst>
              <a:path w="4736979" h="214229">
                <a:moveTo>
                  <a:pt x="0" y="0"/>
                </a:moveTo>
                <a:lnTo>
                  <a:pt x="4736979" y="0"/>
                </a:lnTo>
                <a:lnTo>
                  <a:pt x="4736979" y="214229"/>
                </a:lnTo>
                <a:lnTo>
                  <a:pt x="0" y="214229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  <a:ln w="47625" cap="sq">
            <a:noFill/>
            <a:prstDash val="solid"/>
            <a:miter/>
          </a:ln>
        </p:spPr>
        <p:txBody>
          <a:bodyPr anchor="ctr"/>
          <a:lstStyle/>
          <a:p>
            <a:r>
              <a:rPr lang="fr-FR" sz="2400" b="1" i="0" dirty="0">
                <a:solidFill>
                  <a:srgbClr val="000000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Situations professionnelles :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fr-FR" sz="2000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Ingénieur Bureau d’Etude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fr-FR" sz="2000" i="0" dirty="0">
                <a:solidFill>
                  <a:srgbClr val="000000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Ingénieur R&amp;D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fr-FR" sz="2000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Ingénieur Mécatronique</a:t>
            </a:r>
          </a:p>
        </p:txBody>
      </p:sp>
      <p:sp>
        <p:nvSpPr>
          <p:cNvPr id="6" name="Freeform 119">
            <a:extLst>
              <a:ext uri="{FF2B5EF4-FFF2-40B4-BE49-F238E27FC236}">
                <a16:creationId xmlns:a16="http://schemas.microsoft.com/office/drawing/2014/main" id="{FFE3588B-8C13-D619-E556-6A0A6E2ECB63}"/>
              </a:ext>
            </a:extLst>
          </p:cNvPr>
          <p:cNvSpPr/>
          <p:nvPr/>
        </p:nvSpPr>
        <p:spPr>
          <a:xfrm>
            <a:off x="2401569" y="4932645"/>
            <a:ext cx="15450492" cy="1603820"/>
          </a:xfrm>
          <a:custGeom>
            <a:avLst/>
            <a:gdLst/>
            <a:ahLst/>
            <a:cxnLst/>
            <a:rect l="l" t="t" r="r" b="b"/>
            <a:pathLst>
              <a:path w="4736979" h="214229">
                <a:moveTo>
                  <a:pt x="0" y="0"/>
                </a:moveTo>
                <a:lnTo>
                  <a:pt x="4736979" y="0"/>
                </a:lnTo>
                <a:lnTo>
                  <a:pt x="4736979" y="214229"/>
                </a:lnTo>
                <a:lnTo>
                  <a:pt x="0" y="214229"/>
                </a:lnTo>
                <a:close/>
              </a:path>
            </a:pathLst>
          </a:custGeom>
          <a:solidFill>
            <a:schemeClr val="bg1"/>
          </a:solidFill>
          <a:ln w="38100" cap="sq">
            <a:solidFill>
              <a:schemeClr val="tx1">
                <a:lumMod val="50000"/>
                <a:lumOff val="50000"/>
              </a:schemeClr>
            </a:solidFill>
            <a:prstDash val="solid"/>
            <a:miter/>
          </a:ln>
        </p:spPr>
        <p:txBody>
          <a:bodyPr lIns="91440" tIns="45720" rIns="91440" bIns="45720" anchor="ctr"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sz="2000" dirty="0"/>
              <a:t>Développer un montage électrique ou électronique simple</a:t>
            </a:r>
            <a:endParaRPr lang="fr-FR" sz="2000" strike="sngStrike">
              <a:ea typeface="Calibri"/>
              <a:cs typeface="Calibri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sz="2000" dirty="0">
                <a:ea typeface="+mn-lt"/>
                <a:cs typeface="Calibri"/>
              </a:rPr>
              <a:t>Analyser et modéliser un système mécatronique (hydraulique, thermique, etc.)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sz="2000" dirty="0">
                <a:ea typeface="Calibri"/>
                <a:cs typeface="Calibri"/>
              </a:rPr>
              <a:t>Mettre en œuvre des capteurs et des actionneurs.</a:t>
            </a:r>
          </a:p>
          <a:p>
            <a:pPr marL="285750" indent="-285750">
              <a:buFont typeface="Arial"/>
              <a:buChar char="•"/>
            </a:pPr>
            <a:endParaRPr lang="fr-FR" sz="1600" dirty="0">
              <a:ea typeface="+mn-lt"/>
              <a:cs typeface="+mn-lt"/>
            </a:endParaRPr>
          </a:p>
        </p:txBody>
      </p:sp>
      <p:sp>
        <p:nvSpPr>
          <p:cNvPr id="7" name="Freeform 119">
            <a:extLst>
              <a:ext uri="{FF2B5EF4-FFF2-40B4-BE49-F238E27FC236}">
                <a16:creationId xmlns:a16="http://schemas.microsoft.com/office/drawing/2014/main" id="{47CEA140-556F-3EC5-7022-79096AFD1B39}"/>
              </a:ext>
            </a:extLst>
          </p:cNvPr>
          <p:cNvSpPr/>
          <p:nvPr/>
        </p:nvSpPr>
        <p:spPr>
          <a:xfrm>
            <a:off x="2401569" y="6674975"/>
            <a:ext cx="15450492" cy="1603820"/>
          </a:xfrm>
          <a:custGeom>
            <a:avLst/>
            <a:gdLst/>
            <a:ahLst/>
            <a:cxnLst/>
            <a:rect l="l" t="t" r="r" b="b"/>
            <a:pathLst>
              <a:path w="4736979" h="214229">
                <a:moveTo>
                  <a:pt x="0" y="0"/>
                </a:moveTo>
                <a:lnTo>
                  <a:pt x="4736979" y="0"/>
                </a:lnTo>
                <a:lnTo>
                  <a:pt x="4736979" y="214229"/>
                </a:lnTo>
                <a:lnTo>
                  <a:pt x="0" y="214229"/>
                </a:lnTo>
                <a:close/>
              </a:path>
            </a:pathLst>
          </a:custGeom>
          <a:solidFill>
            <a:schemeClr val="bg1"/>
          </a:solidFill>
          <a:ln w="38100" cap="sq">
            <a:solidFill>
              <a:schemeClr val="bg1">
                <a:lumMod val="65000"/>
              </a:schemeClr>
            </a:solidFill>
            <a:prstDash val="solid"/>
            <a:miter/>
          </a:ln>
        </p:spPr>
        <p:txBody>
          <a:bodyPr lIns="91440" tIns="45720" rIns="91440" bIns="45720" anchor="ctr"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sz="2000" dirty="0">
                <a:latin typeface="Calibri"/>
                <a:ea typeface="Calibri"/>
                <a:cs typeface="Calibri"/>
              </a:rPr>
              <a:t>Concevoir un système embarqué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sz="2000" dirty="0">
                <a:latin typeface="Calibri"/>
                <a:ea typeface="Calibri"/>
                <a:cs typeface="Calibri"/>
              </a:rPr>
              <a:t>Piloter </a:t>
            </a:r>
            <a:r>
              <a:rPr lang="fr-FR" sz="2000" dirty="0">
                <a:ea typeface="Calibri"/>
                <a:cs typeface="Calibri"/>
              </a:rPr>
              <a:t>un système séquentiel </a:t>
            </a:r>
            <a:r>
              <a:rPr lang="fr-FR" sz="2000" dirty="0">
                <a:latin typeface="Calibri"/>
                <a:ea typeface="Calibri"/>
                <a:cs typeface="Calibri"/>
              </a:rPr>
              <a:t>(par exemple GEMMA, GRAFCET)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sz="2000" dirty="0">
                <a:latin typeface="Calibri"/>
                <a:ea typeface="Calibri"/>
                <a:cs typeface="Calibri"/>
              </a:rPr>
              <a:t>M</a:t>
            </a:r>
            <a:r>
              <a:rPr lang="fr-FR" sz="2000" dirty="0">
                <a:ea typeface="Calibri"/>
                <a:cs typeface="Calibri"/>
              </a:rPr>
              <a:t>odéliser des systèmes dynamiques continus. </a:t>
            </a:r>
          </a:p>
          <a:p>
            <a:endParaRPr lang="fr-FR" sz="1600" dirty="0">
              <a:latin typeface="Calibri"/>
              <a:ea typeface="Calibri"/>
              <a:cs typeface="Calibri"/>
            </a:endParaRPr>
          </a:p>
        </p:txBody>
      </p:sp>
      <p:sp>
        <p:nvSpPr>
          <p:cNvPr id="8" name="Freeform 119">
            <a:extLst>
              <a:ext uri="{FF2B5EF4-FFF2-40B4-BE49-F238E27FC236}">
                <a16:creationId xmlns:a16="http://schemas.microsoft.com/office/drawing/2014/main" id="{43734BA6-B5F7-A081-D91D-CB98BAAF35C2}"/>
              </a:ext>
            </a:extLst>
          </p:cNvPr>
          <p:cNvSpPr/>
          <p:nvPr/>
        </p:nvSpPr>
        <p:spPr>
          <a:xfrm>
            <a:off x="2401569" y="8417306"/>
            <a:ext cx="15450492" cy="1603820"/>
          </a:xfrm>
          <a:custGeom>
            <a:avLst/>
            <a:gdLst/>
            <a:ahLst/>
            <a:cxnLst/>
            <a:rect l="l" t="t" r="r" b="b"/>
            <a:pathLst>
              <a:path w="4736979" h="214229">
                <a:moveTo>
                  <a:pt x="0" y="0"/>
                </a:moveTo>
                <a:lnTo>
                  <a:pt x="4736979" y="0"/>
                </a:lnTo>
                <a:lnTo>
                  <a:pt x="4736979" y="214229"/>
                </a:lnTo>
                <a:lnTo>
                  <a:pt x="0" y="214229"/>
                </a:lnTo>
                <a:close/>
              </a:path>
            </a:pathLst>
          </a:custGeom>
          <a:solidFill>
            <a:schemeClr val="bg1"/>
          </a:solidFill>
          <a:ln w="38100" cap="sq">
            <a:solidFill>
              <a:schemeClr val="bg1">
                <a:lumMod val="85000"/>
              </a:schemeClr>
            </a:solidFill>
            <a:prstDash val="solid"/>
            <a:miter/>
          </a:ln>
        </p:spPr>
        <p:txBody>
          <a:bodyPr lIns="91440" tIns="45720" rIns="91440" bIns="45720" anchor="ctr"/>
          <a:lstStyle/>
          <a:p>
            <a:pPr marL="285750" indent="-285750">
              <a:buFont typeface="Arial"/>
              <a:buChar char="•"/>
            </a:pPr>
            <a:r>
              <a:rPr lang="fr-FR" sz="2000" dirty="0">
                <a:latin typeface="Calibri"/>
                <a:ea typeface="Calibri"/>
                <a:cs typeface="Calibri"/>
              </a:rPr>
              <a:t>Mettre en œuvre un robot industriel (choisir et programmer).</a:t>
            </a:r>
          </a:p>
          <a:p>
            <a:pPr marL="285750" indent="-285750">
              <a:buFont typeface="Arial"/>
              <a:buChar char="•"/>
            </a:pPr>
            <a:r>
              <a:rPr lang="fr-FR" sz="2000" dirty="0">
                <a:latin typeface="Calibri"/>
                <a:ea typeface="Calibri"/>
                <a:cs typeface="Calibri"/>
              </a:rPr>
              <a:t>optimiser un système mécatronique selon une approche multi-objectifs</a:t>
            </a:r>
          </a:p>
          <a:p>
            <a:pPr marL="285750" indent="-285750">
              <a:buFont typeface="Arial"/>
              <a:buChar char="•"/>
            </a:pPr>
            <a:r>
              <a:rPr lang="fr-FR" sz="2000" dirty="0">
                <a:latin typeface="Calibri"/>
                <a:ea typeface="Calibri"/>
                <a:cs typeface="Calibri"/>
              </a:rPr>
              <a:t>Piloter un système mécatronique (par exemple </a:t>
            </a:r>
            <a:r>
              <a:rPr lang="fr-FR" sz="2000" dirty="0">
                <a:ea typeface="Calibri"/>
                <a:cs typeface="Calibri"/>
              </a:rPr>
              <a:t>stratégie de contrôle commande)</a:t>
            </a:r>
            <a:endParaRPr lang="fr-FR" sz="2000" dirty="0">
              <a:cs typeface="Calibri"/>
            </a:endParaRPr>
          </a:p>
          <a:p>
            <a:pPr marL="285750" indent="-285750">
              <a:buFont typeface="Arial"/>
              <a:buChar char="•"/>
            </a:pPr>
            <a:endParaRPr lang="fr-FR" sz="1600" dirty="0">
              <a:latin typeface="Calibri"/>
              <a:ea typeface="Calibri"/>
              <a:cs typeface="Calibri"/>
            </a:endParaRPr>
          </a:p>
        </p:txBody>
      </p:sp>
      <p:sp>
        <p:nvSpPr>
          <p:cNvPr id="11" name="Freeform 119">
            <a:extLst>
              <a:ext uri="{FF2B5EF4-FFF2-40B4-BE49-F238E27FC236}">
                <a16:creationId xmlns:a16="http://schemas.microsoft.com/office/drawing/2014/main" id="{DBC82DEA-7BDA-A646-8B96-222189D2F797}"/>
              </a:ext>
            </a:extLst>
          </p:cNvPr>
          <p:cNvSpPr/>
          <p:nvPr/>
        </p:nvSpPr>
        <p:spPr>
          <a:xfrm rot="16200000">
            <a:off x="-1859995" y="7172222"/>
            <a:ext cx="5089898" cy="607909"/>
          </a:xfrm>
          <a:custGeom>
            <a:avLst/>
            <a:gdLst/>
            <a:ahLst/>
            <a:cxnLst/>
            <a:rect l="l" t="t" r="r" b="b"/>
            <a:pathLst>
              <a:path w="4736979" h="214229">
                <a:moveTo>
                  <a:pt x="0" y="0"/>
                </a:moveTo>
                <a:lnTo>
                  <a:pt x="4736979" y="0"/>
                </a:lnTo>
                <a:lnTo>
                  <a:pt x="4736979" y="214229"/>
                </a:lnTo>
                <a:lnTo>
                  <a:pt x="0" y="214229"/>
                </a:lnTo>
                <a:close/>
              </a:path>
            </a:pathLst>
          </a:custGeom>
          <a:solidFill>
            <a:schemeClr val="bg1"/>
          </a:solidFill>
          <a:ln w="47625" cap="sq">
            <a:solidFill>
              <a:schemeClr val="tx1"/>
            </a:solidFill>
            <a:prstDash val="solid"/>
            <a:miter/>
          </a:ln>
        </p:spPr>
        <p:txBody>
          <a:bodyPr anchor="ctr"/>
          <a:lstStyle/>
          <a:p>
            <a:pPr algn="ctr"/>
            <a:r>
              <a:rPr lang="fr-FR" sz="2400" b="1">
                <a:latin typeface="Calibri" panose="020F0502020204030204" pitchFamily="34" charset="0"/>
                <a:cs typeface="Calibri" panose="020F0502020204030204" pitchFamily="34" charset="0"/>
              </a:rPr>
              <a:t>APPRENTISSAGES CRITIQUES</a:t>
            </a:r>
          </a:p>
        </p:txBody>
      </p:sp>
      <p:sp>
        <p:nvSpPr>
          <p:cNvPr id="12" name="Freeform 119">
            <a:extLst>
              <a:ext uri="{FF2B5EF4-FFF2-40B4-BE49-F238E27FC236}">
                <a16:creationId xmlns:a16="http://schemas.microsoft.com/office/drawing/2014/main" id="{AFC72ADE-6CCA-BD7C-1E25-D427CB6FE5FE}"/>
              </a:ext>
            </a:extLst>
          </p:cNvPr>
          <p:cNvSpPr/>
          <p:nvPr/>
        </p:nvSpPr>
        <p:spPr>
          <a:xfrm>
            <a:off x="1107010" y="4932645"/>
            <a:ext cx="1294559" cy="1603820"/>
          </a:xfrm>
          <a:custGeom>
            <a:avLst/>
            <a:gdLst/>
            <a:ahLst/>
            <a:cxnLst/>
            <a:rect l="l" t="t" r="r" b="b"/>
            <a:pathLst>
              <a:path w="4736979" h="214229">
                <a:moveTo>
                  <a:pt x="0" y="0"/>
                </a:moveTo>
                <a:lnTo>
                  <a:pt x="4736979" y="0"/>
                </a:lnTo>
                <a:lnTo>
                  <a:pt x="4736979" y="214229"/>
                </a:lnTo>
                <a:lnTo>
                  <a:pt x="0" y="214229"/>
                </a:lnTo>
                <a:close/>
              </a:path>
            </a:pathLst>
          </a:custGeom>
          <a:solidFill>
            <a:schemeClr val="tx1">
              <a:lumMod val="50000"/>
              <a:lumOff val="50000"/>
            </a:schemeClr>
          </a:solidFill>
          <a:ln w="38100" cap="sq">
            <a:solidFill>
              <a:schemeClr val="tx1">
                <a:lumMod val="50000"/>
                <a:lumOff val="50000"/>
              </a:schemeClr>
            </a:solidFill>
            <a:prstDash val="solid"/>
            <a:miter/>
          </a:ln>
        </p:spPr>
        <p:txBody>
          <a:bodyPr anchor="ctr"/>
          <a:lstStyle/>
          <a:p>
            <a:pPr algn="ctr"/>
            <a:r>
              <a:rPr lang="fr-FR" sz="3600">
                <a:latin typeface="Calibri" panose="020F0502020204030204" pitchFamily="34" charset="0"/>
                <a:cs typeface="Calibri" panose="020F0502020204030204" pitchFamily="34" charset="0"/>
              </a:rPr>
              <a:t>3A</a:t>
            </a:r>
          </a:p>
        </p:txBody>
      </p:sp>
      <p:sp>
        <p:nvSpPr>
          <p:cNvPr id="13" name="Freeform 119">
            <a:extLst>
              <a:ext uri="{FF2B5EF4-FFF2-40B4-BE49-F238E27FC236}">
                <a16:creationId xmlns:a16="http://schemas.microsoft.com/office/drawing/2014/main" id="{035C0639-AE8C-112F-4DC6-5A8E8438B4E5}"/>
              </a:ext>
            </a:extLst>
          </p:cNvPr>
          <p:cNvSpPr/>
          <p:nvPr/>
        </p:nvSpPr>
        <p:spPr>
          <a:xfrm>
            <a:off x="1107010" y="6674975"/>
            <a:ext cx="1294559" cy="1603820"/>
          </a:xfrm>
          <a:custGeom>
            <a:avLst/>
            <a:gdLst/>
            <a:ahLst/>
            <a:cxnLst/>
            <a:rect l="l" t="t" r="r" b="b"/>
            <a:pathLst>
              <a:path w="4736979" h="214229">
                <a:moveTo>
                  <a:pt x="0" y="0"/>
                </a:moveTo>
                <a:lnTo>
                  <a:pt x="4736979" y="0"/>
                </a:lnTo>
                <a:lnTo>
                  <a:pt x="4736979" y="214229"/>
                </a:lnTo>
                <a:lnTo>
                  <a:pt x="0" y="214229"/>
                </a:lnTo>
                <a:close/>
              </a:path>
            </a:pathLst>
          </a:custGeom>
          <a:solidFill>
            <a:schemeClr val="bg1">
              <a:lumMod val="65000"/>
            </a:schemeClr>
          </a:solidFill>
          <a:ln w="38100" cap="sq">
            <a:solidFill>
              <a:schemeClr val="bg1">
                <a:lumMod val="65000"/>
              </a:schemeClr>
            </a:solidFill>
            <a:prstDash val="solid"/>
            <a:miter/>
          </a:ln>
        </p:spPr>
        <p:txBody>
          <a:bodyPr anchor="ctr"/>
          <a:lstStyle/>
          <a:p>
            <a:pPr algn="ctr"/>
            <a:r>
              <a:rPr lang="fr-FR" sz="3600">
                <a:latin typeface="Calibri" panose="020F0502020204030204" pitchFamily="34" charset="0"/>
                <a:cs typeface="Calibri" panose="020F0502020204030204" pitchFamily="34" charset="0"/>
              </a:rPr>
              <a:t>4A</a:t>
            </a:r>
          </a:p>
        </p:txBody>
      </p:sp>
      <p:sp>
        <p:nvSpPr>
          <p:cNvPr id="15" name="Freeform 119">
            <a:extLst>
              <a:ext uri="{FF2B5EF4-FFF2-40B4-BE49-F238E27FC236}">
                <a16:creationId xmlns:a16="http://schemas.microsoft.com/office/drawing/2014/main" id="{96AFB3D3-7D60-9633-A528-0881FBB7C115}"/>
              </a:ext>
            </a:extLst>
          </p:cNvPr>
          <p:cNvSpPr/>
          <p:nvPr/>
        </p:nvSpPr>
        <p:spPr>
          <a:xfrm>
            <a:off x="1107010" y="8417306"/>
            <a:ext cx="1294559" cy="1603820"/>
          </a:xfrm>
          <a:custGeom>
            <a:avLst/>
            <a:gdLst/>
            <a:ahLst/>
            <a:cxnLst/>
            <a:rect l="l" t="t" r="r" b="b"/>
            <a:pathLst>
              <a:path w="4736979" h="214229">
                <a:moveTo>
                  <a:pt x="0" y="0"/>
                </a:moveTo>
                <a:lnTo>
                  <a:pt x="4736979" y="0"/>
                </a:lnTo>
                <a:lnTo>
                  <a:pt x="4736979" y="214229"/>
                </a:lnTo>
                <a:lnTo>
                  <a:pt x="0" y="214229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  <a:ln w="38100" cap="sq">
            <a:solidFill>
              <a:schemeClr val="bg1">
                <a:lumMod val="85000"/>
              </a:schemeClr>
            </a:solidFill>
            <a:prstDash val="solid"/>
            <a:miter/>
          </a:ln>
        </p:spPr>
        <p:txBody>
          <a:bodyPr anchor="ctr"/>
          <a:lstStyle/>
          <a:p>
            <a:pPr algn="ctr"/>
            <a:r>
              <a:rPr lang="fr-FR" sz="3600">
                <a:latin typeface="Calibri" panose="020F0502020204030204" pitchFamily="34" charset="0"/>
                <a:cs typeface="Calibri" panose="020F0502020204030204" pitchFamily="34" charset="0"/>
              </a:rPr>
              <a:t>5A</a:t>
            </a:r>
          </a:p>
        </p:txBody>
      </p:sp>
      <p:sp>
        <p:nvSpPr>
          <p:cNvPr id="3" name="Freeform 119">
            <a:extLst>
              <a:ext uri="{FF2B5EF4-FFF2-40B4-BE49-F238E27FC236}">
                <a16:creationId xmlns:a16="http://schemas.microsoft.com/office/drawing/2014/main" id="{6808147C-905F-218D-E3D2-09B29E1DFB8F}"/>
              </a:ext>
            </a:extLst>
          </p:cNvPr>
          <p:cNvSpPr/>
          <p:nvPr/>
        </p:nvSpPr>
        <p:spPr>
          <a:xfrm>
            <a:off x="381000" y="346805"/>
            <a:ext cx="5024283" cy="2792949"/>
          </a:xfrm>
          <a:custGeom>
            <a:avLst/>
            <a:gdLst/>
            <a:ahLst/>
            <a:cxnLst/>
            <a:rect l="l" t="t" r="r" b="b"/>
            <a:pathLst>
              <a:path w="4736979" h="214229">
                <a:moveTo>
                  <a:pt x="0" y="0"/>
                </a:moveTo>
                <a:lnTo>
                  <a:pt x="4736979" y="0"/>
                </a:lnTo>
                <a:lnTo>
                  <a:pt x="4736979" y="214229"/>
                </a:lnTo>
                <a:lnTo>
                  <a:pt x="0" y="214229"/>
                </a:lnTo>
                <a:close/>
              </a:path>
            </a:pathLst>
          </a:custGeom>
          <a:solidFill>
            <a:srgbClr val="8C4BE2"/>
          </a:solidFill>
          <a:ln w="47625" cap="sq">
            <a:noFill/>
            <a:prstDash val="solid"/>
            <a:miter/>
          </a:ln>
        </p:spPr>
        <p:txBody>
          <a:bodyPr anchor="ctr"/>
          <a:lstStyle/>
          <a:p>
            <a:pPr algn="ctr"/>
            <a:r>
              <a:rPr lang="fr-FR" sz="3600" b="1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Concevoir des systèmes mécatroniques</a:t>
            </a:r>
          </a:p>
          <a:p>
            <a:pPr algn="ctr">
              <a:lnSpc>
                <a:spcPct val="150000"/>
              </a:lnSpc>
            </a:pPr>
            <a:r>
              <a:rPr lang="fr-FR" sz="360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RNCP</a:t>
            </a:r>
          </a:p>
        </p:txBody>
      </p:sp>
      <p:sp>
        <p:nvSpPr>
          <p:cNvPr id="4" name="Freeform 119">
            <a:extLst>
              <a:ext uri="{FF2B5EF4-FFF2-40B4-BE49-F238E27FC236}">
                <a16:creationId xmlns:a16="http://schemas.microsoft.com/office/drawing/2014/main" id="{EC077E27-8E7A-F889-F253-BE71A82E0598}"/>
              </a:ext>
            </a:extLst>
          </p:cNvPr>
          <p:cNvSpPr/>
          <p:nvPr/>
        </p:nvSpPr>
        <p:spPr>
          <a:xfrm>
            <a:off x="5638800" y="346805"/>
            <a:ext cx="12268200" cy="2792949"/>
          </a:xfrm>
          <a:custGeom>
            <a:avLst/>
            <a:gdLst/>
            <a:ahLst/>
            <a:cxnLst/>
            <a:rect l="l" t="t" r="r" b="b"/>
            <a:pathLst>
              <a:path w="4736979" h="214229">
                <a:moveTo>
                  <a:pt x="0" y="0"/>
                </a:moveTo>
                <a:lnTo>
                  <a:pt x="4736979" y="0"/>
                </a:lnTo>
                <a:lnTo>
                  <a:pt x="4736979" y="214229"/>
                </a:lnTo>
                <a:lnTo>
                  <a:pt x="0" y="214229"/>
                </a:lnTo>
                <a:close/>
              </a:path>
            </a:pathLst>
          </a:custGeom>
          <a:solidFill>
            <a:srgbClr val="8C4BE2">
              <a:alpha val="20000"/>
            </a:srgbClr>
          </a:solidFill>
          <a:ln w="47625" cap="sq">
            <a:noFill/>
            <a:prstDash val="solid"/>
            <a:miter/>
          </a:ln>
        </p:spPr>
        <p:txBody>
          <a:bodyPr anchor="ctr"/>
          <a:lstStyle/>
          <a:p>
            <a:r>
              <a:rPr lang="fr-FR" sz="2800" b="1" i="0" dirty="0">
                <a:solidFill>
                  <a:srgbClr val="000000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Composantes essentielles :</a:t>
            </a:r>
          </a:p>
          <a:p>
            <a:pPr marL="684000" lvl="1" indent="-342900">
              <a:buFont typeface="Arial" panose="020B0604020202020204" pitchFamily="34" charset="0"/>
              <a:buChar char="•"/>
            </a:pPr>
            <a:r>
              <a:rPr lang="fr-FR" sz="2000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en mettant en œuvre des outils de modélisation et de simulation multiphysiques de manière appropriée.</a:t>
            </a:r>
          </a:p>
          <a:p>
            <a:pPr marL="684000" lvl="1" indent="-342900">
              <a:buFont typeface="Arial" panose="020B0604020202020204" pitchFamily="34" charset="0"/>
              <a:buChar char="•"/>
            </a:pPr>
            <a:r>
              <a:rPr lang="fr-FR" sz="2000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en choisissant les composants technologiques adéquats (mécaniques, électroniques, informatiques) </a:t>
            </a:r>
          </a:p>
          <a:p>
            <a:pPr marL="684000" lvl="1" indent="-342900">
              <a:buFont typeface="Arial" panose="020B0604020202020204" pitchFamily="34" charset="0"/>
              <a:buChar char="•"/>
            </a:pPr>
            <a:r>
              <a:rPr lang="fr-FR" sz="2000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en tenant compte des interactions fonctionnelles et physiques entre les composants.</a:t>
            </a:r>
          </a:p>
          <a:p>
            <a:pPr marL="684000" lvl="1" indent="-342900">
              <a:buFont typeface="Arial" panose="020B0604020202020204" pitchFamily="34" charset="0"/>
              <a:buChar char="•"/>
            </a:pPr>
            <a:r>
              <a:rPr lang="fr-FR" sz="2000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en communicant efficacement avec les parties prenantes.</a:t>
            </a:r>
          </a:p>
          <a:p>
            <a:pPr marL="684000" lvl="1" indent="-342900">
              <a:buFont typeface="Arial" panose="020B0604020202020204" pitchFamily="34" charset="0"/>
              <a:buChar char="•"/>
            </a:pPr>
            <a:r>
              <a:rPr lang="fr-FR" sz="2000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en respectant les normes de produit en vigueur.</a:t>
            </a:r>
          </a:p>
          <a:p>
            <a:pPr marL="684000" lvl="1" indent="-342900">
              <a:buFont typeface="Arial" panose="020B0604020202020204" pitchFamily="34" charset="0"/>
              <a:buChar char="•"/>
            </a:pPr>
            <a:r>
              <a:rPr lang="fr-FR" sz="2000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en appliquant une démarche d’éco-conception</a:t>
            </a:r>
          </a:p>
          <a:p>
            <a:pPr marL="684000" lvl="1" indent="-342900">
              <a:buFont typeface="Arial" panose="020B0604020202020204" pitchFamily="34" charset="0"/>
              <a:buChar char="•"/>
            </a:pPr>
            <a:r>
              <a:rPr lang="fr-FR" sz="2000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en assurant leur efficience.</a:t>
            </a:r>
            <a:r>
              <a:rPr lang="fr-FR" sz="2400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	</a:t>
            </a:r>
          </a:p>
        </p:txBody>
      </p:sp>
    </p:spTree>
    <p:extLst>
      <p:ext uri="{BB962C8B-B14F-4D97-AF65-F5344CB8AC3E}">
        <p14:creationId xmlns:p14="http://schemas.microsoft.com/office/powerpoint/2010/main" val="370937162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3"/>
    </p:ext>
  </p:extLs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C7430F5-E680-B822-89CD-1D3D1398E4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reeform 119">
            <a:extLst>
              <a:ext uri="{FF2B5EF4-FFF2-40B4-BE49-F238E27FC236}">
                <a16:creationId xmlns:a16="http://schemas.microsoft.com/office/drawing/2014/main" id="{CD3D71ED-0F9B-CB55-1CA7-06FC2839CA90}"/>
              </a:ext>
            </a:extLst>
          </p:cNvPr>
          <p:cNvSpPr/>
          <p:nvPr/>
        </p:nvSpPr>
        <p:spPr>
          <a:xfrm>
            <a:off x="381000" y="346805"/>
            <a:ext cx="5024283" cy="2792949"/>
          </a:xfrm>
          <a:custGeom>
            <a:avLst/>
            <a:gdLst/>
            <a:ahLst/>
            <a:cxnLst/>
            <a:rect l="l" t="t" r="r" b="b"/>
            <a:pathLst>
              <a:path w="4736979" h="214229">
                <a:moveTo>
                  <a:pt x="0" y="0"/>
                </a:moveTo>
                <a:lnTo>
                  <a:pt x="4736979" y="0"/>
                </a:lnTo>
                <a:lnTo>
                  <a:pt x="4736979" y="214229"/>
                </a:lnTo>
                <a:lnTo>
                  <a:pt x="0" y="214229"/>
                </a:lnTo>
                <a:close/>
              </a:path>
            </a:pathLst>
          </a:custGeom>
          <a:solidFill>
            <a:srgbClr val="8C4BE2"/>
          </a:solidFill>
          <a:ln w="47625" cap="sq">
            <a:noFill/>
            <a:prstDash val="solid"/>
            <a:miter/>
          </a:ln>
        </p:spPr>
        <p:txBody>
          <a:bodyPr anchor="ctr"/>
          <a:lstStyle/>
          <a:p>
            <a:pPr algn="ctr"/>
            <a:r>
              <a:rPr lang="fr-FR" sz="3600" b="1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Concevoir des produits en matériaux composites</a:t>
            </a:r>
          </a:p>
          <a:p>
            <a:pPr algn="ctr">
              <a:lnSpc>
                <a:spcPct val="150000"/>
              </a:lnSpc>
            </a:pPr>
            <a:r>
              <a:rPr lang="fr-FR" sz="360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RNCP</a:t>
            </a:r>
          </a:p>
        </p:txBody>
      </p:sp>
      <p:sp>
        <p:nvSpPr>
          <p:cNvPr id="4" name="Freeform 119">
            <a:extLst>
              <a:ext uri="{FF2B5EF4-FFF2-40B4-BE49-F238E27FC236}">
                <a16:creationId xmlns:a16="http://schemas.microsoft.com/office/drawing/2014/main" id="{41CAFFAC-4E61-C6A6-40F5-FBE4157A98DA}"/>
              </a:ext>
            </a:extLst>
          </p:cNvPr>
          <p:cNvSpPr/>
          <p:nvPr/>
        </p:nvSpPr>
        <p:spPr>
          <a:xfrm>
            <a:off x="5638800" y="346805"/>
            <a:ext cx="12268200" cy="2792949"/>
          </a:xfrm>
          <a:custGeom>
            <a:avLst/>
            <a:gdLst/>
            <a:ahLst/>
            <a:cxnLst/>
            <a:rect l="l" t="t" r="r" b="b"/>
            <a:pathLst>
              <a:path w="4736979" h="214229">
                <a:moveTo>
                  <a:pt x="0" y="0"/>
                </a:moveTo>
                <a:lnTo>
                  <a:pt x="4736979" y="0"/>
                </a:lnTo>
                <a:lnTo>
                  <a:pt x="4736979" y="214229"/>
                </a:lnTo>
                <a:lnTo>
                  <a:pt x="0" y="214229"/>
                </a:lnTo>
                <a:close/>
              </a:path>
            </a:pathLst>
          </a:custGeom>
          <a:solidFill>
            <a:srgbClr val="8C4BE2">
              <a:alpha val="49938"/>
            </a:srgbClr>
          </a:solidFill>
          <a:ln w="47625" cap="sq">
            <a:noFill/>
            <a:prstDash val="solid"/>
            <a:miter/>
          </a:ln>
        </p:spPr>
        <p:txBody>
          <a:bodyPr lIns="91440" tIns="45720" rIns="91440" bIns="45720" anchor="ctr"/>
          <a:lstStyle/>
          <a:p>
            <a:r>
              <a:rPr lang="fr-FR" sz="2000" b="1" i="0" dirty="0">
                <a:solidFill>
                  <a:srgbClr val="000000"/>
                </a:solidFill>
                <a:effectLst/>
                <a:latin typeface="Calibri"/>
                <a:ea typeface="Calibri"/>
                <a:cs typeface="Calibri"/>
              </a:rPr>
              <a:t> Composantes essentielles :</a:t>
            </a:r>
          </a:p>
          <a:p>
            <a:pPr marL="1028700" lvl="1" indent="-571500">
              <a:buFont typeface="Arial" panose="020B0604020202020204" pitchFamily="34" charset="0"/>
              <a:buChar char="•"/>
            </a:pPr>
            <a:r>
              <a:rPr lang="fr-FR" sz="2000" dirty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en prenant en compte les interactions entre les matériaux, le produit et les procédés</a:t>
            </a:r>
          </a:p>
          <a:p>
            <a:pPr marL="1028700" lvl="1" indent="-571500">
              <a:buFont typeface="Arial" panose="020B0604020202020204" pitchFamily="34" charset="0"/>
              <a:buChar char="•"/>
            </a:pPr>
            <a:r>
              <a:rPr lang="fr-FR" sz="2000" dirty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en choisissant les composants matériaux de manière pertinente</a:t>
            </a:r>
          </a:p>
          <a:p>
            <a:pPr marL="1028700" lvl="1" indent="-571500">
              <a:buFont typeface="Arial" panose="020B0604020202020204" pitchFamily="34" charset="0"/>
              <a:buChar char="•"/>
            </a:pPr>
            <a:r>
              <a:rPr lang="fr-FR" sz="2000" dirty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en utilisant les lois de comportements spécifiques appropriés aux matériaux (élasticité, rupture, endommagement, etc.) ; </a:t>
            </a:r>
          </a:p>
          <a:p>
            <a:pPr marL="1028700" lvl="1" indent="-571500">
              <a:buFont typeface="Arial" panose="020B0604020202020204" pitchFamily="34" charset="0"/>
              <a:buChar char="•"/>
            </a:pPr>
            <a:r>
              <a:rPr lang="fr-FR" sz="2000" dirty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en utilisant des outils et des méthodes adaptées ; </a:t>
            </a:r>
          </a:p>
          <a:p>
            <a:pPr marL="1028700" lvl="1" indent="-571500">
              <a:buFont typeface="Arial" panose="020B0604020202020204" pitchFamily="34" charset="0"/>
              <a:buChar char="•"/>
            </a:pPr>
            <a:r>
              <a:rPr lang="fr-FR" sz="2000" dirty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en organisant des données hétérogènes de manière synthétique 	</a:t>
            </a:r>
          </a:p>
          <a:p>
            <a:pPr marL="1028700" lvl="1" indent="-571500">
              <a:buFont typeface="Arial" panose="020B0604020202020204" pitchFamily="34" charset="0"/>
              <a:buChar char="•"/>
            </a:pPr>
            <a:r>
              <a:rPr lang="fr-FR" sz="2000" dirty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en intégrant la réduction des impacts dans la conception (éco-propriétés des matières, des procédés et du produit, réemploi, </a:t>
            </a:r>
            <a:r>
              <a:rPr lang="fr-FR" sz="2000" dirty="0" err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réusage</a:t>
            </a:r>
            <a:r>
              <a:rPr lang="fr-FR" sz="2000" dirty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, etc.)</a:t>
            </a:r>
          </a:p>
        </p:txBody>
      </p:sp>
      <p:sp>
        <p:nvSpPr>
          <p:cNvPr id="5" name="Freeform 119">
            <a:extLst>
              <a:ext uri="{FF2B5EF4-FFF2-40B4-BE49-F238E27FC236}">
                <a16:creationId xmlns:a16="http://schemas.microsoft.com/office/drawing/2014/main" id="{E5983739-1EF8-673A-CCF1-4E78FCC87864}"/>
              </a:ext>
            </a:extLst>
          </p:cNvPr>
          <p:cNvSpPr/>
          <p:nvPr/>
        </p:nvSpPr>
        <p:spPr>
          <a:xfrm>
            <a:off x="380999" y="3361609"/>
            <a:ext cx="5229877" cy="1467034"/>
          </a:xfrm>
          <a:custGeom>
            <a:avLst/>
            <a:gdLst/>
            <a:ahLst/>
            <a:cxnLst/>
            <a:rect l="l" t="t" r="r" b="b"/>
            <a:pathLst>
              <a:path w="4736979" h="214229">
                <a:moveTo>
                  <a:pt x="0" y="0"/>
                </a:moveTo>
                <a:lnTo>
                  <a:pt x="4736979" y="0"/>
                </a:lnTo>
                <a:lnTo>
                  <a:pt x="4736979" y="214229"/>
                </a:lnTo>
                <a:lnTo>
                  <a:pt x="0" y="214229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  <a:ln w="47625" cap="sq">
            <a:noFill/>
            <a:prstDash val="solid"/>
            <a:miter/>
          </a:ln>
        </p:spPr>
        <p:txBody>
          <a:bodyPr lIns="91440" tIns="45720" rIns="91440" bIns="45720" anchor="ctr"/>
          <a:lstStyle/>
          <a:p>
            <a:r>
              <a:rPr lang="fr-FR" sz="2000" b="1" i="0" dirty="0">
                <a:solidFill>
                  <a:srgbClr val="000000"/>
                </a:solidFill>
                <a:effectLst/>
                <a:latin typeface="Calibri"/>
                <a:ea typeface="Calibri"/>
                <a:cs typeface="Calibri"/>
              </a:rPr>
              <a:t> Situations professionnelles :</a:t>
            </a:r>
          </a:p>
          <a:p>
            <a:endParaRPr lang="fr-FR" sz="1000" b="1" dirty="0">
              <a:solidFill>
                <a:srgbClr val="000000"/>
              </a:solidFill>
              <a:ea typeface="+mn-lt"/>
              <a:cs typeface="+mn-lt"/>
            </a:endParaRPr>
          </a:p>
          <a:p>
            <a:pPr marL="457200">
              <a:buFont typeface="Arial" panose="020B0604020202020204" pitchFamily="34" charset="0"/>
              <a:buChar char="•"/>
            </a:pPr>
            <a:r>
              <a:rPr lang="fr-FR" dirty="0">
                <a:solidFill>
                  <a:srgbClr val="000000"/>
                </a:solidFill>
                <a:ea typeface="+mn-lt"/>
                <a:cs typeface="+mn-lt"/>
              </a:rPr>
              <a:t> Ingénieur R&amp;D </a:t>
            </a:r>
          </a:p>
          <a:p>
            <a:pPr marL="457200">
              <a:buFont typeface="Arial" panose="020B0604020202020204" pitchFamily="34" charset="0"/>
              <a:buChar char="•"/>
            </a:pPr>
            <a:r>
              <a:rPr lang="fr-FR" dirty="0">
                <a:solidFill>
                  <a:srgbClr val="000000"/>
                </a:solidFill>
                <a:ea typeface="+mn-lt"/>
                <a:cs typeface="+mn-lt"/>
              </a:rPr>
              <a:t> Ingénieur méthodes </a:t>
            </a:r>
            <a:endParaRPr lang="fr-FR" dirty="0">
              <a:ea typeface="Calibri"/>
              <a:cs typeface="Calibri"/>
            </a:endParaRPr>
          </a:p>
          <a:p>
            <a:pPr lvl="1">
              <a:buFont typeface="Arial" panose="020B0604020202020204" pitchFamily="34" charset="0"/>
              <a:buChar char="•"/>
            </a:pPr>
            <a:r>
              <a:rPr lang="fr-FR" dirty="0">
                <a:solidFill>
                  <a:srgbClr val="000000"/>
                </a:solidFill>
                <a:ea typeface="+mn-lt"/>
                <a:cs typeface="+mn-lt"/>
              </a:rPr>
              <a:t> Ingénieur conception – BE 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endParaRPr lang="fr-FR" sz="1200" dirty="0">
              <a:latin typeface="Calibri" panose="020F0502020204030204" pitchFamily="34" charset="0"/>
              <a:ea typeface="Calibri"/>
              <a:cs typeface="Calibri" panose="020F0502020204030204" pitchFamily="34" charset="0"/>
            </a:endParaRPr>
          </a:p>
        </p:txBody>
      </p:sp>
      <p:sp>
        <p:nvSpPr>
          <p:cNvPr id="9" name="Freeform 119">
            <a:extLst>
              <a:ext uri="{FF2B5EF4-FFF2-40B4-BE49-F238E27FC236}">
                <a16:creationId xmlns:a16="http://schemas.microsoft.com/office/drawing/2014/main" id="{0A7C6D86-F794-8B07-0E74-6CC2CDCBF81A}"/>
              </a:ext>
            </a:extLst>
          </p:cNvPr>
          <p:cNvSpPr/>
          <p:nvPr/>
        </p:nvSpPr>
        <p:spPr>
          <a:xfrm>
            <a:off x="2401569" y="4932645"/>
            <a:ext cx="15450492" cy="1603820"/>
          </a:xfrm>
          <a:custGeom>
            <a:avLst/>
            <a:gdLst/>
            <a:ahLst/>
            <a:cxnLst/>
            <a:rect l="l" t="t" r="r" b="b"/>
            <a:pathLst>
              <a:path w="4736979" h="214229">
                <a:moveTo>
                  <a:pt x="0" y="0"/>
                </a:moveTo>
                <a:lnTo>
                  <a:pt x="4736979" y="0"/>
                </a:lnTo>
                <a:lnTo>
                  <a:pt x="4736979" y="214229"/>
                </a:lnTo>
                <a:lnTo>
                  <a:pt x="0" y="214229"/>
                </a:lnTo>
                <a:close/>
              </a:path>
            </a:pathLst>
          </a:custGeom>
          <a:solidFill>
            <a:schemeClr val="bg1"/>
          </a:solidFill>
          <a:ln w="38100" cap="sq">
            <a:solidFill>
              <a:schemeClr val="tx1">
                <a:lumMod val="50000"/>
                <a:lumOff val="50000"/>
              </a:schemeClr>
            </a:solidFill>
            <a:prstDash val="solid"/>
            <a:miter/>
          </a:ln>
        </p:spPr>
        <p:txBody>
          <a:bodyPr lIns="91440" tIns="45720" rIns="91440" bIns="45720" anchor="ctr"/>
          <a:lstStyle/>
          <a:p>
            <a:pPr marL="171450" indent="-171450">
              <a:buFont typeface="Arial"/>
              <a:buChar char="•"/>
            </a:pPr>
            <a:r>
              <a:rPr lang="fr-FR" sz="1200" dirty="0">
                <a:latin typeface="Calibri" panose="020F0502020204030204" pitchFamily="34" charset="0"/>
                <a:cs typeface="Calibri" panose="020F0502020204030204" pitchFamily="34" charset="0"/>
              </a:rPr>
              <a:t>Caractériser un matériau</a:t>
            </a:r>
            <a:endParaRPr lang="fr-FR" dirty="0"/>
          </a:p>
          <a:p>
            <a:pPr marL="171450" indent="-171450">
              <a:buFont typeface="Arial"/>
              <a:buChar char="•"/>
            </a:pPr>
            <a:r>
              <a:rPr lang="fr-FR" sz="1200" dirty="0">
                <a:latin typeface="Calibri" panose="020F0502020204030204" pitchFamily="34" charset="0"/>
                <a:cs typeface="Calibri" panose="020F0502020204030204" pitchFamily="34" charset="0"/>
              </a:rPr>
              <a:t>Créer des indices de performance matériaux</a:t>
            </a:r>
            <a:endParaRPr lang="fr-FR" sz="12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171450" indent="-171450">
              <a:buFont typeface="Arial"/>
              <a:buChar char="•"/>
            </a:pPr>
            <a:r>
              <a:rPr lang="fr-FR" sz="1200" dirty="0">
                <a:latin typeface="Calibri" panose="020F0502020204030204" pitchFamily="34" charset="0"/>
                <a:cs typeface="Calibri" panose="020F0502020204030204" pitchFamily="34" charset="0"/>
              </a:rPr>
              <a:t>Rédiger une gamme de fabrication et une fiche matière</a:t>
            </a:r>
            <a:endParaRPr lang="fr-FR" sz="12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171450" indent="-171450">
              <a:buFont typeface="Arial"/>
              <a:buChar char="•"/>
            </a:pPr>
            <a:r>
              <a:rPr lang="fr-FR" sz="1200" dirty="0">
                <a:latin typeface="Calibri" panose="020F0502020204030204" pitchFamily="34" charset="0"/>
                <a:cs typeface="Calibri" panose="020F0502020204030204" pitchFamily="34" charset="0"/>
              </a:rPr>
              <a:t>Mettre en œuvre des procédés usuels</a:t>
            </a:r>
            <a:endParaRPr lang="fr-FR" sz="12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0" name="Freeform 119">
            <a:extLst>
              <a:ext uri="{FF2B5EF4-FFF2-40B4-BE49-F238E27FC236}">
                <a16:creationId xmlns:a16="http://schemas.microsoft.com/office/drawing/2014/main" id="{13174D38-297B-9067-0C87-F5743A95B345}"/>
              </a:ext>
            </a:extLst>
          </p:cNvPr>
          <p:cNvSpPr/>
          <p:nvPr/>
        </p:nvSpPr>
        <p:spPr>
          <a:xfrm>
            <a:off x="2401569" y="6674975"/>
            <a:ext cx="15450492" cy="1603820"/>
          </a:xfrm>
          <a:custGeom>
            <a:avLst/>
            <a:gdLst/>
            <a:ahLst/>
            <a:cxnLst/>
            <a:rect l="l" t="t" r="r" b="b"/>
            <a:pathLst>
              <a:path w="4736979" h="214229">
                <a:moveTo>
                  <a:pt x="0" y="0"/>
                </a:moveTo>
                <a:lnTo>
                  <a:pt x="4736979" y="0"/>
                </a:lnTo>
                <a:lnTo>
                  <a:pt x="4736979" y="214229"/>
                </a:lnTo>
                <a:lnTo>
                  <a:pt x="0" y="214229"/>
                </a:lnTo>
                <a:close/>
              </a:path>
            </a:pathLst>
          </a:custGeom>
          <a:solidFill>
            <a:schemeClr val="bg1"/>
          </a:solidFill>
          <a:ln w="38100" cap="sq">
            <a:solidFill>
              <a:schemeClr val="bg1">
                <a:lumMod val="65000"/>
              </a:schemeClr>
            </a:solidFill>
            <a:prstDash val="solid"/>
            <a:miter/>
          </a:ln>
        </p:spPr>
        <p:txBody>
          <a:bodyPr lIns="91440" tIns="45720" rIns="91440" bIns="45720" anchor="ctr"/>
          <a:lstStyle/>
          <a:p>
            <a:pPr marL="171450" indent="-171450">
              <a:buFont typeface="Arial"/>
              <a:buChar char="•"/>
            </a:pPr>
            <a:r>
              <a:rPr lang="fr-FR" sz="1200" dirty="0">
                <a:latin typeface="Calibri" panose="020F0502020204030204" pitchFamily="34" charset="0"/>
                <a:cs typeface="Calibri" panose="020F0502020204030204" pitchFamily="34" charset="0"/>
              </a:rPr>
              <a:t>Définir un matériau selon des propriétés attendus</a:t>
            </a:r>
            <a:endParaRPr lang="fr-FR"/>
          </a:p>
          <a:p>
            <a:pPr marL="171450" indent="-171450">
              <a:buFont typeface="Arial"/>
              <a:buChar char="•"/>
            </a:pPr>
            <a:r>
              <a:rPr lang="fr-FR" sz="1200" dirty="0">
                <a:latin typeface="Calibri" panose="020F0502020204030204" pitchFamily="34" charset="0"/>
                <a:cs typeface="Calibri" panose="020F0502020204030204" pitchFamily="34" charset="0"/>
              </a:rPr>
              <a:t>Évaluer l'impact environnemental </a:t>
            </a:r>
            <a:endParaRPr lang="fr-FR" sz="120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171450" indent="-171450">
              <a:buFont typeface="Arial"/>
              <a:buChar char="•"/>
            </a:pPr>
            <a:r>
              <a:rPr lang="fr-FR" sz="1200" dirty="0">
                <a:latin typeface="Calibri" panose="020F0502020204030204" pitchFamily="34" charset="0"/>
                <a:cs typeface="Calibri" panose="020F0502020204030204" pitchFamily="34" charset="0"/>
              </a:rPr>
              <a:t>Mettre au point une gamme de fabrication et une fiche matière</a:t>
            </a:r>
            <a:endParaRPr lang="fr-FR" sz="12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171450" indent="-171450">
              <a:buFont typeface="Arial"/>
              <a:buChar char="•"/>
            </a:pPr>
            <a:r>
              <a:rPr lang="fr-FR" sz="1200" dirty="0">
                <a:latin typeface="Calibri" panose="020F0502020204030204" pitchFamily="34" charset="0"/>
                <a:cs typeface="Calibri" panose="020F0502020204030204" pitchFamily="34" charset="0"/>
              </a:rPr>
              <a:t>Mettre en œuvre une loi de comportement homogénéisé</a:t>
            </a:r>
            <a:endParaRPr lang="fr-FR" sz="12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171450" indent="-171450">
              <a:buFont typeface="Arial"/>
              <a:buChar char="•"/>
            </a:pPr>
            <a:r>
              <a:rPr lang="fr-FR" sz="1200" dirty="0">
                <a:latin typeface="Calibri" panose="020F0502020204030204" pitchFamily="34" charset="0"/>
                <a:cs typeface="Calibri" panose="020F0502020204030204" pitchFamily="34" charset="0"/>
              </a:rPr>
              <a:t>Réaliser un prédimensionnement</a:t>
            </a:r>
            <a:endParaRPr lang="fr-FR" sz="12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171450" indent="-171450">
              <a:buFont typeface="Arial"/>
              <a:buChar char="•"/>
            </a:pPr>
            <a:r>
              <a:rPr lang="fr-FR" sz="1200" dirty="0">
                <a:latin typeface="Calibri" panose="020F0502020204030204" pitchFamily="34" charset="0"/>
                <a:cs typeface="Calibri" panose="020F0502020204030204" pitchFamily="34" charset="0"/>
              </a:rPr>
              <a:t>Créer un outil de calcul pour faire un prédimensionnement</a:t>
            </a:r>
            <a:endParaRPr lang="fr-FR" sz="12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171450" indent="-171450">
              <a:buFont typeface="Arial"/>
              <a:buChar char="•"/>
            </a:pPr>
            <a:r>
              <a:rPr lang="fr-FR" sz="1200" dirty="0">
                <a:latin typeface="Calibri" panose="020F0502020204030204" pitchFamily="34" charset="0"/>
                <a:cs typeface="Calibri" panose="020F0502020204030204" pitchFamily="34" charset="0"/>
              </a:rPr>
              <a:t>Piloter les paramètres des procédés usuels</a:t>
            </a:r>
            <a:endParaRPr lang="fr-FR" sz="12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171450" indent="-171450">
              <a:buFont typeface="Arial"/>
              <a:buChar char="•"/>
            </a:pPr>
            <a:r>
              <a:rPr lang="fr-FR" sz="1200" dirty="0">
                <a:latin typeface="Calibri" panose="020F0502020204030204" pitchFamily="34" charset="0"/>
                <a:cs typeface="Calibri" panose="020F0502020204030204" pitchFamily="34" charset="0"/>
              </a:rPr>
              <a:t>Évaluer la performance du produit conçu</a:t>
            </a:r>
            <a:endParaRPr lang="fr-FR" sz="12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4" name="Freeform 119">
            <a:extLst>
              <a:ext uri="{FF2B5EF4-FFF2-40B4-BE49-F238E27FC236}">
                <a16:creationId xmlns:a16="http://schemas.microsoft.com/office/drawing/2014/main" id="{517AF42C-939D-3268-139D-AE898A200690}"/>
              </a:ext>
            </a:extLst>
          </p:cNvPr>
          <p:cNvSpPr/>
          <p:nvPr/>
        </p:nvSpPr>
        <p:spPr>
          <a:xfrm>
            <a:off x="2401569" y="8417306"/>
            <a:ext cx="15450492" cy="1603820"/>
          </a:xfrm>
          <a:custGeom>
            <a:avLst/>
            <a:gdLst/>
            <a:ahLst/>
            <a:cxnLst/>
            <a:rect l="l" t="t" r="r" b="b"/>
            <a:pathLst>
              <a:path w="4736979" h="214229">
                <a:moveTo>
                  <a:pt x="0" y="0"/>
                </a:moveTo>
                <a:lnTo>
                  <a:pt x="4736979" y="0"/>
                </a:lnTo>
                <a:lnTo>
                  <a:pt x="4736979" y="214229"/>
                </a:lnTo>
                <a:lnTo>
                  <a:pt x="0" y="214229"/>
                </a:lnTo>
                <a:close/>
              </a:path>
            </a:pathLst>
          </a:custGeom>
          <a:solidFill>
            <a:schemeClr val="bg1"/>
          </a:solidFill>
          <a:ln w="38100" cap="sq">
            <a:solidFill>
              <a:schemeClr val="bg1">
                <a:lumMod val="85000"/>
              </a:schemeClr>
            </a:solidFill>
            <a:prstDash val="solid"/>
            <a:miter/>
          </a:ln>
        </p:spPr>
        <p:txBody>
          <a:bodyPr lIns="91440" tIns="45720" rIns="91440" bIns="45720" anchor="ctr"/>
          <a:lstStyle/>
          <a:p>
            <a:pPr marL="171450" indent="-171450">
              <a:buFont typeface="Arial"/>
              <a:buChar char="•"/>
            </a:pPr>
            <a:r>
              <a:rPr lang="fr-FR" sz="1200" dirty="0">
                <a:latin typeface="Calibri" panose="020F0502020204030204" pitchFamily="34" charset="0"/>
                <a:cs typeface="Calibri" panose="020F0502020204030204" pitchFamily="34" charset="0"/>
              </a:rPr>
              <a:t>Modifier l'impact environnemental</a:t>
            </a:r>
            <a:endParaRPr lang="fr-FR" dirty="0"/>
          </a:p>
          <a:p>
            <a:pPr marL="171450" indent="-171450">
              <a:buFont typeface="Arial"/>
              <a:buChar char="•"/>
            </a:pPr>
            <a:r>
              <a:rPr lang="fr-FR" sz="1200" dirty="0">
                <a:latin typeface="Calibri" panose="020F0502020204030204" pitchFamily="34" charset="0"/>
                <a:cs typeface="Calibri" panose="020F0502020204030204" pitchFamily="34" charset="0"/>
              </a:rPr>
              <a:t>Mettre en œuvre une loi de comportement pour matériau stratifié</a:t>
            </a:r>
            <a:endParaRPr lang="fr-FR" sz="12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171450" indent="-171450">
              <a:buFont typeface="Arial"/>
              <a:buChar char="•"/>
            </a:pPr>
            <a:r>
              <a:rPr lang="fr-FR" sz="1200" dirty="0">
                <a:latin typeface="Calibri" panose="020F0502020204030204" pitchFamily="34" charset="0"/>
                <a:cs typeface="Calibri" panose="020F0502020204030204" pitchFamily="34" charset="0"/>
              </a:rPr>
              <a:t>Réaliser un dimensionnement détaillé (Outils de calcul métier)</a:t>
            </a:r>
            <a:endParaRPr lang="fr-FR" sz="12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171450" indent="-171450">
              <a:buFont typeface="Arial"/>
              <a:buChar char="•"/>
            </a:pPr>
            <a:r>
              <a:rPr lang="fr-FR" sz="1200" dirty="0">
                <a:latin typeface="Calibri" panose="020F0502020204030204" pitchFamily="34" charset="0"/>
                <a:cs typeface="Calibri" panose="020F0502020204030204" pitchFamily="34" charset="0"/>
              </a:rPr>
              <a:t>Développer des procédés hautes performances</a:t>
            </a:r>
            <a:endParaRPr lang="fr-FR" sz="120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171450" indent="-171450">
              <a:buFont typeface="Arial"/>
              <a:buChar char="•"/>
            </a:pPr>
            <a:r>
              <a:rPr lang="fr-FR" sz="1200" dirty="0">
                <a:latin typeface="Calibri" panose="020F0502020204030204" pitchFamily="34" charset="0"/>
                <a:cs typeface="Calibri" panose="020F0502020204030204" pitchFamily="34" charset="0"/>
              </a:rPr>
              <a:t>Optimiser la performance du produit conçu </a:t>
            </a:r>
            <a:endParaRPr lang="fr-FR" sz="12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7" name="Freeform 119">
            <a:extLst>
              <a:ext uri="{FF2B5EF4-FFF2-40B4-BE49-F238E27FC236}">
                <a16:creationId xmlns:a16="http://schemas.microsoft.com/office/drawing/2014/main" id="{719CE736-46BD-B480-C5CD-27FA633388B6}"/>
              </a:ext>
            </a:extLst>
          </p:cNvPr>
          <p:cNvSpPr/>
          <p:nvPr/>
        </p:nvSpPr>
        <p:spPr>
          <a:xfrm rot="16200000">
            <a:off x="-1859995" y="7172222"/>
            <a:ext cx="5089898" cy="607909"/>
          </a:xfrm>
          <a:custGeom>
            <a:avLst/>
            <a:gdLst/>
            <a:ahLst/>
            <a:cxnLst/>
            <a:rect l="l" t="t" r="r" b="b"/>
            <a:pathLst>
              <a:path w="4736979" h="214229">
                <a:moveTo>
                  <a:pt x="0" y="0"/>
                </a:moveTo>
                <a:lnTo>
                  <a:pt x="4736979" y="0"/>
                </a:lnTo>
                <a:lnTo>
                  <a:pt x="4736979" y="214229"/>
                </a:lnTo>
                <a:lnTo>
                  <a:pt x="0" y="214229"/>
                </a:lnTo>
                <a:close/>
              </a:path>
            </a:pathLst>
          </a:custGeom>
          <a:solidFill>
            <a:schemeClr val="bg1"/>
          </a:solidFill>
          <a:ln w="47625" cap="sq">
            <a:solidFill>
              <a:schemeClr val="tx1"/>
            </a:solidFill>
            <a:prstDash val="solid"/>
            <a:miter/>
          </a:ln>
        </p:spPr>
        <p:txBody>
          <a:bodyPr anchor="ctr"/>
          <a:lstStyle/>
          <a:p>
            <a:pPr algn="ctr"/>
            <a:r>
              <a:rPr lang="fr-FR" sz="2400" b="1">
                <a:latin typeface="Calibri" panose="020F0502020204030204" pitchFamily="34" charset="0"/>
                <a:cs typeface="Calibri" panose="020F0502020204030204" pitchFamily="34" charset="0"/>
              </a:rPr>
              <a:t>APPRENTISSAGES CRITIQUES</a:t>
            </a:r>
          </a:p>
        </p:txBody>
      </p:sp>
      <p:sp>
        <p:nvSpPr>
          <p:cNvPr id="18" name="Freeform 119">
            <a:extLst>
              <a:ext uri="{FF2B5EF4-FFF2-40B4-BE49-F238E27FC236}">
                <a16:creationId xmlns:a16="http://schemas.microsoft.com/office/drawing/2014/main" id="{1A84FD43-3B05-FC98-D97F-EE9473F84712}"/>
              </a:ext>
            </a:extLst>
          </p:cNvPr>
          <p:cNvSpPr/>
          <p:nvPr/>
        </p:nvSpPr>
        <p:spPr>
          <a:xfrm>
            <a:off x="1107010" y="4932645"/>
            <a:ext cx="1294559" cy="1603820"/>
          </a:xfrm>
          <a:custGeom>
            <a:avLst/>
            <a:gdLst/>
            <a:ahLst/>
            <a:cxnLst/>
            <a:rect l="l" t="t" r="r" b="b"/>
            <a:pathLst>
              <a:path w="4736979" h="214229">
                <a:moveTo>
                  <a:pt x="0" y="0"/>
                </a:moveTo>
                <a:lnTo>
                  <a:pt x="4736979" y="0"/>
                </a:lnTo>
                <a:lnTo>
                  <a:pt x="4736979" y="214229"/>
                </a:lnTo>
                <a:lnTo>
                  <a:pt x="0" y="214229"/>
                </a:lnTo>
                <a:close/>
              </a:path>
            </a:pathLst>
          </a:custGeom>
          <a:solidFill>
            <a:schemeClr val="tx1">
              <a:lumMod val="50000"/>
              <a:lumOff val="50000"/>
            </a:schemeClr>
          </a:solidFill>
          <a:ln w="38100" cap="sq">
            <a:solidFill>
              <a:schemeClr val="tx1">
                <a:lumMod val="50000"/>
                <a:lumOff val="50000"/>
              </a:schemeClr>
            </a:solidFill>
            <a:prstDash val="solid"/>
            <a:miter/>
          </a:ln>
        </p:spPr>
        <p:txBody>
          <a:bodyPr anchor="ctr"/>
          <a:lstStyle/>
          <a:p>
            <a:pPr algn="ctr"/>
            <a:r>
              <a:rPr lang="fr-FR" sz="3600">
                <a:latin typeface="Calibri" panose="020F0502020204030204" pitchFamily="34" charset="0"/>
                <a:cs typeface="Calibri" panose="020F0502020204030204" pitchFamily="34" charset="0"/>
              </a:rPr>
              <a:t>3A</a:t>
            </a:r>
          </a:p>
        </p:txBody>
      </p:sp>
      <p:sp>
        <p:nvSpPr>
          <p:cNvPr id="20" name="Freeform 119">
            <a:extLst>
              <a:ext uri="{FF2B5EF4-FFF2-40B4-BE49-F238E27FC236}">
                <a16:creationId xmlns:a16="http://schemas.microsoft.com/office/drawing/2014/main" id="{E558B4DC-9968-6F6A-4343-728BEC78C4EE}"/>
              </a:ext>
            </a:extLst>
          </p:cNvPr>
          <p:cNvSpPr/>
          <p:nvPr/>
        </p:nvSpPr>
        <p:spPr>
          <a:xfrm>
            <a:off x="1107010" y="6674975"/>
            <a:ext cx="1294559" cy="1603820"/>
          </a:xfrm>
          <a:custGeom>
            <a:avLst/>
            <a:gdLst/>
            <a:ahLst/>
            <a:cxnLst/>
            <a:rect l="l" t="t" r="r" b="b"/>
            <a:pathLst>
              <a:path w="4736979" h="214229">
                <a:moveTo>
                  <a:pt x="0" y="0"/>
                </a:moveTo>
                <a:lnTo>
                  <a:pt x="4736979" y="0"/>
                </a:lnTo>
                <a:lnTo>
                  <a:pt x="4736979" y="214229"/>
                </a:lnTo>
                <a:lnTo>
                  <a:pt x="0" y="214229"/>
                </a:lnTo>
                <a:close/>
              </a:path>
            </a:pathLst>
          </a:custGeom>
          <a:solidFill>
            <a:schemeClr val="bg1">
              <a:lumMod val="65000"/>
            </a:schemeClr>
          </a:solidFill>
          <a:ln w="38100" cap="sq">
            <a:solidFill>
              <a:schemeClr val="bg1">
                <a:lumMod val="65000"/>
              </a:schemeClr>
            </a:solidFill>
            <a:prstDash val="solid"/>
            <a:miter/>
          </a:ln>
        </p:spPr>
        <p:txBody>
          <a:bodyPr anchor="ctr"/>
          <a:lstStyle/>
          <a:p>
            <a:pPr algn="ctr"/>
            <a:r>
              <a:rPr lang="fr-FR" sz="3600">
                <a:latin typeface="Calibri" panose="020F0502020204030204" pitchFamily="34" charset="0"/>
                <a:cs typeface="Calibri" panose="020F0502020204030204" pitchFamily="34" charset="0"/>
              </a:rPr>
              <a:t>4A</a:t>
            </a:r>
          </a:p>
        </p:txBody>
      </p:sp>
      <p:sp>
        <p:nvSpPr>
          <p:cNvPr id="21" name="Freeform 119">
            <a:extLst>
              <a:ext uri="{FF2B5EF4-FFF2-40B4-BE49-F238E27FC236}">
                <a16:creationId xmlns:a16="http://schemas.microsoft.com/office/drawing/2014/main" id="{E2802C9B-A476-E7D6-2749-F7B7B292E244}"/>
              </a:ext>
            </a:extLst>
          </p:cNvPr>
          <p:cNvSpPr/>
          <p:nvPr/>
        </p:nvSpPr>
        <p:spPr>
          <a:xfrm>
            <a:off x="1107010" y="8417306"/>
            <a:ext cx="1294559" cy="1603820"/>
          </a:xfrm>
          <a:custGeom>
            <a:avLst/>
            <a:gdLst/>
            <a:ahLst/>
            <a:cxnLst/>
            <a:rect l="l" t="t" r="r" b="b"/>
            <a:pathLst>
              <a:path w="4736979" h="214229">
                <a:moveTo>
                  <a:pt x="0" y="0"/>
                </a:moveTo>
                <a:lnTo>
                  <a:pt x="4736979" y="0"/>
                </a:lnTo>
                <a:lnTo>
                  <a:pt x="4736979" y="214229"/>
                </a:lnTo>
                <a:lnTo>
                  <a:pt x="0" y="214229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  <a:ln w="38100" cap="sq">
            <a:solidFill>
              <a:schemeClr val="bg1">
                <a:lumMod val="85000"/>
              </a:schemeClr>
            </a:solidFill>
            <a:prstDash val="solid"/>
            <a:miter/>
          </a:ln>
        </p:spPr>
        <p:txBody>
          <a:bodyPr anchor="ctr"/>
          <a:lstStyle/>
          <a:p>
            <a:pPr algn="ctr"/>
            <a:r>
              <a:rPr lang="fr-FR" sz="3600">
                <a:latin typeface="Calibri" panose="020F0502020204030204" pitchFamily="34" charset="0"/>
                <a:cs typeface="Calibri" panose="020F0502020204030204" pitchFamily="34" charset="0"/>
              </a:rPr>
              <a:t>5A</a:t>
            </a:r>
          </a:p>
        </p:txBody>
      </p:sp>
      <p:sp>
        <p:nvSpPr>
          <p:cNvPr id="2" name="Freeform 119">
            <a:extLst>
              <a:ext uri="{FF2B5EF4-FFF2-40B4-BE49-F238E27FC236}">
                <a16:creationId xmlns:a16="http://schemas.microsoft.com/office/drawing/2014/main" id="{427F486D-B72E-0A6A-AA64-DB58A7D4D3D4}"/>
              </a:ext>
            </a:extLst>
          </p:cNvPr>
          <p:cNvSpPr/>
          <p:nvPr/>
        </p:nvSpPr>
        <p:spPr>
          <a:xfrm>
            <a:off x="5819123" y="3361609"/>
            <a:ext cx="5648741" cy="1467034"/>
          </a:xfrm>
          <a:custGeom>
            <a:avLst/>
            <a:gdLst/>
            <a:ahLst/>
            <a:cxnLst/>
            <a:rect l="l" t="t" r="r" b="b"/>
            <a:pathLst>
              <a:path w="4736979" h="214229">
                <a:moveTo>
                  <a:pt x="0" y="0"/>
                </a:moveTo>
                <a:lnTo>
                  <a:pt x="4736979" y="0"/>
                </a:lnTo>
                <a:lnTo>
                  <a:pt x="4736979" y="214229"/>
                </a:lnTo>
                <a:lnTo>
                  <a:pt x="0" y="214229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  <a:ln w="47625" cap="sq">
            <a:noFill/>
            <a:prstDash val="solid"/>
            <a:miter/>
          </a:ln>
        </p:spPr>
        <p:txBody>
          <a:bodyPr lIns="91440" tIns="45720" rIns="91440" bIns="45720" anchor="ctr"/>
          <a:lstStyle/>
          <a:p>
            <a:endParaRPr lang="fr-FR" b="1" dirty="0">
              <a:solidFill>
                <a:srgbClr val="000000"/>
              </a:solidFill>
              <a:ea typeface="+mn-lt"/>
              <a:cs typeface="+mn-lt"/>
            </a:endParaRPr>
          </a:p>
          <a:p>
            <a:pPr lvl="1">
              <a:buFont typeface="Arial" panose="020B0604020202020204" pitchFamily="34" charset="0"/>
              <a:buChar char="•"/>
            </a:pPr>
            <a:r>
              <a:rPr lang="fr-FR" dirty="0">
                <a:solidFill>
                  <a:srgbClr val="000000"/>
                </a:solidFill>
                <a:ea typeface="+mn-lt"/>
                <a:cs typeface="+mn-lt"/>
              </a:rPr>
              <a:t> Ingénieur qualité</a:t>
            </a:r>
            <a:endParaRPr lang="fr-FR">
              <a:ea typeface="Calibri"/>
              <a:cs typeface="Calibri"/>
            </a:endParaRPr>
          </a:p>
          <a:p>
            <a:pPr lvl="1">
              <a:buFont typeface="Arial" panose="020B0604020202020204" pitchFamily="34" charset="0"/>
              <a:buChar char="•"/>
            </a:pPr>
            <a:r>
              <a:rPr lang="fr-FR" dirty="0">
                <a:solidFill>
                  <a:srgbClr val="000000"/>
                </a:solidFill>
                <a:ea typeface="+mn-lt"/>
                <a:cs typeface="+mn-lt"/>
              </a:rPr>
              <a:t> Ingénieur calcul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fr-FR" dirty="0">
                <a:solidFill>
                  <a:srgbClr val="000000"/>
                </a:solidFill>
                <a:ea typeface="+mn-lt"/>
                <a:cs typeface="+mn-lt"/>
              </a:rPr>
              <a:t> Ingénieur essais</a:t>
            </a:r>
            <a:endParaRPr lang="fr-FR" dirty="0">
              <a:ea typeface="Calibri"/>
              <a:cs typeface="Calibri"/>
            </a:endParaRPr>
          </a:p>
          <a:p>
            <a:pPr lvl="1">
              <a:buFont typeface="Arial" panose="020B0604020202020204" pitchFamily="34" charset="0"/>
              <a:buChar char="•"/>
            </a:pPr>
            <a:r>
              <a:rPr lang="fr-FR" dirty="0">
                <a:solidFill>
                  <a:srgbClr val="000000"/>
                </a:solidFill>
                <a:ea typeface="+mn-lt"/>
                <a:cs typeface="+mn-lt"/>
              </a:rPr>
              <a:t> Ingénieur matériaux</a:t>
            </a:r>
            <a:endParaRPr lang="fr-FR">
              <a:ea typeface="Calibri"/>
              <a:cs typeface="Calibri"/>
            </a:endParaRPr>
          </a:p>
          <a:p>
            <a:pPr marL="914400" lvl="1" indent="-457200">
              <a:buFont typeface="Arial" panose="020B0604020202020204" pitchFamily="34" charset="0"/>
              <a:buChar char="•"/>
            </a:pPr>
            <a:endParaRPr lang="fr-FR" i="0" dirty="0">
              <a:solidFill>
                <a:srgbClr val="000000"/>
              </a:solidFill>
              <a:effectLst/>
              <a:latin typeface="Calibri" panose="020F0502020204030204" pitchFamily="34" charset="0"/>
              <a:ea typeface="Calibri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7754450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64984f8b-2057-4450-93f2-8aa5e6a062ce" xsi:nil="true"/>
    <lcf76f155ced4ddcb4097134ff3c332f xmlns="5a932de8-014e-4395-a210-acace869bdb6">
      <Terms xmlns="http://schemas.microsoft.com/office/infopath/2007/PartnerControls"/>
    </lcf76f155ced4ddcb4097134ff3c332f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07AAB16D528BF942AE30C8F5FA7E5E16" ma:contentTypeVersion="13" ma:contentTypeDescription="Create a new document." ma:contentTypeScope="" ma:versionID="ef141f578fb95b0eb90a671c5647a193">
  <xsd:schema xmlns:xsd="http://www.w3.org/2001/XMLSchema" xmlns:xs="http://www.w3.org/2001/XMLSchema" xmlns:p="http://schemas.microsoft.com/office/2006/metadata/properties" xmlns:ns2="5a932de8-014e-4395-a210-acace869bdb6" xmlns:ns3="64984f8b-2057-4450-93f2-8aa5e6a062ce" targetNamespace="http://schemas.microsoft.com/office/2006/metadata/properties" ma:root="true" ma:fieldsID="4d25ba230db756f9eb4d095c14916fc9" ns2:_="" ns3:_="">
    <xsd:import namespace="5a932de8-014e-4395-a210-acace869bdb6"/>
    <xsd:import namespace="64984f8b-2057-4450-93f2-8aa5e6a062ce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bjectDetectorVersions" minOccurs="0"/>
                <xsd:element ref="ns3:SharedWithUsers" minOccurs="0"/>
                <xsd:element ref="ns3:SharedWithDetails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DateTaken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a932de8-014e-4395-a210-acace869bdb6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bjectDetectorVersions" ma:index="10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lcf76f155ced4ddcb4097134ff3c332f" ma:index="14" nillable="true" ma:taxonomy="true" ma:internalName="lcf76f155ced4ddcb4097134ff3c332f" ma:taxonomyFieldName="MediaServiceImageTags" ma:displayName="Image Tags" ma:readOnly="false" ma:fieldId="{5cf76f15-5ced-4ddc-b409-7134ff3c332f}" ma:taxonomyMulti="true" ma:sspId="588c3168-a240-49a5-981b-89ab6abaef89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6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7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8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9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SearchProperties" ma:index="20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4984f8b-2057-4450-93f2-8aa5e6a062ce" elementFormDefault="qualified">
    <xsd:import namespace="http://schemas.microsoft.com/office/2006/documentManagement/types"/>
    <xsd:import namespace="http://schemas.microsoft.com/office/infopath/2007/PartnerControls"/>
    <xsd:element name="SharedWithUsers" ma:index="11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2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15" nillable="true" ma:displayName="Taxonomy Catch All Column" ma:hidden="true" ma:list="{554f566a-5540-4206-a119-8720727d0e6a}" ma:internalName="TaxCatchAll" ma:showField="CatchAllData" ma:web="64984f8b-2057-4450-93f2-8aa5e6a062ce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042A17D3-FE78-4414-A08A-CAC3FE3B5469}">
  <ds:schemaRefs>
    <ds:schemaRef ds:uri="5a932de8-014e-4395-a210-acace869bdb6"/>
    <ds:schemaRef ds:uri="64984f8b-2057-4450-93f2-8aa5e6a062ce"/>
    <ds:schemaRef ds:uri="http://schemas.microsoft.com/office/2006/metadata/properties"/>
    <ds:schemaRef ds:uri="http://schemas.microsoft.com/office/infopath/2007/PartnerControls"/>
  </ds:schemaRefs>
</ds:datastoreItem>
</file>

<file path=customXml/itemProps2.xml><?xml version="1.0" encoding="utf-8"?>
<ds:datastoreItem xmlns:ds="http://schemas.openxmlformats.org/officeDocument/2006/customXml" ds:itemID="{37A6D564-05FD-4CF8-84D0-CC4549585DF8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876D337C-2E44-477B-8812-89C60D4C15B7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5a932de8-014e-4395-a210-acace869bdb6"/>
    <ds:schemaRef ds:uri="64984f8b-2057-4450-93f2-8aa5e6a062c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251</TotalTime>
  <Words>1242</Words>
  <Application>Microsoft Office PowerPoint</Application>
  <PresentationFormat>Personnalisé</PresentationFormat>
  <Paragraphs>186</Paragraphs>
  <Slides>7</Slides>
  <Notes>6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7</vt:i4>
      </vt:variant>
    </vt:vector>
  </HeadingPairs>
  <TitlesOfParts>
    <vt:vector size="8" baseType="lpstr">
      <vt:lpstr>Office Theme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Template Cartographie</dc:title>
  <cp:lastModifiedBy>marc skerrett</cp:lastModifiedBy>
  <cp:revision>201</cp:revision>
  <dcterms:created xsi:type="dcterms:W3CDTF">2006-08-16T00:00:00Z</dcterms:created>
  <dcterms:modified xsi:type="dcterms:W3CDTF">2025-10-28T20:41:56Z</dcterms:modified>
  <dc:identifier>DAGc1mWC1s8</dc:identifier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0x01010007AAB16D528BF942AE30C8F5FA7E5E16</vt:lpwstr>
  </property>
  <property fmtid="{D5CDD505-2E9C-101B-9397-08002B2CF9AE}" pid="3" name="MediaServiceImageTags">
    <vt:lpwstr/>
  </property>
</Properties>
</file>