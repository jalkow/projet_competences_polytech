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66" r:id="rId5"/>
    <p:sldId id="276" r:id="rId6"/>
    <p:sldId id="274" r:id="rId7"/>
    <p:sldId id="277" r:id="rId8"/>
    <p:sldId id="27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9831"/>
    <a:srgbClr val="FEF3C2"/>
    <a:srgbClr val="8C4BE2"/>
    <a:srgbClr val="4FA954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2F47C-6BE4-48E2-9257-F10355CA32F6}" v="8" dt="2025-12-08T19:41:30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558" autoAdjust="0"/>
  </p:normalViewPr>
  <p:slideViewPr>
    <p:cSldViewPr>
      <p:cViewPr varScale="1">
        <p:scale>
          <a:sx n="80" d="100"/>
          <a:sy n="80" d="100"/>
        </p:scale>
        <p:origin x="97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BD72F47C-6BE4-48E2-9257-F10355CA32F6}"/>
    <pc:docChg chg="modSld">
      <pc:chgData name="Marc Skerrett" userId="S::marc.skerrett@univ-smb.fr::5838212c-6006-4602-b097-e4ba2e4953e8" providerId="AD" clId="Web-{BD72F47C-6BE4-48E2-9257-F10355CA32F6}" dt="2025-12-08T19:41:30.548" v="6" actId="20577"/>
      <pc:docMkLst>
        <pc:docMk/>
      </pc:docMkLst>
      <pc:sldChg chg="modSp">
        <pc:chgData name="Marc Skerrett" userId="S::marc.skerrett@univ-smb.fr::5838212c-6006-4602-b097-e4ba2e4953e8" providerId="AD" clId="Web-{BD72F47C-6BE4-48E2-9257-F10355CA32F6}" dt="2025-12-08T19:41:30.548" v="6" actId="20577"/>
        <pc:sldMkLst>
          <pc:docMk/>
          <pc:sldMk cId="3477544508" sldId="277"/>
        </pc:sldMkLst>
        <pc:spChg chg="mod">
          <ac:chgData name="Marc Skerrett" userId="S::marc.skerrett@univ-smb.fr::5838212c-6006-4602-b097-e4ba2e4953e8" providerId="AD" clId="Web-{BD72F47C-6BE4-48E2-9257-F10355CA32F6}" dt="2025-12-08T19:41:30.548" v="6" actId="20577"/>
          <ac:spMkLst>
            <pc:docMk/>
            <pc:sldMk cId="3477544508" sldId="277"/>
            <ac:spMk id="19" creationId="{33DF3E8D-28FA-4FAC-01FF-DE8EF5EA22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Écologie industrielle et territoriale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lvl="0" algn="ctr"/>
            <a:r>
              <a:rPr lang="fr-FR" sz="2800" b="1" dirty="0">
                <a:solidFill>
                  <a:schemeClr val="bg1"/>
                </a:solidFill>
              </a:rPr>
              <a:t>Concevoir une stratégie</a:t>
            </a:r>
            <a:endParaRPr lang="fr-FR" sz="2800" b="1" dirty="0">
              <a:solidFill>
                <a:schemeClr val="bg1"/>
              </a:solidFill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</a:rPr>
              <a:t>Dimensionner des systèmes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6477000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b="1" dirty="0">
                <a:solidFill>
                  <a:schemeClr val="bg1"/>
                </a:solidFill>
              </a:rPr>
              <a:t>Conduire des missions 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une stratégie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1400" dirty="0"/>
              <a:t>Études d'impact environnemental (milieu aquatique, air, déchets...)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1400" dirty="0"/>
              <a:t>Études et conseils sur les stratégies de planification énergétique  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1400" dirty="0"/>
              <a:t>Management environnemental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1400" dirty="0"/>
              <a:t>Études et conseils sur la mise en place d'une stratégie d’écologie industrielle (intra ou inter-entreprises).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endParaRPr lang="fr-FR" sz="20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adoptant des raisonnements scientifiques et des outils pertinents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examinant de façon critique la validité des scénarios possibles en lien avec le cahier des charges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prenant en compte les objectifs du développement durable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efficacement avec les parties prenantes internes et externes 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fr-FR" sz="1200" dirty="0"/>
          </a:p>
          <a:p>
            <a:pPr lvl="1"/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Inventorier </a:t>
            </a:r>
            <a:r>
              <a:rPr lang="fr-FR" sz="2000" dirty="0"/>
              <a:t>les ressources disponibles et valorisables sur un territoire</a:t>
            </a:r>
          </a:p>
          <a:p>
            <a:r>
              <a:rPr lang="fr-FR" sz="2000" dirty="0"/>
              <a:t>Identifier les acteurs et leurs interactions au sein d’un territoire</a:t>
            </a:r>
          </a:p>
          <a:p>
            <a:r>
              <a:rPr lang="fr-FR" sz="2000" dirty="0"/>
              <a:t>Analyser un écosystème territorial et les échelles associées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2000" dirty="0"/>
              <a:t>Analyser un scénario d'écologie industrielle ou territoriale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2000" dirty="0"/>
              <a:t>Évaluer les performances énergétiques et environnementales d'une installation ;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Rédiger un rapport technique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Analyser les flux de matières et d’énergies d’un territoire </a:t>
            </a:r>
          </a:p>
          <a:p>
            <a:r>
              <a:rPr lang="fr-FR" sz="2000" dirty="0"/>
              <a:t>Concevoir un plan d'action d’écologie industrielle ou territorial</a:t>
            </a:r>
          </a:p>
          <a:p>
            <a:pPr lvl="0"/>
            <a:r>
              <a:rPr lang="fr-FR" sz="2000" dirty="0"/>
              <a:t>Intégrer les contraintes réglementaires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Évaluation des enjeux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Analyse d’une stratégie EIT</a:t>
            </a:r>
          </a:p>
          <a:p>
            <a:pPr algn="ctr"/>
            <a:endParaRPr lang="fr-F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  <a:p>
            <a:pPr algn="ctr"/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Conception d’une stratégie  </a:t>
            </a: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Dimensionner des systèmes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endParaRPr lang="fr-FR" sz="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 la dimension environnementale, économique et territoriale 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ea typeface="Calibri"/>
                <a:cs typeface="Calibri"/>
              </a:rPr>
              <a:t>en utilisant des outils et méthodes adaptées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adoptant une vision stratégique globale ; </a:t>
            </a:r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ea typeface="Calibri"/>
                <a:cs typeface="Calibri"/>
              </a:rPr>
              <a:t>en justifiant ses choix de manière adaptée, étayée et précise ;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1600" dirty="0"/>
              <a:t>- Analyse énergétique et environnementale d'un système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1600" dirty="0"/>
              <a:t>- Dimensionnement de solutions techniques innovantes en répondant à l'expression des besoins 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1600" dirty="0"/>
              <a:t> Pilotage et suivi d'une installation énergétique ou de traitement 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Choisir des composants d'un système hydraulique et énergétique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Dimensionner les composants d’un système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Analyser les performances d’un système ; 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Proposer une filière de traitement des eaux résiduaires 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Dimensionner les opérations unitaires de la filière de traitement 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Rédiger le rapport d'avant-projet ;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 Dimensionner le système global conciliant les enjeux énergétiques et environnementaux d'un territoire 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Intégrer des solutions innovantes au projet ; 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 ….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  <a:p>
            <a:pPr algn="ctr"/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Dimensionnement d’un système énergétique</a:t>
            </a:r>
          </a:p>
          <a:p>
            <a:pPr algn="ctr"/>
            <a:endParaRPr lang="fr-F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  <a:p>
            <a:pPr algn="ctr"/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Dimensionnement d’une filière de traitement des eaux</a:t>
            </a:r>
          </a:p>
          <a:p>
            <a:pPr algn="ctr"/>
            <a:endParaRPr lang="fr-FR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  <a:p>
            <a:pPr algn="ctr"/>
            <a:r>
              <a:rPr lang="fr-FR" sz="1100" dirty="0"/>
              <a:t>Dimensionnement de solutions intégratives</a:t>
            </a:r>
            <a:endParaRPr lang="fr-F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Conduire des missions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2400" dirty="0"/>
              <a:t> en coopérant efficacement avec les différentes parties prenantes ;</a:t>
            </a:r>
          </a:p>
          <a:p>
            <a:pPr lvl="0">
              <a:buFont typeface="Calibri"/>
              <a:buChar char="-"/>
            </a:pPr>
            <a:r>
              <a:rPr lang="fr-FR" sz="2400" dirty="0"/>
              <a:t> en mettant en œuvre des outils et des méthodes de gestion appropriées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2400" dirty="0"/>
              <a:t> en intégrant les aspects économiques et les enjeux du développement durable ; 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2400" dirty="0"/>
              <a:t> en utilisant une communication adaptée.</a:t>
            </a:r>
          </a:p>
          <a:p>
            <a:pPr lvl="0"/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52578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1400" dirty="0"/>
              <a:t> Assistance à maitrise d’ouvrages			</a:t>
            </a:r>
          </a:p>
          <a:p>
            <a:pPr lvl="0"/>
            <a:r>
              <a:rPr lang="fr-FR" sz="1400" dirty="0"/>
              <a:t>- Exploitation</a:t>
            </a:r>
          </a:p>
          <a:p>
            <a:pPr lvl="0"/>
            <a:r>
              <a:rPr lang="fr-FR" sz="1400" dirty="0"/>
              <a:t>- Bureau d’études				</a:t>
            </a:r>
          </a:p>
          <a:p>
            <a:pPr lvl="0"/>
            <a:endParaRPr lang="fr-FR" sz="1400" dirty="0"/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 Identifier l’organisation fonctionnelle de la structure d’accueil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 Participer à un projet / une organisation (entreprise, collectivité locale, association, …) 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 Analyser les pratiques professionnelles (organisation du travail, sécurité, politique développement durable)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Formaliser les attendus du cahier des charges du projet 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Planifier les différentes tâches opérationnelles 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/>
              <a:t>Rédiger un rapport technique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Situer son projet par rapport à l’état de l’art des connaissances et/ou des pratiques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Assurer le suivi d'un projet ; 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Produire des documents dans un contexte professionnel ; </a:t>
            </a:r>
          </a:p>
          <a:p>
            <a:endParaRPr lang="fr-FR" sz="2000" dirty="0">
              <a:highlight>
                <a:srgbClr val="FFFF00"/>
              </a:highlight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Participer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Planifier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Piloter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346E2632-87D9-4053-86E2-EBEA8F5CE3B8}"/>
              </a:ext>
            </a:extLst>
          </p:cNvPr>
          <p:cNvSpPr/>
          <p:nvPr/>
        </p:nvSpPr>
        <p:spPr>
          <a:xfrm>
            <a:off x="5867400" y="3361608"/>
            <a:ext cx="52578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endParaRPr lang="fr-FR" sz="1400" dirty="0"/>
          </a:p>
          <a:p>
            <a:r>
              <a:rPr lang="fr-FR" sz="1400" dirty="0"/>
              <a:t>- Animateur/coordinateur d’écologie industrielle et territoriale</a:t>
            </a:r>
          </a:p>
          <a:p>
            <a:pPr lvl="0"/>
            <a:r>
              <a:rPr lang="fr-FR" sz="1400" dirty="0"/>
              <a:t>- Chargé d’affaire				</a:t>
            </a:r>
          </a:p>
          <a:p>
            <a:pPr lvl="0"/>
            <a:r>
              <a:rPr lang="fr-FR" sz="1400" dirty="0"/>
              <a:t>- Animateur de projets en sécurité environnementale</a:t>
            </a:r>
          </a:p>
          <a:p>
            <a:pPr lvl="0"/>
            <a:r>
              <a:rPr lang="fr-FR" sz="1400" dirty="0"/>
              <a:t>				</a:t>
            </a:r>
          </a:p>
          <a:p>
            <a:pPr lvl="0"/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2049262f1a86be48e01f0aadccb8241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09507c88f6944a8f4a2dea2f9bd036e0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6769C0-5A66-48EF-9758-77E8119F70E6}"/>
</file>

<file path=customXml/itemProps2.xml><?xml version="1.0" encoding="utf-8"?>
<ds:datastoreItem xmlns:ds="http://schemas.openxmlformats.org/officeDocument/2006/customXml" ds:itemID="{F9CCC2DD-1699-46C1-A7C2-03FA48A075C5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customXml/itemProps3.xml><?xml version="1.0" encoding="utf-8"?>
<ds:datastoreItem xmlns:ds="http://schemas.openxmlformats.org/officeDocument/2006/customXml" ds:itemID="{035C9EB0-9582-47DA-B9A8-5978EA644B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16753</TotalTime>
  <Words>580</Words>
  <Application>Microsoft Office PowerPoint</Application>
  <PresentationFormat>Personnalisé</PresentationFormat>
  <Paragraphs>104</Paragraphs>
  <Slides>5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47</cp:revision>
  <dcterms:created xsi:type="dcterms:W3CDTF">2006-08-16T00:00:00Z</dcterms:created>
  <dcterms:modified xsi:type="dcterms:W3CDTF">2025-12-08T19:41:34Z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