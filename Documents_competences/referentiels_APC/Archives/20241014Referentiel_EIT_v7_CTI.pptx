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9"/>
  </p:notesMasterIdLst>
  <p:sldIdLst>
    <p:sldId id="256" r:id="rId5"/>
    <p:sldId id="260" r:id="rId6"/>
    <p:sldId id="261" r:id="rId7"/>
    <p:sldId id="262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0" autoAdjust="0"/>
    <p:restoredTop sz="94577"/>
  </p:normalViewPr>
  <p:slideViewPr>
    <p:cSldViewPr snapToGrid="0">
      <p:cViewPr>
        <p:scale>
          <a:sx n="130" d="100"/>
          <a:sy n="130" d="100"/>
        </p:scale>
        <p:origin x="162" y="-2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9ADC4-059C-4D47-BCC7-60E0443CB084}" type="datetimeFigureOut">
              <a:rPr lang="es-ES_tradnl" smtClean="0"/>
              <a:t>01/05/2025</a:t>
            </a:fld>
            <a:endParaRPr lang="es-ES_tradnl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_tradnl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3C254-E0D8-0A44-8769-599171E48F75}" type="slidenum">
              <a:rPr lang="es-ES_tradnl" smtClean="0"/>
              <a:t>‹N°›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164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C254-E0D8-0A44-8769-599171E48F75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6101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01/05/2025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2256398"/>
            <a:ext cx="1850571" cy="17419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lvl="0" algn="ctr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b="1" dirty="0">
                <a:solidFill>
                  <a:schemeClr val="tx1"/>
                </a:solidFill>
              </a:rPr>
              <a:t>RNCP38675BC01</a:t>
            </a:r>
            <a:endParaRPr lang="fr-FR" sz="1200" b="1" dirty="0">
              <a:solidFill>
                <a:schemeClr val="tx1"/>
              </a:solidFill>
              <a:latin typeface="Myriad Pr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2256398"/>
            <a:ext cx="1850571" cy="17419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Proposer et mettre en œuvre des méthodes d’ingénierie avec une vision stratégique globale</a:t>
            </a:r>
          </a:p>
          <a:p>
            <a:pPr lvl="0" algn="ctr"/>
            <a:endParaRPr lang="fr-FR" sz="1200" dirty="0">
              <a:effectLst/>
            </a:endParaRP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RNCP38675BC02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2503714" y="4203086"/>
            <a:ext cx="1850571" cy="15267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Conduire un projet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dans un contexte d'écologie industrielle et territoriale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RNCP38675BC04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RNCP38675BC05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0041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205B1F-198E-B399-CECE-1E83339E6E85}"/>
              </a:ext>
            </a:extLst>
          </p:cNvPr>
          <p:cNvSpPr txBox="1"/>
          <p:nvPr/>
        </p:nvSpPr>
        <p:spPr>
          <a:xfrm>
            <a:off x="1180254" y="904701"/>
            <a:ext cx="450309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 dirty="0"/>
              <a:t>VUE D’ENSEMBLE DES COMPÉTENCES</a:t>
            </a:r>
            <a:br>
              <a:rPr lang="fr-FR" dirty="0"/>
            </a:br>
            <a:r>
              <a:rPr lang="fr-FR" dirty="0">
                <a:ea typeface="Calibri"/>
                <a:cs typeface="Calibri"/>
              </a:rPr>
              <a:t>Spécialité : Écologie Industrielle et territoriale 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identifiant les principes et raisonnements scientifiques et les technologies adaptées aux enjeux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analysant de manière critique les flux matière, énergie...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sélectionnant les outils pertinents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examinant de façon critique la validité technico-économique et règlementaire des scénarios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 identifiant des moyens d’exploiter durablement les ressources locales ou industrielles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  <a:latin typeface="+mn-lt"/>
              </a:rPr>
              <a:t> en prenant en compte les objectifs du développement durable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communiquant efficacement avec les parties prenantes internes et externes.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d'impact environnemental (milieu aquatique, air, déchets...)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et conseils sur les stratégies de planification énergétique  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Management environnemental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Etudes et conseils sur la mise en place d'une stratégie d’écologie industrielle (intra ou inter-entreprises).</a:t>
            </a:r>
          </a:p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1142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051387"/>
            <a:ext cx="4689078" cy="126311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r>
              <a:rPr lang="fr-FR" sz="1000" dirty="0"/>
              <a:t>Évaluer les enjeux liés à l’écologie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algn="ctr"/>
            <a:r>
              <a:rPr lang="fr-FR" sz="1000" dirty="0"/>
              <a:t>Concevoir une stratégie d’écologie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89794"/>
            <a:ext cx="1850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Mettre en œuvre une stratégie d'écologie industrielle et territoriale dans un contexte professionnel spécifique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lvl="0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dirty="0">
                <a:solidFill>
                  <a:schemeClr val="tx1"/>
                </a:solidFill>
              </a:rPr>
              <a:t>RNCP38675BC01</a:t>
            </a:r>
            <a:endParaRPr lang="fr-FR" sz="1200" dirty="0">
              <a:solidFill>
                <a:schemeClr val="tx1"/>
              </a:solidFill>
              <a:latin typeface="Myriad Pro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915859"/>
            <a:ext cx="4603426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/>
            <a:r>
              <a:rPr lang="fr-FR" sz="900" b="1" dirty="0"/>
              <a:t>AC 1.1</a:t>
            </a:r>
            <a:r>
              <a:rPr lang="fr-FR" sz="900" dirty="0"/>
              <a:t> Identifier les ressources disponibles et valorisables sur un territoire pour leur potentielle exploitation ;</a:t>
            </a:r>
          </a:p>
          <a:p>
            <a:r>
              <a:rPr lang="fr-FR" sz="900" b="1" dirty="0"/>
              <a:t>AC 1.2</a:t>
            </a:r>
            <a:r>
              <a:rPr lang="fr-FR" sz="900" dirty="0"/>
              <a:t>  Analyser un système et les grandeurs associées en vue de réaliser un bilan macroscopique de masse et/ou d'énergie ;</a:t>
            </a:r>
          </a:p>
          <a:p>
            <a:r>
              <a:rPr lang="fr-FR" sz="900" b="1" dirty="0"/>
              <a:t>AC 1.3</a:t>
            </a:r>
            <a:r>
              <a:rPr lang="fr-FR" sz="900" dirty="0"/>
              <a:t>  Identifier les liés aux problématiques territoriales</a:t>
            </a:r>
            <a:endParaRPr lang="fr-FR" sz="900" dirty="0"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117912" y="4893050"/>
            <a:ext cx="45031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900" b="1" dirty="0"/>
              <a:t>AC 1.4</a:t>
            </a:r>
            <a:r>
              <a:rPr lang="fr-FR" sz="900" dirty="0"/>
              <a:t> Concevoir un scénario d'écologie industrielle ou territoriale ;</a:t>
            </a:r>
          </a:p>
          <a:p>
            <a:pPr lvl="0"/>
            <a:r>
              <a:rPr lang="fr-FR" sz="900" b="1" dirty="0"/>
              <a:t>AC 1.5</a:t>
            </a:r>
            <a:r>
              <a:rPr lang="fr-FR" sz="900" dirty="0"/>
              <a:t> Caractériser les principales sources d’émission (polluants, déchets, énergie) ;</a:t>
            </a:r>
          </a:p>
          <a:p>
            <a:pPr lvl="0"/>
            <a:r>
              <a:rPr lang="fr-FR" sz="900" b="1" dirty="0"/>
              <a:t>AC 1.6</a:t>
            </a:r>
            <a:r>
              <a:rPr lang="fr-FR" sz="900" dirty="0"/>
              <a:t> Evaluer leur potentiel de conversion ou de valorisation ;</a:t>
            </a:r>
          </a:p>
          <a:p>
            <a:pPr lvl="0"/>
            <a:r>
              <a:rPr lang="fr-FR" sz="900" b="1" dirty="0"/>
              <a:t>AC 1.7 </a:t>
            </a:r>
            <a:r>
              <a:rPr lang="fr-FR" sz="900" dirty="0"/>
              <a:t>Evaluer les performances énergétiques et environnementales d'une installation ;</a:t>
            </a:r>
          </a:p>
          <a:p>
            <a:pPr lvl="0"/>
            <a:r>
              <a:rPr lang="fr-FR" sz="900" b="1" dirty="0"/>
              <a:t>AC 1.8</a:t>
            </a:r>
            <a:r>
              <a:rPr lang="fr-FR" sz="900" dirty="0"/>
              <a:t> Mettre en œuvre une méthodologie de surveillance des impacts environnementaux ;</a:t>
            </a:r>
          </a:p>
          <a:p>
            <a:pPr lvl="0"/>
            <a:r>
              <a:rPr lang="fr-FR" sz="900" b="1" dirty="0"/>
              <a:t>AC 1.9</a:t>
            </a:r>
            <a:r>
              <a:rPr lang="fr-FR" sz="900" dirty="0"/>
              <a:t> Rédiger et défendre un rapport technique.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085022" y="6020437"/>
            <a:ext cx="4689078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/>
              <a:t>AC 1.10</a:t>
            </a:r>
            <a:r>
              <a:rPr lang="fr-FR" sz="900" dirty="0"/>
              <a:t> Situer son projet par rapport à l’état de l’art des connaissances et/ou des pratiques ;</a:t>
            </a:r>
          </a:p>
          <a:p>
            <a:pPr lvl="0"/>
            <a:r>
              <a:rPr lang="fr-FR" sz="900" b="1" dirty="0"/>
              <a:t>AC 1.11</a:t>
            </a:r>
            <a:r>
              <a:rPr lang="fr-FR" sz="900" dirty="0"/>
              <a:t> Concevoir un plan d'action  d’écologie industrielle ou territorial dans un contexte professionnel spécifique ;</a:t>
            </a:r>
          </a:p>
          <a:p>
            <a:pPr lvl="0"/>
            <a:r>
              <a:rPr lang="fr-FR" sz="900" b="1" dirty="0"/>
              <a:t>AC 1.12</a:t>
            </a:r>
            <a:r>
              <a:rPr lang="fr-FR" sz="900" dirty="0"/>
              <a:t> Intégrer les contraintes réglementaires et les spécificités rencontrées dans ce contexte spécifique ;</a:t>
            </a:r>
          </a:p>
          <a:p>
            <a:pPr lvl="0"/>
            <a:r>
              <a:rPr lang="fr-FR" sz="900" b="1" dirty="0"/>
              <a:t>AC 1.13</a:t>
            </a:r>
            <a:r>
              <a:rPr lang="fr-FR" sz="900" dirty="0"/>
              <a:t> Utiliser des outils et logiciels métiers adaptés au contexte spécifique pour le traitement des données ;</a:t>
            </a:r>
          </a:p>
          <a:p>
            <a:pPr lvl="0"/>
            <a:r>
              <a:rPr lang="fr-FR" sz="900" b="1" dirty="0"/>
              <a:t>AC 1.14</a:t>
            </a:r>
            <a:r>
              <a:rPr lang="fr-FR" sz="900" dirty="0"/>
              <a:t> Interagir avec les parties prenantes internes et externes au projet ;</a:t>
            </a:r>
          </a:p>
          <a:p>
            <a:pPr lvl="0"/>
            <a:r>
              <a:rPr lang="fr-FR" sz="900" b="1" dirty="0"/>
              <a:t>AC 1.15</a:t>
            </a:r>
            <a:r>
              <a:rPr lang="fr-FR" sz="900" dirty="0"/>
              <a:t> Rédiger et défendre un rapport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F5E151-4D83-05A6-0071-DF632FE73A95}"/>
              </a:ext>
            </a:extLst>
          </p:cNvPr>
          <p:cNvSpPr txBox="1"/>
          <p:nvPr/>
        </p:nvSpPr>
        <p:spPr bwMode="auto">
          <a:xfrm>
            <a:off x="115170" y="7990891"/>
            <a:ext cx="3209533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PROJ522 : APP Dynamique territoriale et gestion des déchets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PROJ721 : APP Collecte et incinération des déchets (à créer)</a:t>
            </a:r>
          </a:p>
          <a:p>
            <a:pPr lvl="0">
              <a:defRPr/>
            </a:pPr>
            <a:r>
              <a:rPr lang="fr-FR" sz="800" dirty="0"/>
              <a:t>- Niveau 3 : PROJ901 : Projet Recherche et Développement (à créer)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B7DFD3-E5DE-E77C-FAEC-0798F55646B5}"/>
              </a:ext>
            </a:extLst>
          </p:cNvPr>
          <p:cNvSpPr/>
          <p:nvPr/>
        </p:nvSpPr>
        <p:spPr>
          <a:xfrm>
            <a:off x="115172" y="10041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prenant en compte la performance des systèmes et des procédés;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optimisant l'utilisation des ressources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assurant la conformité aux normes et règlementations en vigueur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communiquant de manière adaptée, étayée et précise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adoptant une démarche structurée de gestion de projet.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Analyse énergétique et environnementale d'un système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Dimensionnement de solutions techniques innovantes en répondant à l'expression des besoins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</a:rPr>
              <a:t>Pilotage et suivi d'une installation énergétique ou de traitement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201337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06807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000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Dimensionner des composants énergétiques et analyser le système global</a:t>
            </a:r>
            <a:endParaRPr lang="fr-FR" sz="10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dimensionner une filière de traitement des eaux résiduaires ou industrielles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proposer des solutions techniques intégratives adaptées aux besoins d'un territoire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48173"/>
            <a:ext cx="1880642" cy="13167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Proposer et mettre en œuvre des méthodes d’ingénierie avec une vision stratégique globale</a:t>
            </a:r>
          </a:p>
          <a:p>
            <a:pPr lvl="0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RNCP38675BC02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889788"/>
            <a:ext cx="41105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dirty="0"/>
              <a:t> </a:t>
            </a:r>
            <a:r>
              <a:rPr lang="fr-FR" sz="900" b="1" dirty="0"/>
              <a:t>AC 2.1 </a:t>
            </a:r>
            <a:r>
              <a:rPr lang="fr-FR" sz="900" dirty="0"/>
              <a:t>Travailler en équipe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2.2 </a:t>
            </a:r>
            <a:r>
              <a:rPr lang="fr-FR" sz="900" dirty="0"/>
              <a:t>Choisir des composants d'un système hydraulique et énergétique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2.3 </a:t>
            </a:r>
            <a:r>
              <a:rPr lang="fr-FR" sz="900" dirty="0"/>
              <a:t>Dimensionner les composants d’un système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2.4 </a:t>
            </a:r>
            <a:r>
              <a:rPr lang="fr-FR" sz="900" dirty="0"/>
              <a:t>Analyser les performances d’un système ; 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2.5 </a:t>
            </a:r>
            <a:r>
              <a:rPr lang="fr-FR" sz="900" dirty="0"/>
              <a:t>Rédiger un rapport technique.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085021" y="4992080"/>
            <a:ext cx="4828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2.6 </a:t>
            </a:r>
            <a:r>
              <a:rPr lang="fr-FR" sz="900" dirty="0"/>
              <a:t>Sélectionner une filière de traitement des eaux résiduaires répondant au cahier des charges ;</a:t>
            </a:r>
          </a:p>
          <a:p>
            <a:pPr lvl="0"/>
            <a:r>
              <a:rPr lang="fr-FR" sz="900" b="1" dirty="0"/>
              <a:t>AC 2.7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Planifier les tâches, les méthodes et les outils pour le travail d'équipe ;</a:t>
            </a:r>
          </a:p>
          <a:p>
            <a:pPr lvl="0"/>
            <a:r>
              <a:rPr lang="fr-FR" sz="900" b="1" dirty="0"/>
              <a:t>AC 2.8</a:t>
            </a:r>
            <a:r>
              <a:rPr lang="fr-FR" sz="900" dirty="0"/>
              <a:t> Dimensionner les opérations unitaires et la filière complète de traitement ;</a:t>
            </a:r>
          </a:p>
          <a:p>
            <a:pPr lvl="0"/>
            <a:r>
              <a:rPr lang="fr-FR" sz="900" b="1" dirty="0"/>
              <a:t>AC 2.9</a:t>
            </a:r>
            <a:r>
              <a:rPr lang="fr-FR" sz="900" dirty="0"/>
              <a:t> Rédiger le rapport d'avant-projet ;</a:t>
            </a:r>
          </a:p>
          <a:p>
            <a:pPr lvl="0"/>
            <a:r>
              <a:rPr lang="fr-FR" sz="900" b="1" dirty="0"/>
              <a:t>AC 2.10</a:t>
            </a:r>
            <a:r>
              <a:rPr lang="fr-FR" sz="900" dirty="0"/>
              <a:t> Présenter et défendre la solution proposée ;</a:t>
            </a:r>
          </a:p>
          <a:p>
            <a:pPr lvl="0"/>
            <a:r>
              <a:rPr lang="fr-FR" sz="900" b="1" dirty="0"/>
              <a:t>AC 2.11</a:t>
            </a:r>
            <a:r>
              <a:rPr lang="fr-FR" sz="900" dirty="0"/>
              <a:t> Travailler en équipe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073484" y="6255191"/>
            <a:ext cx="4603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dirty="0"/>
              <a:t> </a:t>
            </a:r>
            <a:r>
              <a:rPr lang="fr-FR" sz="900" b="1" dirty="0"/>
              <a:t>AC 2.12 </a:t>
            </a:r>
            <a:r>
              <a:rPr lang="fr-FR" sz="900" dirty="0"/>
              <a:t>Identifier les ressources et besoins d'un territoire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2.13 </a:t>
            </a:r>
            <a:r>
              <a:rPr lang="fr-FR" sz="900" dirty="0"/>
              <a:t>Identifier les contraintes (règlementaires, économiques, sociétales...)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2.14 </a:t>
            </a:r>
            <a:r>
              <a:rPr lang="fr-FR" sz="900" dirty="0"/>
              <a:t>Proposer des solutions conciliant les enjeux énergétiques et environnementaux d'un territoire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2.15 </a:t>
            </a:r>
            <a:r>
              <a:rPr lang="fr-FR" sz="900" dirty="0"/>
              <a:t>Dimensionner le système global ;</a:t>
            </a:r>
          </a:p>
          <a:p>
            <a:pPr lvl="0"/>
            <a:r>
              <a:rPr lang="fr-FR" sz="900" dirty="0"/>
              <a:t> </a:t>
            </a:r>
            <a:r>
              <a:rPr lang="fr-FR" sz="900" b="1" dirty="0"/>
              <a:t>AC 2.16 </a:t>
            </a:r>
            <a:r>
              <a:rPr lang="fr-FR" sz="900" dirty="0"/>
              <a:t>Rédiger et défendre un rapport 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27E312C-2618-49AF-55AC-6A87C68B6EFC}"/>
              </a:ext>
            </a:extLst>
          </p:cNvPr>
          <p:cNvSpPr txBox="1"/>
          <p:nvPr/>
        </p:nvSpPr>
        <p:spPr bwMode="auto">
          <a:xfrm>
            <a:off x="115170" y="7990891"/>
            <a:ext cx="3166251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PROJ621 : APP Réseau de chaleur et énergies renouvelables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PROJ821 : APP Traitement des effluents</a:t>
            </a:r>
          </a:p>
          <a:p>
            <a:pPr lvl="0">
              <a:defRPr/>
            </a:pPr>
            <a:r>
              <a:rPr lang="fr-FR" sz="800" dirty="0"/>
              <a:t>- Niveau 3 : PROJ921 : APP Symbiose industrielle de </a:t>
            </a:r>
            <a:r>
              <a:rPr lang="fr-FR" sz="800" dirty="0" err="1"/>
              <a:t>Bissy</a:t>
            </a:r>
            <a:r>
              <a:rPr lang="fr-FR" sz="800" dirty="0"/>
              <a:t> (à créer)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62F473-334E-EB0D-6571-14764DFDE9B4}"/>
              </a:ext>
            </a:extLst>
          </p:cNvPr>
          <p:cNvSpPr/>
          <p:nvPr/>
        </p:nvSpPr>
        <p:spPr>
          <a:xfrm>
            <a:off x="115172" y="8067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56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coopérant efficacement avec les différentes parties prenantes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s’intégrant dans une équipe projet pluridisciplinaire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mettant en œuvre des outils et des méthodes utiles à la réalisation du projet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mobilisant les ressources d'un champ scientifique et technique spécifique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intégrant les aspects économiques et les enjeux du développement durable ;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en utilisant une communication adaptée.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Assistance à maitrise d’ouvrages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 Exploitation</a:t>
            </a:r>
            <a:endParaRPr lang="fr-F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Bureau d’études	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Animateur/coordinateur d’écologie industrielle et territoriale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Chargé d’affaire				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tx1"/>
                </a:solidFill>
              </a:rPr>
              <a:t>Animateur de projets en sécurité environnementale</a:t>
            </a: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Analyse </a:t>
            </a:r>
            <a:r>
              <a:rPr lang="fr-FR" sz="1000" dirty="0">
                <a:latin typeface="+mn-lt"/>
              </a:rPr>
              <a:t>du fonctionnement d’une structure industrielle ou territoriale </a:t>
            </a:r>
            <a:endParaRPr lang="fr-FR" sz="1000" dirty="0"/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>
                <a:latin typeface="+mn-lt"/>
              </a:rPr>
              <a:t>Conduire des missions d’assistant ingénieur en lien avec l’EIT dans un contexte professionnel</a:t>
            </a:r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Conduire des missions d’ingénieur junior en lien avec l’EIT dans un contexte professionnel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Conduire un projet dans un contexte d'écologie industrielle et territoriale</a:t>
            </a:r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lvl="0"/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RNCP38675BC04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RNCP38675BC05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59592" y="3824451"/>
            <a:ext cx="467541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3.1 </a:t>
            </a:r>
            <a:r>
              <a:rPr lang="fr-FR" sz="900" dirty="0"/>
              <a:t>Identifier l’organisation fonctionnelle de la structure d’accueil</a:t>
            </a:r>
          </a:p>
          <a:p>
            <a:pPr lvl="0"/>
            <a:r>
              <a:rPr lang="fr-FR" sz="900" b="1" dirty="0"/>
              <a:t>AC 3.2 </a:t>
            </a:r>
            <a:r>
              <a:rPr lang="fr-FR" sz="900" dirty="0"/>
              <a:t>S’intégrer et participer à une organisation (entreprise, collectivité locale, association, …) ;</a:t>
            </a:r>
          </a:p>
          <a:p>
            <a:pPr lvl="0"/>
            <a:r>
              <a:rPr lang="fr-FR" sz="900" b="1" dirty="0"/>
              <a:t>AC 3.3</a:t>
            </a:r>
            <a:r>
              <a:rPr lang="fr-FR" sz="900" dirty="0"/>
              <a:t> Découvrir des méthodes et des pratiques professionnelles (organisation du travail, sécurité, politique développement durable)</a:t>
            </a:r>
          </a:p>
          <a:p>
            <a:pPr lvl="0"/>
            <a:r>
              <a:rPr lang="fr-FR" sz="900" b="1" dirty="0"/>
              <a:t>AC 3.4</a:t>
            </a:r>
            <a:r>
              <a:rPr lang="fr-FR" sz="900" dirty="0"/>
              <a:t> Présenter à l’oral le fonctionnement d’une structure industrielle ou territoriale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085022" y="4893050"/>
            <a:ext cx="454510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3.5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Formaliser les attendus  du cahier des charges du projet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3.6</a:t>
            </a:r>
            <a:r>
              <a:rPr lang="fr-FR" sz="900" dirty="0">
                <a:solidFill>
                  <a:schemeClr val="tx1"/>
                </a:solidFill>
              </a:rPr>
              <a:t> Planifier les différentes tâches opérationnelles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3.7</a:t>
            </a:r>
            <a:r>
              <a:rPr lang="fr-FR" sz="900" dirty="0">
                <a:solidFill>
                  <a:schemeClr val="tx1"/>
                </a:solidFill>
              </a:rPr>
              <a:t> Interagir avec les parties prenantes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3.8</a:t>
            </a:r>
            <a:r>
              <a:rPr lang="fr-FR" sz="900" dirty="0">
                <a:solidFill>
                  <a:schemeClr val="tx1"/>
                </a:solidFill>
              </a:rPr>
              <a:t> Utiliser des outils collaboratifs pour partager ses données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3.9</a:t>
            </a:r>
            <a:r>
              <a:rPr lang="fr-FR" sz="900" dirty="0">
                <a:solidFill>
                  <a:schemeClr val="tx1"/>
                </a:solidFill>
              </a:rPr>
              <a:t> Mobiliser des ressources de champs scientifiques et techniques spécifiques pour la réalisation des missions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b="1" dirty="0"/>
              <a:t>AC 3.10</a:t>
            </a:r>
            <a:r>
              <a:rPr lang="fr-FR" sz="900" dirty="0">
                <a:solidFill>
                  <a:schemeClr val="tx1"/>
                </a:solidFill>
              </a:rPr>
              <a:t> Rédiger un rapport technique et le présenter à l'oral.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9BEC8-B056-5BE1-8F4B-EBA526BC1377}"/>
              </a:ext>
            </a:extLst>
          </p:cNvPr>
          <p:cNvSpPr/>
          <p:nvPr/>
        </p:nvSpPr>
        <p:spPr>
          <a:xfrm>
            <a:off x="2045926" y="6116307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694288C-379C-608E-9A75-C4222CE657CF}"/>
              </a:ext>
            </a:extLst>
          </p:cNvPr>
          <p:cNvSpPr txBox="1"/>
          <p:nvPr/>
        </p:nvSpPr>
        <p:spPr>
          <a:xfrm>
            <a:off x="2045926" y="6113043"/>
            <a:ext cx="4545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900" b="1" dirty="0"/>
              <a:t>AC 3.11</a:t>
            </a:r>
            <a:r>
              <a:rPr lang="fr-FR" sz="900" dirty="0"/>
              <a:t> Identifier le contexte et les enjeux du projet ;</a:t>
            </a:r>
          </a:p>
          <a:p>
            <a:pPr lvl="0"/>
            <a:r>
              <a:rPr lang="fr-FR" sz="900" b="1" dirty="0"/>
              <a:t>AC 3.12</a:t>
            </a:r>
            <a:r>
              <a:rPr lang="fr-FR" sz="900" dirty="0"/>
              <a:t> Opérer des choix en mettant en place une stratégie adaptée pour atteindre ses objectifs ;</a:t>
            </a:r>
          </a:p>
          <a:p>
            <a:pPr lvl="0"/>
            <a:r>
              <a:rPr lang="fr-FR" sz="900" b="1" dirty="0"/>
              <a:t>AC 3.13</a:t>
            </a:r>
            <a:r>
              <a:rPr lang="fr-FR" sz="900" dirty="0"/>
              <a:t> Justifier ses choix en s’appuyant sur une analyse approfondie et une argumentation structurée ;</a:t>
            </a:r>
          </a:p>
          <a:p>
            <a:pPr lvl="0"/>
            <a:r>
              <a:rPr lang="fr-FR" sz="900" b="1" dirty="0"/>
              <a:t>AC 3.14 </a:t>
            </a:r>
            <a:r>
              <a:rPr lang="fr-FR" sz="900" dirty="0"/>
              <a:t>Identifier les contraintes (réglementaires, économiques, sociétales) ;</a:t>
            </a:r>
          </a:p>
          <a:p>
            <a:pPr lvl="0"/>
            <a:r>
              <a:rPr lang="fr-FR" sz="900" b="1" dirty="0"/>
              <a:t>AC 3.15</a:t>
            </a:r>
            <a:r>
              <a:rPr lang="fr-FR" sz="900" dirty="0"/>
              <a:t> </a:t>
            </a:r>
            <a:r>
              <a:rPr lang="fr-FR" sz="900" dirty="0">
                <a:solidFill>
                  <a:schemeClr val="tx1"/>
                </a:solidFill>
              </a:rPr>
              <a:t>Communiquer avec les parties prenantes internes et externes au projet ;</a:t>
            </a:r>
          </a:p>
          <a:p>
            <a:pPr lvl="0"/>
            <a:r>
              <a:rPr lang="fr-FR" sz="900" b="1" dirty="0"/>
              <a:t>AC 3.16 </a:t>
            </a:r>
            <a:r>
              <a:rPr lang="fr-FR" sz="900" dirty="0">
                <a:solidFill>
                  <a:schemeClr val="tx1"/>
                </a:solidFill>
              </a:rPr>
              <a:t>Rédiger un rapport technique et le présenter avec une vision globale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A1157D3-F5BE-2D07-27A4-AA301CE8FC82}"/>
              </a:ext>
            </a:extLst>
          </p:cNvPr>
          <p:cNvSpPr txBox="1"/>
          <p:nvPr/>
        </p:nvSpPr>
        <p:spPr bwMode="auto">
          <a:xfrm>
            <a:off x="115170" y="7990891"/>
            <a:ext cx="2420856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AMS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Stage Découverte du milieu professionnel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Stage Assistant Ingénieur</a:t>
            </a:r>
          </a:p>
          <a:p>
            <a:pPr lvl="0">
              <a:defRPr/>
            </a:pPr>
            <a:r>
              <a:rPr lang="fr-FR" sz="800" dirty="0"/>
              <a:t>- Niveau 3 : Stage Ingénieur</a:t>
            </a:r>
            <a:endParaRPr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F116F6-4B3C-0C27-7ADE-7A588DBCF493}"/>
              </a:ext>
            </a:extLst>
          </p:cNvPr>
          <p:cNvSpPr/>
          <p:nvPr/>
        </p:nvSpPr>
        <p:spPr>
          <a:xfrm>
            <a:off x="115172" y="6752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Ecologie Industrielle et territoriale (EIT) 		Polytech Annecy-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chambéry</a:t>
            </a:r>
            <a:endParaRPr lang="fr-FR" sz="800" b="1" cap="all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7DD30F-A297-4FC9-B9BE-64DF109F2300}">
  <ds:schemaRefs>
    <ds:schemaRef ds:uri="64984f8b-2057-4450-93f2-8aa5e6a062ce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elements/1.1/"/>
    <ds:schemaRef ds:uri="5a932de8-014e-4395-a210-acace869bdb6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2EFFCFE1-65FA-46BA-AD05-D9B442825ABC}"/>
</file>

<file path=customXml/itemProps3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1373</TotalTime>
  <Words>1189</Words>
  <Application>Microsoft Office PowerPoint</Application>
  <PresentationFormat>Affichage à l'écran (4:3)</PresentationFormat>
  <Paragraphs>158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Myriad Pro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lastModifiedBy>Evelyne Gonze</cp:lastModifiedBy>
  <cp:revision>66</cp:revision>
  <dcterms:created xsi:type="dcterms:W3CDTF">2024-01-30T16:46:58Z</dcterms:created>
  <dcterms:modified xsi:type="dcterms:W3CDTF">2025-05-01T14:04:51Z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