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sldIdLst>
    <p:sldId id="276" r:id="rId5"/>
    <p:sldId id="274" r:id="rId6"/>
    <p:sldId id="280" r:id="rId7"/>
    <p:sldId id="281" r:id="rId8"/>
    <p:sldId id="278" r:id="rId9"/>
    <p:sldId id="279" r:id="rId10"/>
    <p:sldId id="277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B27403-22C7-DB71-00DF-BB8B80B891D7}" name="Adrien Badel" initials="AB" userId="S::adrien.badel@univ-smb.fr::d14d62ed-19bc-4dc3-9902-d0d3dba6bde9" providerId="AD"/>
  <p188:author id="{D967E918-EB53-4B17-93F6-974E2AA2605D}" name="David Gibus" initials="DG" userId="S::david.gibus@univ-smb.fr::05f4bf82-704b-4c8c-8b03-1ded53405e0a" providerId="AD"/>
  <p188:author id="{C2F43BCA-2251-B4EB-B568-0B94C774C5B8}" name="Marc Villetard" initials="MV" userId="S::marc.villetard@univ-smb.fr::2c939e4c-f782-47cc-8796-fa0d748d6c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BE2"/>
    <a:srgbClr val="F49831"/>
    <a:srgbClr val="4FA954"/>
    <a:srgbClr val="FEF3C2"/>
    <a:srgbClr val="7F7F7F"/>
    <a:srgbClr val="1D7ACC"/>
    <a:srgbClr val="369FE3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AABE-B26A-CF1B-06B8-4E8A6274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74B544-C6CD-E18F-1135-7AFBFC9EE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CF3EE3-DF4D-5E41-6AD6-4413D0900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CDFA6C-9C30-FC8A-F490-F574371E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767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7A7E3-D333-5F86-1FE7-DEECF9AE8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CAD071-183C-C23E-73F6-6063E7382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06EF91A-F8CA-DAA0-E573-D441FD504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7AB0C5-A83B-C2A0-2ADE-4B18F9B16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366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D2D6-D756-EAD1-31EE-A6E1F026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34487-C2EC-DDBD-839C-E954EB0A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45DE27-C4A1-77F3-DAD0-DD42A1E0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981CD-90E7-B8F5-4623-CA7CD711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668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779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8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MECA Polytech Annecy-Chambéry</a:t>
            </a:r>
          </a:p>
        </p:txBody>
      </p:sp>
      <p:pic>
        <p:nvPicPr>
          <p:cNvPr id="8" name="Image 7" descr="Une image contenant texte, capture d’écran, Polic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8464FE11-D557-707B-4FF6-B8F1A5349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33" y="2972286"/>
            <a:ext cx="17192232" cy="689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bureau d’étude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modéliser un produit mécanique, électrique, mécatronique.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analyser un document technique (dessin technique, schémas...)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élaborer un schéma technique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réaliser une notice de calcul</a:t>
            </a:r>
          </a:p>
          <a:p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2DA0866B-ABB3-687E-57CB-7A29C5E74551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vérifier les comportements mécaniques du produit et de ses composants.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faire un benchmark produit (veille technique règlementaire et fonctionnelle, recherche de principes)​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analyser un produit existant mécanique, électrique, mécatronique.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rédiger un cahier des charges</a:t>
            </a:r>
          </a:p>
          <a:p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F1AD3F13-7C0A-7502-0403-C5465882C32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optimiser la conception du produit en utilisant ses modèles.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étudier la faisabilité technique en phase de préconception (matériaux, tolérancement...)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documenter un produit (PLM, AMDEC, notice d'utilisation, gamme d’assemblage, etc.)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51583935-A8D8-A4D8-37A7-32A31C428CB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Analyse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9E7AEFDD-C48A-450F-4255-D56AF0A7D82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  <a:p>
            <a:pPr algn="ctr"/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Comparaison / spécification ?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DFEA84A2-E282-DA50-986F-4B10C8221D4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Conception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D6A5E65-007E-8A19-FA23-2D52DE22BD6C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manufacturés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61A725CD-40B9-4748-F7D7-CC1B1AD75865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prenant en compte les besoins du client.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s'appuyant sur l'état de l'art (solutions existantes, normes en vigueur...)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utilisant des méthodes et des outils adaptées (modélisation, logiciels...)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démontrant la pertinence des solutions proposées (fabricabilité...)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prenant en compte tout le cycle de vie du produit.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appliquant une démarche d’éco-conception</a:t>
            </a:r>
          </a:p>
          <a:p>
            <a:pPr lvl="1"/>
            <a:endParaRPr lang="fr-FR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9413-0C63-495E-8694-EFCB46566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19">
            <a:extLst>
              <a:ext uri="{FF2B5EF4-FFF2-40B4-BE49-F238E27FC236}">
                <a16:creationId xmlns:a16="http://schemas.microsoft.com/office/drawing/2014/main" id="{03EEC004-B001-38FC-E7F0-93DB238B49DA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Situations professionnelles :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méthodes </a:t>
            </a:r>
            <a:endParaRPr lang="fr-FR" sz="20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production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qualité 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0513233B-A3AC-F818-3DFD-54ED917E651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>
              <a:alpha val="50409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fr-FR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Composantes essentielles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tenant compte des spécifications techniques du produit et des technologies existantes.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tenant compte des exigences de coût, de qualité et de délai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efficacement les outils de gestion de production (logiciels, management visuel, kanban...).</a:t>
            </a:r>
            <a:endParaRPr lang="fr-FR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définissant des indicateurs pertinents.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prenant en compte les aspects QHSE et RSE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documentant de manière exhaustive le processus de fabrication choisi. </a:t>
            </a:r>
            <a:r>
              <a:rPr lang="fr-FR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8D3E7428-926A-4CD3-3C7E-E5562493C657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élaborer les gammes de fabrication (mise en forme, assemblage).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concevoir un avant-projet d'étude de fabrication réaliste.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choisir les méthodes de fabrication.</a:t>
            </a:r>
          </a:p>
          <a:p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17D00D0F-4B6F-20AF-CCB8-E377A2425FD0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définir les méthodes de vérification des pièces fabriquées.</a:t>
            </a:r>
            <a:endParaRPr lang="fr-FR" dirty="0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planifier la production (calcul des besoins, ordonnancement, calcul des charges...).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évaluer la qualité des produits.</a:t>
            </a:r>
            <a:endParaRPr lang="fr-FR" dirty="0">
              <a:ea typeface="Calibri"/>
              <a:cs typeface="Calibri"/>
            </a:endParaRPr>
          </a:p>
          <a:p>
            <a:endParaRPr lang="fr-F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951E2583-75B9-67EE-CABB-180C418F8983}"/>
              </a:ext>
            </a:extLst>
          </p:cNvPr>
          <p:cNvSpPr/>
          <p:nvPr/>
        </p:nvSpPr>
        <p:spPr>
          <a:xfrm>
            <a:off x="2401569" y="8417306"/>
            <a:ext cx="15486209" cy="1632396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programmer les machines à commande numérique.</a:t>
            </a:r>
            <a:endParaRPr lang="fr-FR" dirty="0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synthétiser les résultats de production 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calculer des indicateurs de performance.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organiser les maintenances pour s'assurer de la disponibilité des machines.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définir des plans d'amélioration continue selon la performance atteinte.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BAE00493-6C3E-C42D-3670-957DDC14A878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86548397-B105-A17B-A892-F94B14D8057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78B649FC-F92A-07B8-639B-089A3CF3EFB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72575715-2581-E2C0-F6E2-305D1F3A92C0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8907CB34-64F9-2101-EC7B-9F0D0B943E00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Industrialiser des produits manufacturés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124378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339F-7CC9-EFBF-7138-15848263A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19">
            <a:extLst>
              <a:ext uri="{FF2B5EF4-FFF2-40B4-BE49-F238E27FC236}">
                <a16:creationId xmlns:a16="http://schemas.microsoft.com/office/drawing/2014/main" id="{4C82FA3C-3FEA-221E-03E0-44F78B4DCCEB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endParaRPr lang="fr-FR"/>
          </a:p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Situations professionnelles :</a:t>
            </a:r>
            <a:endParaRPr lang="fr-FR" dirty="0"/>
          </a:p>
          <a:p>
            <a:pPr marL="800100" indent="-342900">
              <a:buFont typeface="Arial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Chef de projet</a:t>
            </a:r>
          </a:p>
          <a:p>
            <a:pPr marL="800100" lvl="1" indent="-342900">
              <a:buFont typeface="Arial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Directeur technique</a:t>
            </a:r>
            <a:endParaRPr lang="fr-FR" dirty="0">
              <a:ea typeface="Calibri"/>
              <a:cs typeface="Calibri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fr-FR" sz="240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9F23E88D-0212-6E07-6030-FAF7BBF7C278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>
              <a:alpha val="49711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Composantes essentielles :</a:t>
            </a:r>
          </a:p>
          <a:p>
            <a:pPr marL="742950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tenant de compte des délais, des ressources, des objectifs, des coûts  </a:t>
            </a: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adoptant une démarche structurée et rigoureuse  </a:t>
            </a: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choisissant des indicateurs pertinents de suivi et de résultat (coût, qualité, délais, humains, environnement, etc.)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respectant les réglementations et les contraintes identifiées / applicables (économiques, techniques, HSE)  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manageant efficacement ses équipes (informer, former, motiver, organiser) et ses ressources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efficacement les outils et méthodes de conduite de projet  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communiquant de manière adaptée aux différentes parties prenantes dans un contexte national et international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00BA6169-CF2F-8C1B-7CBE-A5141A6BDD0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définir le périmètre du projet. 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établir un état de l’art. 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organiser le projet (ressource, budget, humain, machine, ...).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19F5B6A-C1FE-7D9F-42A5-D9BF09A39373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planifier le projet</a:t>
            </a:r>
            <a:endParaRPr lang="fr-FR" dirty="0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méthodes de résolution de problème (PDCA, etc.)  et de gestion des risques (AMDEC)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collaborer dans une équipe projet (RACI, jusqu’au management, etc.) / Interagir avec les parties prenantes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Piloter l’avancement du projet (en s’appuyant sur le tableau de bord et les indicateurs)</a:t>
            </a:r>
          </a:p>
          <a:p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DA479696-6BE0-9C11-86B9-DF1E016DBD7B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évaluer les résultats (RETEX)</a:t>
            </a:r>
            <a:endParaRPr lang="fr-FR" dirty="0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rendre compte de l’avancement du projet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des méthodes de créativité dans un contexte de projet industriel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identifier la contribution du projet à une problématique R&amp;D</a:t>
            </a:r>
          </a:p>
          <a:p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66F9030C-4F9B-7F32-B5E5-A3FD4B06FB2A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B5135A4A-89D9-C790-2008-6DFCC9F5FA1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BAC9B68A-D94B-42AC-FB53-0AC4AF71543B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5C2E7BC2-1D30-75AB-0361-F995D22C6A8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7EB19D80-3C42-9F28-CDB7-69220BD8D669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Gérer un projet dans le domaine industriel 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4122250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06-CF13-993C-E0E0-C099F303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9">
            <a:extLst>
              <a:ext uri="{FF2B5EF4-FFF2-40B4-BE49-F238E27FC236}">
                <a16:creationId xmlns:a16="http://schemas.microsoft.com/office/drawing/2014/main" id="{BF693259-F9EF-F253-6A91-6833D6C788A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production</a:t>
            </a:r>
            <a:endParaRPr lang="fr-FR" sz="24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qualité</a:t>
            </a:r>
            <a:endParaRPr lang="fr-FR" sz="240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D582853-8316-3AA7-B446-9C890792606B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outils qualité de résolution de problème ("outils qualité").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mesurer la performance de la production.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2C148358-2148-D2E7-F73F-4EAB29F77648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modéliser les flux.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identifier les paramètres influents du procédé.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outils de résolution de problème pour le pilotage de la production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F37F1302-0150-32C4-19D2-575D7E56DC95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optimiser les flux (implantation des postes...).</a:t>
            </a:r>
            <a:endParaRPr lang="fr-FR" sz="2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analyser les défaillances, les dysfonctionnements des procédés.</a:t>
            </a: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outils de résolution de problème pour le pilotage de la production </a:t>
            </a: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intégrer les évolutions technologiques (Industrie du futur, IA, …)</a:t>
            </a:r>
            <a:endParaRPr lang="fr-FR" sz="2000" dirty="0">
              <a:ea typeface="Calibri"/>
              <a:cs typeface="Calibri"/>
            </a:endParaRPr>
          </a:p>
          <a:p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4653456-05E2-1EF7-E5AD-9F894A3A76D2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855B75E0-5347-98C9-A1F8-8DCEF31ADB57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34202A5C-18A5-947D-17E9-1ED96B40B1A8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40690583-5DC5-0BBC-568B-FEE41B2D072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CEF21B90-D57D-41AC-BA26-7FC5E9A0164B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Optimiser les procédés de fabrication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RNCP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D6F02BD9-C926-AC9E-9D0F-7AE3797422E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50000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Composantes essentielles :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choisissant les outils qualité adéquats.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veillant à la sobriété des procédés (énergie, matière première, déchets), aux coûts de production et à la qualité des produits.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tenant compte des évolutions technologiques.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communicant efficacement avec les personnels de production.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respectant les règles HSE.</a:t>
            </a:r>
          </a:p>
          <a:p>
            <a:pPr lvl="1"/>
            <a:r>
              <a:rPr lang="fr-FR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956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bureau d’étude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  <a:endParaRPr lang="fr-FR" sz="240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/>
              <a:buChar char="•"/>
            </a:pPr>
            <a:r>
              <a:rPr lang="fr-FR" dirty="0"/>
              <a:t>développer un montage électrique ou électronique simple, incluant le conditionnement des signaux de capteurs, la commande d’actionneurs et l’analyse des grandeurs électriques. </a:t>
            </a:r>
          </a:p>
          <a:p>
            <a:pPr marL="285750" indent="-285750">
              <a:buFont typeface="Arial"/>
              <a:buChar char="•"/>
            </a:pPr>
            <a:r>
              <a:rPr lang="fr-FR" dirty="0">
                <a:ea typeface="Calibri"/>
                <a:cs typeface="Calibri"/>
              </a:rPr>
              <a:t>modéliser un système mécatronique.</a:t>
            </a:r>
          </a:p>
          <a:p>
            <a:pPr marL="285750" indent="-285750">
              <a:buFont typeface="Arial,Sans-Serif"/>
              <a:buChar char="•"/>
            </a:pPr>
            <a:r>
              <a:rPr lang="fr-FR" dirty="0">
                <a:ea typeface="Calibri"/>
                <a:cs typeface="Calibri"/>
              </a:rPr>
              <a:t>modéliser des systèmes dynamiques continus.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dirty="0">
                <a:ea typeface="Calibri"/>
                <a:cs typeface="Calibri"/>
              </a:rPr>
              <a:t>écrire un programme informatique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47CEA140-556F-3EC5-7022-79096AFD1B39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Calibri"/>
                <a:ea typeface="Calibri"/>
                <a:cs typeface="Calibri"/>
              </a:rPr>
              <a:t>spécifier un système embarqué (entrée/sortie, registre, interruption)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Calibri"/>
                <a:ea typeface="Calibri"/>
                <a:cs typeface="Calibri"/>
              </a:rPr>
              <a:t>utiliser les outils de modélisation (GEMMA, GRAFCET) pour une solution de commande d’un automatisme simple.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Calibri"/>
                <a:ea typeface="Calibri"/>
                <a:cs typeface="Calibri"/>
              </a:rPr>
              <a:t>mettre en œuvre des capteurs et des actionneurs.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Calibri"/>
                <a:ea typeface="Calibri"/>
                <a:cs typeface="Calibri"/>
              </a:rPr>
              <a:t>concevoir une stratégie de contrôle commande.</a:t>
            </a:r>
            <a:endParaRPr lang="fr-FR" dirty="0">
              <a:latin typeface="Calibri"/>
              <a:cs typeface="Calibri"/>
            </a:endParaRP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43734BA6-B5F7-A081-D91D-CB98BAAF35C2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développer un système embarqué multi-tâches ou temps réels.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choisir et programmer un robot industriel.</a:t>
            </a:r>
          </a:p>
          <a:p>
            <a:pPr marL="285750" indent="-285750">
              <a:buFont typeface="Arial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optimiser la conception d’un système mécatronique selon une approche multi-objectifs. </a:t>
            </a:r>
          </a:p>
          <a:p>
            <a:pPr marL="285750" indent="-285750">
              <a:buFont typeface="Arial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piloter un système mécatronique. 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AFC72ADE-6CCA-BD7C-1E25-D427CB6FE5F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035C0639-AE8C-112F-4DC6-5A8E8438B4E5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96AFB3D3-7D60-9633-A528-0881FBB7C11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808147C-905F-218D-E3D2-09B29E1DFB8F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systèmes mécatroniques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EC077E27-8E7A-F889-F253-BE71A82E0598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Composantes essentielles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mettant en œuvre des outils de modélisation et de simulation multiphysiques de manière appropriée.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choisissant les composants technologiques adéquats (mécaniques, électroniques, informatiques)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tenant compte des interactions fonctionnelles et physiques entre les composants.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communicant efficacement avec les parties prenantes.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respectant les normes de produit en vigueur.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appliquant une démarche d’éco-conception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assurant leur efficience.</a:t>
            </a: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lvl="1"/>
            <a:endParaRPr lang="fr-FR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37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9">
            <a:extLst>
              <a:ext uri="{FF2B5EF4-FFF2-40B4-BE49-F238E27FC236}">
                <a16:creationId xmlns:a16="http://schemas.microsoft.com/office/drawing/2014/main" id="{CD3D71ED-0F9B-CB55-1CA7-06FC2839CA90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en matériaux composites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41CAFFAC-4E61-C6A6-40F5-FBE4157A98DA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49938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Composantes essentielles 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prenant en compte les interactions entre les matériaux, le produit et les procédés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choisissant les composants matériaux de manière pertinente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les lois de comportements spécifiques appropriés aux matériaux (élasticité, rupture, endommagement, etc.)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des outils et des méthodes adaptées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organisant des données hétérogènes de manière synthétique 	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intégrant la réduction des impacts dans la conception (éco-propriétés des matières, des procédés et du produit, réemploi, </a:t>
            </a:r>
            <a:r>
              <a:rPr lang="fr-FR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réusage</a:t>
            </a: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etc.)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E5983739-1EF8-673A-CCF1-4E78FCC87864}"/>
              </a:ext>
            </a:extLst>
          </p:cNvPr>
          <p:cNvSpPr/>
          <p:nvPr/>
        </p:nvSpPr>
        <p:spPr>
          <a:xfrm>
            <a:off x="380999" y="3361609"/>
            <a:ext cx="5229877" cy="146703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Situations professionnelles :</a:t>
            </a:r>
          </a:p>
          <a:p>
            <a:endParaRPr lang="fr-FR" sz="10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R&amp;D 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méthodes </a:t>
            </a:r>
            <a:endParaRPr lang="fr-FR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conception – BE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fr-FR" sz="12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0A7C6D86-F794-8B07-0E74-6CC2CDCBF81A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Caractériser un matériau</a:t>
            </a:r>
            <a:endParaRPr lang="fr-FR" dirty="0"/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Créer des indices de performance matériaux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Rédiger une gamme de fabrication et une fiche matière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des procédés usuels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13174D38-297B-9067-0C87-F5743A95B345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Définir un matériau selon des propriétés attendus</a:t>
            </a:r>
            <a:endParaRPr lang="fr-FR"/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Évaluer l'impact environnemental </a:t>
            </a:r>
            <a:endParaRPr lang="fr-FR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au point une gamme de fabrication et une fiche matière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une loi de comportement homogénéisé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Réaliser un prédimensionnement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Créer un outil de calcul pour faire un prédimensionnement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Piloter les paramètres des procédés usuels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Évaluer la performance du produit conçu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517AF42C-939D-3268-139D-AE898A20069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Modifier l'impact environnemental</a:t>
            </a:r>
            <a:endParaRPr lang="fr-FR" dirty="0"/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une loi de comportement pour matériau stratifié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Réaliser un dimensionnement détaillé (Outils de calcul métier)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Développer des procédés hautes performances</a:t>
            </a:r>
            <a:endParaRPr lang="fr-FR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Optimiser la performance du produit conçu 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719CE736-46BD-B480-C5CD-27FA633388B6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1A84FD43-3B05-FC98-D97F-EE9473F8471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E558B4DC-9968-6F6A-4343-728BEC78C4EE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21" name="Freeform 119">
            <a:extLst>
              <a:ext uri="{FF2B5EF4-FFF2-40B4-BE49-F238E27FC236}">
                <a16:creationId xmlns:a16="http://schemas.microsoft.com/office/drawing/2014/main" id="{E2802C9B-A476-E7D6-2749-F7B7B292E244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427F486D-B72E-0A6A-AA64-DB58A7D4D3D4}"/>
              </a:ext>
            </a:extLst>
          </p:cNvPr>
          <p:cNvSpPr/>
          <p:nvPr/>
        </p:nvSpPr>
        <p:spPr>
          <a:xfrm>
            <a:off x="5819123" y="3361609"/>
            <a:ext cx="5648741" cy="146703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b="1" dirty="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qualité</a:t>
            </a:r>
            <a:endParaRPr lang="fr-FR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calcul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 Ingénieur essais</a:t>
            </a:r>
            <a:endParaRPr lang="fr-FR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matériaux</a:t>
            </a:r>
            <a:endParaRPr lang="fr-FR">
              <a:ea typeface="Calibri"/>
              <a:cs typeface="Calibri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fr-FR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ef141f578fb95b0eb90a671c5647a193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4d25ba230db756f9eb4d095c14916fc9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2A17D3-FE78-4414-A08A-CAC3FE3B5469}">
  <ds:schemaRefs>
    <ds:schemaRef ds:uri="5a932de8-014e-4395-a210-acace869bdb6"/>
    <ds:schemaRef ds:uri="64984f8b-2057-4450-93f2-8aa5e6a062c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9E5C986-7695-4D6C-A0DE-B9115AFB3E54}"/>
</file>

<file path=customXml/itemProps3.xml><?xml version="1.0" encoding="utf-8"?>
<ds:datastoreItem xmlns:ds="http://schemas.openxmlformats.org/officeDocument/2006/customXml" ds:itemID="{37A6D564-05FD-4CF8-84D0-CC4549585D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1279</Words>
  <Application>Microsoft Macintosh PowerPoint</Application>
  <PresentationFormat>Personnalisé</PresentationFormat>
  <Paragraphs>189</Paragraphs>
  <Slides>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Arial</vt:lpstr>
      <vt:lpstr>Arial,Sans-Serif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196</cp:revision>
  <dcterms:created xsi:type="dcterms:W3CDTF">2006-08-16T00:00:00Z</dcterms:created>
  <dcterms:modified xsi:type="dcterms:W3CDTF">2025-10-23T18:49:00Z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