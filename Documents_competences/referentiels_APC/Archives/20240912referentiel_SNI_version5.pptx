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7_CFA9AC66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0"/>
  </p:notesMasterIdLst>
  <p:sldIdLst>
    <p:sldId id="256" r:id="rId5"/>
    <p:sldId id="260" r:id="rId6"/>
    <p:sldId id="261" r:id="rId7"/>
    <p:sldId id="262" r:id="rId8"/>
    <p:sldId id="263" r:id="rId9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820C88-A42F-0467-4C37-4A53AA7EA36D}" name="Marc Skerrett" initials="MS" userId="S::marc.skerrett@univ-smb.fr::5838212c-6006-4602-b097-e4ba2e4953e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930126-6004-CD14-835B-F002D6867A32}" v="1" dt="2025-01-13T13:01:19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4.xml" Id="rId8" /><Relationship Type="http://schemas.openxmlformats.org/officeDocument/2006/relationships/theme" Target="theme/theme1.xml" Id="rId13" /><Relationship Type="http://schemas.openxmlformats.org/officeDocument/2006/relationships/customXml" Target="../customXml/item3.xml" Id="rId3" /><Relationship Type="http://schemas.openxmlformats.org/officeDocument/2006/relationships/slide" Target="slides/slide3.xml" Id="rId7" /><Relationship Type="http://schemas.openxmlformats.org/officeDocument/2006/relationships/viewProps" Target="viewProps.xml" Id="rId12" /><Relationship Type="http://schemas.microsoft.com/office/2018/10/relationships/authors" Target="authors.xml" Id="rId17" /><Relationship Type="http://schemas.openxmlformats.org/officeDocument/2006/relationships/customXml" Target="../customXml/item2.xml" Id="rId2" /><Relationship Type="http://schemas.microsoft.com/office/2015/10/relationships/revisionInfo" Target="revisionInfo.xml" Id="rId16" /><Relationship Type="http://schemas.openxmlformats.org/officeDocument/2006/relationships/customXml" Target="../customXml/item1.xml" Id="rId1" /><Relationship Type="http://schemas.openxmlformats.org/officeDocument/2006/relationships/slide" Target="slides/slide2.xml" Id="rId6" /><Relationship Type="http://schemas.openxmlformats.org/officeDocument/2006/relationships/presProps" Target="presProps.xml" Id="rId11" /><Relationship Type="http://schemas.openxmlformats.org/officeDocument/2006/relationships/slide" Target="slides/slide1.xml" Id="rId5" /><Relationship Type="http://schemas.openxmlformats.org/officeDocument/2006/relationships/notesMaster" Target="notesMasters/notesMaster1.xml" Id="rId10" /><Relationship Type="http://schemas.openxmlformats.org/officeDocument/2006/relationships/slideMaster" Target="slideMasters/slideMaster1.xml" Id="rId4" /><Relationship Type="http://schemas.openxmlformats.org/officeDocument/2006/relationships/slide" Target="slides/slide5.xml" Id="rId9" /><Relationship Type="http://schemas.openxmlformats.org/officeDocument/2006/relationships/tableStyles" Target="tableStyles.xml" Id="rId14" /></Relationships>
</file>

<file path=ppt/comments/modernComment_107_CFA9AC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C7E8CD3-F1DF-4F75-B6CA-826DFCAB4F4B}" authorId="{2B820C88-A42F-0467-4C37-4A53AA7EA36D}" created="2024-12-11T14:51:38.37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84003430" sldId="263"/>
      <ac:spMk id="5" creationId="{C6F84988-4303-5FAC-598E-97F238A8472F}"/>
      <ac:txMk cp="104" len="56">
        <ac:context len="386" hash="1383026173"/>
      </ac:txMk>
    </ac:txMkLst>
    <p188:pos x="2619910" y="995308"/>
    <p188:txBody>
      <a:bodyPr/>
      <a:lstStyle/>
      <a:p>
        <a:r>
          <a:rPr lang="fr-FR"/>
          <a:t>Concevoir un algorithme pour résoudre un problème  / Implémenter un algorithme dans un programme informatique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89A47-5BF3-4B44-81D3-893BBF96D9C5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D1FBA-2D90-FE43-B3C9-47908B91009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1483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D1FBA-2D90-FE43-B3C9-47908B91009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0657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697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67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4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144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911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02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  <p:pic>
        <p:nvPicPr>
          <p:cNvPr id="6" name="Image 7">
            <a:extLst>
              <a:ext uri="{FF2B5EF4-FFF2-40B4-BE49-F238E27FC236}">
                <a16:creationId xmlns:a16="http://schemas.microsoft.com/office/drawing/2014/main" id="{2562921F-EF9C-41C1-9438-35B3201006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5050256" y="7899771"/>
            <a:ext cx="1807744" cy="115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3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891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984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58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677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425F2-F0E4-1D4B-BFA0-799A02AE676D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94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CFA9AC6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CB4965-E3CC-A257-0CA1-2FCCE798A106}"/>
              </a:ext>
            </a:extLst>
          </p:cNvPr>
          <p:cNvSpPr/>
          <p:nvPr/>
        </p:nvSpPr>
        <p:spPr>
          <a:xfrm>
            <a:off x="1472917" y="1650671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>
                <a:solidFill>
                  <a:schemeClr val="bg1"/>
                </a:solidFill>
                <a:ea typeface="+mn-lt"/>
                <a:cs typeface="Segoe UI"/>
              </a:rPr>
              <a:t>CONCEVOIR UN SYSTÈME D'ACQUISITION </a:t>
            </a:r>
            <a:endParaRPr lang="fr-FR" sz="1600" b="1" cap="all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endParaRPr lang="fr-FR" sz="1200" cap="all">
              <a:latin typeface="Myriad Pro" panose="020B0503030403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fr-FR" sz="1200" cap="all">
                <a:latin typeface="Calibri"/>
                <a:ea typeface="Calibri"/>
                <a:cs typeface="Calibri"/>
              </a:rPr>
              <a:t>RNCP35711BC01</a:t>
            </a:r>
            <a:r>
              <a:rPr lang="fr-FR" sz="1200" cap="all">
                <a:ea typeface="+mn-lt"/>
                <a:cs typeface="+mn-lt"/>
              </a:rPr>
              <a:t>  RNCP35711BC05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E7B3F2-CEC8-417B-12A7-9B8523FDC72C}"/>
              </a:ext>
            </a:extLst>
          </p:cNvPr>
          <p:cNvSpPr/>
          <p:nvPr/>
        </p:nvSpPr>
        <p:spPr>
          <a:xfrm>
            <a:off x="3541863" y="1650671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traiter </a:t>
            </a:r>
            <a:r>
              <a:rPr lang="fr-FR" sz="1200" b="1" cap="all" err="1">
                <a:solidFill>
                  <a:schemeClr val="bg1"/>
                </a:solidFill>
                <a:ea typeface="+mn-lt"/>
                <a:cs typeface="+mn-lt"/>
              </a:rPr>
              <a:t>DEs</a:t>
            </a:r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 DONNÉES issues de capteurs </a:t>
            </a:r>
            <a:endParaRPr lang="fr-FR" sz="1200" cap="all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endParaRPr lang="fr-FR" sz="1200" cap="all">
              <a:latin typeface="Myriad Pro" panose="020B0503030403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fr-FR" sz="1200" cap="all">
                <a:latin typeface="Calibri"/>
                <a:ea typeface="Calibri"/>
                <a:cs typeface="Calibri"/>
              </a:rPr>
              <a:t>RNCP35711BC02  RNCP35711BC05 </a:t>
            </a:r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25E8AB-A55E-7EBF-291F-B181B69A8BD6}"/>
              </a:ext>
            </a:extLst>
          </p:cNvPr>
          <p:cNvSpPr/>
          <p:nvPr/>
        </p:nvSpPr>
        <p:spPr>
          <a:xfrm>
            <a:off x="1472917" y="3243943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Aft>
                <a:spcPts val="600"/>
              </a:spcAft>
            </a:pPr>
            <a:r>
              <a:rPr lang="fr-FR" sz="1200" b="1" cap="all">
                <a:solidFill>
                  <a:schemeClr val="bg1"/>
                </a:solidFill>
                <a:ea typeface="+mn-lt"/>
                <a:cs typeface="Segoe UI"/>
              </a:rPr>
              <a:t>Élaborer des structures de commande et de pilotage de systèmes automatisés</a:t>
            </a:r>
            <a:br>
              <a:rPr lang="fr-FR" sz="1200" b="1" cap="all">
                <a:solidFill>
                  <a:schemeClr val="bg1"/>
                </a:solidFill>
                <a:ea typeface="+mn-lt"/>
                <a:cs typeface="Segoe UI"/>
              </a:rPr>
            </a:br>
            <a:r>
              <a:rPr lang="fr-FR" sz="1200" cap="all">
                <a:solidFill>
                  <a:schemeClr val="bg1"/>
                </a:solidFill>
                <a:ea typeface="+mn-lt"/>
                <a:cs typeface="Calibri"/>
              </a:rPr>
              <a:t>RNCP35711BC03</a:t>
            </a:r>
            <a:r>
              <a:rPr lang="fr-FR" sz="1200" cap="all"/>
              <a:t> RNCP35711BC05</a:t>
            </a:r>
            <a:endParaRPr lang="fr-FR">
              <a:ea typeface="Calibri"/>
              <a:cs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F9A382-DCE3-E467-095C-0B198C15F7B1}"/>
              </a:ext>
            </a:extLst>
          </p:cNvPr>
          <p:cNvSpPr/>
          <p:nvPr/>
        </p:nvSpPr>
        <p:spPr>
          <a:xfrm>
            <a:off x="3541863" y="3243943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DÉVELOPPER UN SYSTÈME </a:t>
            </a:r>
            <a:br>
              <a:rPr lang="fr-FR" sz="1200" b="1" cap="all">
                <a:ea typeface="+mn-lt"/>
                <a:cs typeface="+mn-lt"/>
              </a:rPr>
            </a:br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INFORMATIQUE </a:t>
            </a:r>
            <a:br>
              <a:rPr lang="fr-FR" sz="1200" b="1" cap="all">
                <a:ea typeface="+mn-lt"/>
                <a:cs typeface="+mn-lt"/>
              </a:rPr>
            </a:br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embarqué</a:t>
            </a:r>
            <a:endParaRPr lang="fr-FR" sz="1200" cap="all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1200" cap="all"/>
              <a:t>RNCP35711BC04 RNCP35711BC05</a:t>
            </a:r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4102A85-DE7E-D222-A6BB-351E1ADD0520}"/>
              </a:ext>
            </a:extLst>
          </p:cNvPr>
          <p:cNvSpPr txBox="1"/>
          <p:nvPr/>
        </p:nvSpPr>
        <p:spPr>
          <a:xfrm>
            <a:off x="944420" y="766560"/>
            <a:ext cx="4974760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fr-FR"/>
              <a:t>VUE D’ENSEMBLE DES COMPÉTENCES</a:t>
            </a:r>
            <a:br>
              <a:rPr lang="fr-FR"/>
            </a:br>
            <a:r>
              <a:rPr lang="fr-FR">
                <a:ea typeface="Calibri"/>
                <a:cs typeface="Calibri"/>
              </a:rPr>
              <a:t>Spécialité: Systèmes Numériques - Instrumentation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DEF488-0DC5-EFE0-4CE1-31506D55603B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>
                <a:solidFill>
                  <a:schemeClr val="bg1"/>
                </a:solidFill>
                <a:latin typeface="Myriad Pro" panose="020B0503030403020204" pitchFamily="34" charset="0"/>
              </a:rPr>
              <a:t>		Nom de la formation		Polytech XXX</a:t>
            </a:r>
          </a:p>
        </p:txBody>
      </p:sp>
    </p:spTree>
    <p:extLst>
      <p:ext uri="{BB962C8B-B14F-4D97-AF65-F5344CB8AC3E}">
        <p14:creationId xmlns:p14="http://schemas.microsoft.com/office/powerpoint/2010/main" val="3044381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39C6AD-AF35-BE97-714E-47D414B85D41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>
                <a:solidFill>
                  <a:schemeClr val="bg1"/>
                </a:solidFill>
                <a:latin typeface="Myriad Pro" panose="020B0503030403020204" pitchFamily="34" charset="0"/>
              </a:rPr>
              <a:t>		Nom de la formation		Polytech XXX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1000">
                <a:solidFill>
                  <a:schemeClr val="tx1"/>
                </a:solidFill>
              </a:rPr>
              <a:t>Composantes essentielles</a:t>
            </a:r>
          </a:p>
          <a:p>
            <a:pPr marL="171450" indent="-171450" algn="just">
              <a:buFont typeface="Arial,Sans-Serif"/>
              <a:buChar char="•"/>
            </a:pPr>
            <a:r>
              <a:rPr lang="fr-FR" sz="1000">
                <a:solidFill>
                  <a:schemeClr val="tx1"/>
                </a:solidFill>
                <a:cs typeface="Calibri"/>
              </a:rPr>
              <a:t>En répondant à l'expression des besoins de façon pertinente </a:t>
            </a:r>
            <a:endParaRPr lang="en-US" sz="1000">
              <a:solidFill>
                <a:schemeClr val="tx1"/>
              </a:solidFill>
              <a:cs typeface="Calibri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fr-FR" sz="1000">
                <a:solidFill>
                  <a:schemeClr val="accent6"/>
                </a:solidFill>
                <a:cs typeface="Calibri"/>
              </a:rPr>
              <a:t>En prenant en compte ou en maitrisant les impacts environnementaux et sociétaux</a:t>
            </a:r>
            <a:endParaRPr lang="fr-FR" sz="1000">
              <a:solidFill>
                <a:schemeClr val="accent6"/>
              </a:solidFill>
              <a:ea typeface="Calibri"/>
              <a:cs typeface="Calibri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fr-FR" sz="1000">
                <a:solidFill>
                  <a:schemeClr val="tx1"/>
                </a:solidFill>
                <a:cs typeface="Calibri"/>
              </a:rPr>
              <a:t>En argumentant les phénomènes physiques </a:t>
            </a:r>
            <a:r>
              <a:rPr lang="fr-FR" sz="1000" strike="sngStrike">
                <a:solidFill>
                  <a:schemeClr val="tx1"/>
                </a:solidFill>
                <a:cs typeface="Calibri"/>
              </a:rPr>
              <a:t>mis en jeu lors de l'acquisition </a:t>
            </a:r>
            <a:r>
              <a:rPr lang="fr-FR" sz="1000">
                <a:solidFill>
                  <a:schemeClr val="tx1"/>
                </a:solidFill>
                <a:cs typeface="Calibri"/>
              </a:rPr>
              <a:t> étudiés</a:t>
            </a:r>
            <a:endParaRPr lang="fr-FR" sz="1000" strike="sngStrike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</a:rPr>
              <a:t>En caractérisant de façon appropriée la source des données 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</a:rPr>
              <a:t>En effectuant des traitements adaptés 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</a:rPr>
              <a:t>En utilisant des supports et modes </a:t>
            </a:r>
            <a:r>
              <a:rPr lang="fr-FR" sz="1000">
                <a:solidFill>
                  <a:schemeClr val="tx1"/>
                </a:solidFill>
                <a:ea typeface="+mn-lt"/>
                <a:cs typeface="+mn-lt"/>
              </a:rPr>
              <a:t>adaptés </a:t>
            </a:r>
            <a:r>
              <a:rPr lang="fr-FR" sz="1000">
                <a:solidFill>
                  <a:schemeClr val="tx1"/>
                </a:solidFill>
              </a:rPr>
              <a:t>pour la transmission de signaux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 communiquant de manière précise et adaptée aux différentes parties prenantes</a:t>
            </a:r>
          </a:p>
          <a:p>
            <a:pPr marL="171450" indent="-171450" algn="just">
              <a:buFont typeface="Arial"/>
              <a:buChar char="•"/>
            </a:pPr>
            <a:endParaRPr lang="fr-FR" sz="1000">
              <a:solidFill>
                <a:schemeClr val="tx1"/>
              </a:solidFill>
              <a:highlight>
                <a:srgbClr val="FFFF00"/>
              </a:highlight>
              <a:ea typeface="Calibri"/>
              <a:cs typeface="Calibri"/>
            </a:endParaRPr>
          </a:p>
          <a:p>
            <a:pPr algn="just"/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Conception et mise en œuvre de bancs de test</a:t>
            </a:r>
          </a:p>
          <a:p>
            <a:pPr marL="171450" indent="-171450">
              <a:buFont typeface="Calibri"/>
              <a:buChar char="-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Conception et développement de maquettes / prototypes</a:t>
            </a:r>
          </a:p>
          <a:p>
            <a:pPr marL="171450" indent="-171450">
              <a:buFont typeface="Calibri"/>
              <a:buChar char="-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Contrôle qualité et surveillance de procédés</a:t>
            </a:r>
          </a:p>
          <a:p>
            <a:pPr marL="171450" indent="-171450">
              <a:buFont typeface="Calibri"/>
              <a:buChar char="-"/>
            </a:pP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0787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59700" y="4823102"/>
            <a:ext cx="4689078" cy="151332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1F8F7-3B12-EC8D-4424-D149104818B2}"/>
              </a:ext>
            </a:extLst>
          </p:cNvPr>
          <p:cNvSpPr/>
          <p:nvPr/>
        </p:nvSpPr>
        <p:spPr>
          <a:xfrm>
            <a:off x="2066564" y="6394326"/>
            <a:ext cx="4689078" cy="8523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fr-FR" sz="120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1</a:t>
            </a:r>
          </a:p>
          <a:p>
            <a:pPr algn="ctr"/>
            <a:r>
              <a:rPr lang="fr-FR" sz="1200">
                <a:solidFill>
                  <a:schemeClr val="tx1"/>
                </a:solidFill>
                <a:latin typeface="Myriad Pro"/>
              </a:rPr>
              <a:t>Système d'acquisition de grandeurs physiques  avec capteur </a:t>
            </a:r>
            <a:r>
              <a:rPr lang="fr-FR" sz="1200" err="1">
                <a:solidFill>
                  <a:schemeClr val="tx1"/>
                </a:solidFill>
                <a:latin typeface="Myriad Pro"/>
              </a:rPr>
              <a:t>monovarié</a:t>
            </a:r>
            <a:endParaRPr lang="fr-FR" sz="1200" b="1">
              <a:latin typeface="Myriad Pro" panose="020B0503030403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2</a:t>
            </a:r>
          </a:p>
          <a:p>
            <a:pPr algn="ctr"/>
            <a:r>
              <a:rPr lang="fr-FR" sz="1200">
                <a:ea typeface="+mn-lt"/>
                <a:cs typeface="+mn-lt"/>
              </a:rPr>
              <a:t>Système d'acquisition de grandeurs physiques avec capteurs multivariés </a:t>
            </a:r>
            <a:endParaRPr lang="fr-FR" sz="2500">
              <a:cs typeface="Calibri" panose="020F0502020204030204"/>
            </a:endParaRPr>
          </a:p>
          <a:p>
            <a:pPr algn="ctr"/>
            <a:endParaRPr lang="fr-FR" sz="1200" b="1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429491"/>
            <a:ext cx="18505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3</a:t>
            </a:r>
          </a:p>
          <a:p>
            <a:pPr algn="ctr"/>
            <a:r>
              <a:rPr lang="fr-FR" sz="1200">
                <a:ea typeface="+mn-lt"/>
                <a:cs typeface="+mn-lt"/>
              </a:rPr>
              <a:t>Système d'acquisition de grandeurs physiques multivariées avec réseau de capteurs </a:t>
            </a:r>
            <a:endParaRPr lang="fr-FR" sz="1200">
              <a:cs typeface="Calibri"/>
            </a:endParaRPr>
          </a:p>
          <a:p>
            <a:pPr algn="ctr"/>
            <a:endParaRPr lang="fr-FR" sz="1200" b="1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>
                <a:solidFill>
                  <a:schemeClr val="bg1"/>
                </a:solidFill>
                <a:ea typeface="+mn-lt"/>
                <a:cs typeface="Calibri"/>
              </a:rPr>
              <a:t>CONCEVOIR UN SYSTÈME D'ACQUISITION </a:t>
            </a:r>
            <a:endParaRPr lang="fr-FR" sz="1200" cap="all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endParaRPr lang="fr-FR" sz="1200" cap="all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1200" cap="all"/>
              <a:t>RNCP35711BC01  RNCP35711BC05 </a:t>
            </a:r>
            <a:endParaRPr lang="en-US" sz="1200" cap="all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F84988-4303-5FAC-598E-97F238A8472F}"/>
              </a:ext>
            </a:extLst>
          </p:cNvPr>
          <p:cNvSpPr txBox="1"/>
          <p:nvPr/>
        </p:nvSpPr>
        <p:spPr>
          <a:xfrm>
            <a:off x="2058211" y="3709551"/>
            <a:ext cx="468461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1.1 Réaliser un circuit électrique avec les calculs associés  (lois de comportement courant -tension, puissances) et les mesures appropriées à son étude</a:t>
            </a:r>
            <a:endParaRPr lang="fr-FR" sz="900"/>
          </a:p>
          <a:p>
            <a:r>
              <a:rPr lang="fr-FR" sz="900">
                <a:ea typeface="+mn-lt"/>
                <a:cs typeface="+mn-lt"/>
              </a:rPr>
              <a:t>AC </a:t>
            </a:r>
            <a:r>
              <a:rPr lang="fr-FR" sz="900"/>
              <a:t>1.2 Analyser les relations entre les structures des matériaux utilisés dans les capteurs et leurs propriétés physiques</a:t>
            </a:r>
            <a:endParaRPr lang="fr-FR" sz="900">
              <a:ea typeface="Calibri"/>
              <a:cs typeface="Calibri"/>
            </a:endParaRPr>
          </a:p>
          <a:p>
            <a:r>
              <a:rPr lang="fr-FR" sz="900">
                <a:ea typeface="+mn-lt"/>
                <a:cs typeface="+mn-lt"/>
              </a:rPr>
              <a:t>AC </a:t>
            </a:r>
            <a:r>
              <a:rPr lang="fr-FR" sz="900"/>
              <a:t>1.3 Modéliser des systèmes électromagnétiques simples</a:t>
            </a:r>
            <a:endParaRPr lang="fr-FR" sz="900">
              <a:cs typeface="Calibri" panose="020F0502020204030204"/>
            </a:endParaRPr>
          </a:p>
          <a:p>
            <a:r>
              <a:rPr lang="fr-FR" sz="900">
                <a:ea typeface="Calibri" panose="020F0502020204030204"/>
                <a:cs typeface="Calibri" panose="020F0502020204030204"/>
              </a:rPr>
              <a:t>AC 1.4 </a:t>
            </a:r>
            <a:r>
              <a:rPr lang="fr-FR" sz="900">
                <a:ea typeface="+mn-lt"/>
                <a:cs typeface="+mn-lt"/>
              </a:rPr>
              <a:t>Identifier les propriétés fonctionnelles mises en jeu dans les capteurs/transducteurs</a:t>
            </a:r>
          </a:p>
          <a:p>
            <a:endParaRPr lang="fr-FR" sz="90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84D950-1711-5A10-D96F-03D2E5D98B73}"/>
              </a:ext>
            </a:extLst>
          </p:cNvPr>
          <p:cNvSpPr txBox="1"/>
          <p:nvPr/>
        </p:nvSpPr>
        <p:spPr>
          <a:xfrm>
            <a:off x="2046886" y="4839307"/>
            <a:ext cx="4683128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</a:t>
            </a:r>
            <a:r>
              <a:rPr lang="fr-FR" sz="900"/>
              <a:t>1.5 Spécifier l’instrumentation en fonction des usages et contraintes de l’environnement du système</a:t>
            </a:r>
            <a:endParaRPr lang="en-US" sz="900">
              <a:cs typeface="Calibri"/>
            </a:endParaRPr>
          </a:p>
          <a:p>
            <a:r>
              <a:rPr lang="fr-FR" sz="900">
                <a:ea typeface="+mn-lt"/>
                <a:cs typeface="+mn-lt"/>
              </a:rPr>
              <a:t>AC 1.6 Analyser les différents blocs électroniques (analogiques et numériques) constituant une chaîne de mesure</a:t>
            </a:r>
          </a:p>
          <a:p>
            <a:r>
              <a:rPr lang="fr-FR" sz="900">
                <a:ea typeface="+mn-lt"/>
                <a:cs typeface="+mn-lt"/>
              </a:rPr>
              <a:t>AC 1.7 Réaliser les montages électroniques adaptés à la nature des données</a:t>
            </a:r>
          </a:p>
          <a:p>
            <a:r>
              <a:rPr lang="fr-FR" sz="900">
                <a:ea typeface="+mn-lt"/>
                <a:cs typeface="+mn-lt"/>
              </a:rPr>
              <a:t>AC </a:t>
            </a:r>
            <a:r>
              <a:rPr lang="fr-FR" sz="900"/>
              <a:t>1.8 Dimensionner et mettre en œuvre une chaîne de mesure (adaptation, calibrage, réglage, acquisition, interfaçage) </a:t>
            </a:r>
            <a:endParaRPr lang="fr-FR" sz="900">
              <a:cs typeface="Calibri"/>
            </a:endParaRPr>
          </a:p>
          <a:p>
            <a:r>
              <a:rPr lang="fr-FR" sz="900">
                <a:ea typeface="+mn-lt"/>
                <a:cs typeface="+mn-lt"/>
              </a:rPr>
              <a:t>AC </a:t>
            </a:r>
            <a:r>
              <a:rPr lang="fr-FR" sz="900"/>
              <a:t>1.9 Exploiter les données d'une chaîne de mesures</a:t>
            </a:r>
            <a:endParaRPr lang="fr-FR" sz="900">
              <a:ea typeface="Calibri"/>
              <a:cs typeface="Calibri"/>
            </a:endParaRPr>
          </a:p>
          <a:p>
            <a:r>
              <a:rPr lang="fr-FR" sz="900">
                <a:ea typeface="+mn-lt"/>
                <a:cs typeface="+mn-lt"/>
              </a:rPr>
              <a:t>AC </a:t>
            </a:r>
            <a:r>
              <a:rPr lang="fr-FR" sz="900">
                <a:cs typeface="Calibri"/>
              </a:rPr>
              <a:t>1.10 Appliquer une </a:t>
            </a:r>
            <a:r>
              <a:rPr lang="fr-FR" sz="900">
                <a:ea typeface="+mn-lt"/>
                <a:cs typeface="+mn-lt"/>
              </a:rPr>
              <a:t>méthode créative et centrée sur l'utilisateur (design </a:t>
            </a:r>
            <a:r>
              <a:rPr lang="fr-FR" sz="900" err="1">
                <a:ea typeface="+mn-lt"/>
                <a:cs typeface="+mn-lt"/>
              </a:rPr>
              <a:t>thinking</a:t>
            </a:r>
            <a:r>
              <a:rPr lang="fr-FR" sz="900">
                <a:ea typeface="+mn-lt"/>
                <a:cs typeface="+mn-lt"/>
              </a:rPr>
              <a:t>)</a:t>
            </a:r>
          </a:p>
          <a:p>
            <a:r>
              <a:rPr lang="fr-FR" sz="900">
                <a:cs typeface="Calibri"/>
              </a:rPr>
              <a:t>AC 1.11 Rendre compte d'un travail scientifique sur un dispositif de mesure</a:t>
            </a:r>
            <a:endParaRPr lang="fr-FR" sz="900">
              <a:ea typeface="Calibri"/>
              <a:cs typeface="Calibri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DBBCF91-9750-DA92-0990-494FE77C8C77}"/>
              </a:ext>
            </a:extLst>
          </p:cNvPr>
          <p:cNvSpPr txBox="1"/>
          <p:nvPr/>
        </p:nvSpPr>
        <p:spPr>
          <a:xfrm>
            <a:off x="2066564" y="6427500"/>
            <a:ext cx="4663451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1.12 Concevoir</a:t>
            </a:r>
            <a:r>
              <a:rPr lang="fr-FR" sz="900">
                <a:solidFill>
                  <a:srgbClr val="000000"/>
                </a:solidFill>
                <a:ea typeface="+mn-lt"/>
                <a:cs typeface="+mn-lt"/>
              </a:rPr>
              <a:t> un réseau de capteurs communicants en prenant en compte les contraintes énergétiques</a:t>
            </a:r>
            <a:endParaRPr lang="fr-FR" sz="900"/>
          </a:p>
          <a:p>
            <a:r>
              <a:rPr lang="fr-FR" sz="900">
                <a:solidFill>
                  <a:srgbClr val="000000"/>
                </a:solidFill>
                <a:ea typeface="+mn-lt"/>
                <a:cs typeface="+mn-lt"/>
              </a:rPr>
              <a:t>AC </a:t>
            </a:r>
            <a:r>
              <a:rPr lang="fr-FR" sz="900">
                <a:ea typeface="+mn-lt"/>
                <a:cs typeface="+mn-lt"/>
              </a:rPr>
              <a:t>1.13 Prendre des décisions justifiées à partir de mesures, d’observations sur l’environnement, de modèles et de critères</a:t>
            </a:r>
            <a:endParaRPr lang="en-US" sz="9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1.14 Rédiger des spécifications techniques</a:t>
            </a:r>
          </a:p>
        </p:txBody>
      </p:sp>
    </p:spTree>
    <p:extLst>
      <p:ext uri="{BB962C8B-B14F-4D97-AF65-F5344CB8AC3E}">
        <p14:creationId xmlns:p14="http://schemas.microsoft.com/office/powerpoint/2010/main" val="268092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39C6AD-AF35-BE97-714E-47D414B85D41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>
                <a:solidFill>
                  <a:schemeClr val="bg1"/>
                </a:solidFill>
                <a:latin typeface="Myriad Pro" panose="020B0503030403020204" pitchFamily="34" charset="0"/>
              </a:rPr>
              <a:t>		Nom de la formation		Polytech XXX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0197" y="548888"/>
            <a:ext cx="4695445" cy="13726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1400">
                <a:solidFill>
                  <a:schemeClr val="tx1"/>
                </a:solidFill>
                <a:latin typeface="Myriad Pro"/>
              </a:rPr>
              <a:t>Composantes essentielles</a:t>
            </a:r>
          </a:p>
          <a:p>
            <a:pPr marL="171450" indent="-171450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</a:rPr>
              <a:t>En analysant des signaux naturels en accord avec la physique du milieu</a:t>
            </a:r>
            <a:endParaRPr lang="fr-FR" sz="1000">
              <a:solidFill>
                <a:schemeClr val="tx1"/>
              </a:solidFill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 modélisant de manière appropriée le signal utile et le bruit des données</a:t>
            </a:r>
          </a:p>
          <a:p>
            <a:pPr marL="171450" indent="-171450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 construisant une chaine de traitement adaptée aux besoins des clients</a:t>
            </a:r>
          </a:p>
          <a:p>
            <a:pPr marL="171450" indent="-171450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 intégrant les contraintes d’exploitation des données</a:t>
            </a:r>
          </a:p>
          <a:p>
            <a:pPr marL="171450" indent="-171450" algn="just">
              <a:buFont typeface="Arial,Sans-Serif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 prenant en compte la dimension DDRS</a:t>
            </a:r>
            <a:endParaRPr lang="en-US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 rendant compte en interne et en externe par une communication technique et scientifique adaptée</a:t>
            </a:r>
          </a:p>
          <a:p>
            <a:pPr marL="171450" indent="-171450">
              <a:buFont typeface="Arial"/>
              <a:buChar char="•"/>
            </a:pP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algn="just"/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</a:rPr>
              <a:t>Surveillance de phénomènes naturels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</a:rPr>
              <a:t>Étude de l’environnement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</a:rPr>
              <a:t>Gestion des énergies renouvelables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</a:rPr>
              <a:t>Développement de l’habitat intelligent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</a:rPr>
              <a:t>Monitoring de grands ouvrages ou d'installations industrielles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0787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66564" y="4823102"/>
            <a:ext cx="4682214" cy="151332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1F8F7-3B12-EC8D-4424-D149104818B2}"/>
              </a:ext>
            </a:extLst>
          </p:cNvPr>
          <p:cNvSpPr/>
          <p:nvPr/>
        </p:nvSpPr>
        <p:spPr>
          <a:xfrm>
            <a:off x="2066564" y="6451138"/>
            <a:ext cx="4689078" cy="137279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fr-FR" sz="120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1</a:t>
            </a:r>
          </a:p>
          <a:p>
            <a:pPr algn="ctr"/>
            <a:r>
              <a:rPr lang="fr-FR" sz="1200">
                <a:latin typeface="Myriad Pro"/>
              </a:rPr>
              <a:t>À partir de signaux temporels 1D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2</a:t>
            </a:r>
          </a:p>
          <a:p>
            <a:pPr algn="ctr"/>
            <a:r>
              <a:rPr lang="fr-FR" sz="1200">
                <a:cs typeface="Calibri"/>
              </a:rPr>
              <a:t>À partir de signaux 1D ou d'images 2D/3D</a:t>
            </a:r>
          </a:p>
          <a:p>
            <a:pPr algn="ctr"/>
            <a:endParaRPr lang="fr-FR" sz="1200" b="1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429491"/>
            <a:ext cx="1850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3</a:t>
            </a:r>
          </a:p>
          <a:p>
            <a:pPr algn="ctr"/>
            <a:r>
              <a:rPr lang="fr-FR" sz="1200">
                <a:cs typeface="Calibri"/>
              </a:rPr>
              <a:t>À partir d'ensembles de signaux et d’images</a:t>
            </a:r>
          </a:p>
          <a:p>
            <a:pPr algn="ctr"/>
            <a:endParaRPr lang="fr-FR" sz="1200" b="1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traiter </a:t>
            </a:r>
            <a:r>
              <a:rPr lang="fr-FR" sz="1200" b="1" cap="all" err="1">
                <a:solidFill>
                  <a:schemeClr val="bg1"/>
                </a:solidFill>
                <a:ea typeface="+mn-lt"/>
                <a:cs typeface="+mn-lt"/>
              </a:rPr>
              <a:t>DEs</a:t>
            </a:r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 DONNÉES issues de capteurs </a:t>
            </a:r>
            <a:endParaRPr lang="fr-FR" sz="1200" cap="all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endParaRPr lang="fr-FR" sz="1200" cap="all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1200" cap="all">
                <a:ea typeface="Calibri"/>
                <a:cs typeface="Calibri"/>
              </a:rPr>
              <a:t>RNCP35711BC02  RNCP35711BC05 </a:t>
            </a:r>
            <a:endParaRPr lang="fr-FR" sz="1200" cap="all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F84988-4303-5FAC-598E-97F238A8472F}"/>
              </a:ext>
            </a:extLst>
          </p:cNvPr>
          <p:cNvSpPr txBox="1"/>
          <p:nvPr/>
        </p:nvSpPr>
        <p:spPr>
          <a:xfrm>
            <a:off x="2058211" y="3709551"/>
            <a:ext cx="4684618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2.1 - Choisir une représentation déterministe signal/image</a:t>
            </a:r>
          </a:p>
          <a:p>
            <a:r>
              <a:rPr lang="fr-FR" sz="900">
                <a:ea typeface="+mn-lt"/>
                <a:cs typeface="+mn-lt"/>
              </a:rPr>
              <a:t>AC 2.2 - Mettre en œuvre un échantillonnage d’un signal analogique</a:t>
            </a:r>
            <a:endParaRPr lang="fr-FR" sz="2500">
              <a:ea typeface="+mn-lt"/>
              <a:cs typeface="+mn-lt"/>
            </a:endParaRPr>
          </a:p>
          <a:p>
            <a:pPr>
              <a:buFont typeface="Arial"/>
            </a:pPr>
            <a:r>
              <a:rPr lang="fr-FR" sz="900">
                <a:ea typeface="+mn-lt"/>
                <a:cs typeface="+mn-lt"/>
              </a:rPr>
              <a:t>AC 2.3 - Effectuer une analyse temporelle et fréquentielle d’un signal déterministe </a:t>
            </a:r>
            <a:endParaRPr lang="fr-FR" sz="2500">
              <a:ea typeface="+mn-lt"/>
              <a:cs typeface="+mn-lt"/>
            </a:endParaRPr>
          </a:p>
          <a:p>
            <a:pPr>
              <a:buFont typeface="Arial"/>
            </a:pPr>
            <a:r>
              <a:rPr lang="fr-FR" sz="900">
                <a:ea typeface="+mn-lt"/>
                <a:cs typeface="+mn-lt"/>
              </a:rPr>
              <a:t>AC 2.4 - Réaliser un filtre linéaire d'un signal déterministe</a:t>
            </a:r>
          </a:p>
          <a:p>
            <a:pPr>
              <a:buFont typeface="Arial"/>
            </a:pPr>
            <a:r>
              <a:rPr lang="fr-FR" sz="900">
                <a:ea typeface="+mn-lt"/>
                <a:cs typeface="+mn-lt"/>
              </a:rPr>
              <a:t>AC 2.5 - Evaluer l'impact environnemental des solutions proposées</a:t>
            </a:r>
          </a:p>
          <a:p>
            <a:pPr>
              <a:buFont typeface="Arial"/>
            </a:pPr>
            <a:r>
              <a:rPr lang="fr-FR" sz="900">
                <a:ea typeface="+mn-lt"/>
                <a:cs typeface="+mn-lt"/>
              </a:rPr>
              <a:t>AC 2.6 - Présenter des bilans d'études sur les choix techniques et les résultats obtenus</a:t>
            </a:r>
          </a:p>
          <a:p>
            <a:pPr>
              <a:buFont typeface="Arial"/>
            </a:pPr>
            <a:endParaRPr lang="fr-FR" sz="900">
              <a:ea typeface="+mn-lt"/>
              <a:cs typeface="+mn-l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84D950-1711-5A10-D96F-03D2E5D98B73}"/>
              </a:ext>
            </a:extLst>
          </p:cNvPr>
          <p:cNvSpPr txBox="1"/>
          <p:nvPr/>
        </p:nvSpPr>
        <p:spPr>
          <a:xfrm>
            <a:off x="2060616" y="4824083"/>
            <a:ext cx="4695862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2.7 - Choisir une représentation d’un signal aléatoire</a:t>
            </a:r>
            <a:endParaRPr lang="fr-FR" sz="2500">
              <a:latin typeface="Arial"/>
              <a:ea typeface="+mn-lt"/>
              <a:cs typeface="Arial"/>
            </a:endParaRPr>
          </a:p>
          <a:p>
            <a:r>
              <a:rPr lang="fr-FR" sz="900">
                <a:ea typeface="+mn-lt"/>
                <a:cs typeface="+mn-lt"/>
              </a:rPr>
              <a:t>AC 2.8 - R</a:t>
            </a:r>
            <a:r>
              <a:rPr lang="fr-FR" sz="900">
                <a:highlight>
                  <a:srgbClr val="FFFF00"/>
                </a:highlight>
                <a:ea typeface="+mn-lt"/>
                <a:cs typeface="+mn-lt"/>
              </a:rPr>
              <a:t>éaliser une estimation de l'autocorrélation et de la densité spectrale d'un signal aléatoire et effectuer un filtre adaptatif </a:t>
            </a:r>
            <a:endParaRPr lang="fr-FR" sz="2500">
              <a:highlight>
                <a:srgbClr val="FFFF00"/>
              </a:highlight>
              <a:latin typeface="Arial"/>
              <a:ea typeface="+mn-lt"/>
              <a:cs typeface="Arial"/>
            </a:endParaRPr>
          </a:p>
          <a:p>
            <a:r>
              <a:rPr lang="fr-FR" sz="900">
                <a:ea typeface="+mn-lt"/>
                <a:cs typeface="+mn-lt"/>
              </a:rPr>
              <a:t>AC 2.9 - Effectuer des opérations de filtrage linéaire, d’ordre ou morphologique sur des images</a:t>
            </a:r>
            <a:endParaRPr lang="fr-FR" sz="2500">
              <a:latin typeface="Arial"/>
              <a:ea typeface="+mn-lt"/>
              <a:cs typeface="Arial"/>
            </a:endParaRPr>
          </a:p>
          <a:p>
            <a:r>
              <a:rPr lang="fr-FR" sz="900">
                <a:ea typeface="+mn-lt"/>
                <a:cs typeface="+mn-lt"/>
              </a:rPr>
              <a:t>AC 2.10 - Réaliser une détection d’objets, une segmentation d’images</a:t>
            </a:r>
          </a:p>
          <a:p>
            <a:r>
              <a:rPr lang="fr-FR" sz="900">
                <a:ea typeface="+mn-lt"/>
                <a:cs typeface="+mn-lt"/>
              </a:rPr>
              <a:t>AC 2.11 - Estimer les mouvements d’objets dans les séries d’images</a:t>
            </a:r>
            <a:endParaRPr lang="fr-FR" sz="2500">
              <a:latin typeface="Arial"/>
              <a:ea typeface="+mn-lt"/>
              <a:cs typeface="Arial"/>
            </a:endParaRPr>
          </a:p>
          <a:p>
            <a:r>
              <a:rPr lang="fr-FR" sz="900">
                <a:ea typeface="+mn-lt"/>
                <a:cs typeface="+mn-lt"/>
              </a:rPr>
              <a:t>AC 2.12 – Adapter les traitements aux données issues de l’observation de l’environnement</a:t>
            </a:r>
            <a:endParaRPr lang="fr-FR" sz="250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fr-FR" sz="900">
                <a:ea typeface="Calibri"/>
                <a:cs typeface="Calibri"/>
              </a:rPr>
              <a:t>AC 2.13 - Caractériser les incertitudes liées aux données, modèles et méthodes utilisés</a:t>
            </a:r>
          </a:p>
          <a:p>
            <a:r>
              <a:rPr lang="fr-FR" sz="900">
                <a:ea typeface="Calibri"/>
                <a:cs typeface="Calibri"/>
              </a:rPr>
              <a:t>AC 2.14 - Synthétiser des ressources bibliographiques pour se positionner par rapport à l'état de l'art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DBBCF91-9750-DA92-0990-494FE77C8C77}"/>
              </a:ext>
            </a:extLst>
          </p:cNvPr>
          <p:cNvSpPr txBox="1"/>
          <p:nvPr/>
        </p:nvSpPr>
        <p:spPr>
          <a:xfrm>
            <a:off x="2092191" y="6453035"/>
            <a:ext cx="4663451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2.15 - Réaliser des traitements d’apprentissage non-supervisé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2.16 - Mettre en œuvre des stratégies d’apprentissage supervisé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2.17 -  Concevoir des traitements pour mesurer les conséquences du changement climatique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avec différentes sources de données issues de la télédétection</a:t>
            </a:r>
          </a:p>
          <a:p>
            <a:r>
              <a:rPr lang="fr-FR" sz="900">
                <a:ea typeface="+mn-lt"/>
                <a:cs typeface="+mn-lt"/>
              </a:rPr>
              <a:t>AC 2.18 - Elaborer un cahier des charges </a:t>
            </a:r>
            <a:r>
              <a:rPr lang="fr-FR" sz="900" i="1" strike="sngStrike">
                <a:ea typeface="+mn-lt"/>
                <a:cs typeface="+mn-lt"/>
              </a:rPr>
              <a:t>en tenant compte des objectifs de DDRS</a:t>
            </a:r>
          </a:p>
          <a:p>
            <a:r>
              <a:rPr lang="fr-FR" sz="900">
                <a:ea typeface="+mn-lt"/>
                <a:cs typeface="+mn-lt"/>
              </a:rPr>
              <a:t>AC 2.19 – Mettre en place une méthode de gestion de projet de type DMAIC ou PDCA</a:t>
            </a:r>
          </a:p>
          <a:p>
            <a:r>
              <a:rPr lang="fr-FR" sz="900">
                <a:cs typeface="Calibri"/>
              </a:rPr>
              <a:t>AC 2.20 - Présenter un rapport technique complet comportant les aspects du sujet d'étude </a:t>
            </a:r>
            <a:endParaRPr lang="fr-FR" sz="9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284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39C6AD-AF35-BE97-714E-47D414B85D41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>
                <a:solidFill>
                  <a:schemeClr val="bg1"/>
                </a:solidFill>
                <a:latin typeface="Myriad Pro" panose="020B0503030403020204" pitchFamily="34" charset="0"/>
              </a:rPr>
              <a:t>		Nom de la formation		Polytech XXX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900">
                <a:solidFill>
                  <a:schemeClr val="tx1"/>
                </a:solidFill>
              </a:rPr>
              <a:t>Composantes essentielles</a:t>
            </a:r>
          </a:p>
          <a:p>
            <a:pPr marL="171450" indent="-171450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 adoptant une approche systémique</a:t>
            </a:r>
            <a:endParaRPr lang="fr-FR" sz="900">
              <a:solidFill>
                <a:schemeClr val="tx1"/>
              </a:solidFill>
              <a:ea typeface="Calibri" panose="020F0502020204030204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 utilisant des méthodes et outils adaptés</a:t>
            </a:r>
            <a:endParaRPr lang="fr-FR" sz="9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 répondant à l'expression des besoins de façon pertinente  </a:t>
            </a:r>
            <a:endParaRPr lang="fr-FR" sz="9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 communiquant de manière adaptée, étayée et précise</a:t>
            </a:r>
            <a:endParaRPr lang="fr-FR" sz="900">
              <a:solidFill>
                <a:schemeClr val="tx1"/>
              </a:solidFill>
              <a:ea typeface="Calibri" panose="020F0502020204030204"/>
              <a:cs typeface="Calibri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fr-FR" sz="900">
                <a:solidFill>
                  <a:schemeClr val="tx1"/>
                </a:solidFill>
                <a:ea typeface="Calibri" panose="020F0502020204030204"/>
                <a:cs typeface="Calibri"/>
              </a:rPr>
              <a:t>En prenant en compte ou en maitrisant les impacts environnementaux et sociétaux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Courier New"/>
              <a:buChar char="o"/>
            </a:pPr>
            <a:r>
              <a:rPr lang="fr-FR" sz="900">
                <a:solidFill>
                  <a:schemeClr val="tx1"/>
                </a:solidFill>
                <a:ea typeface="Calibri"/>
                <a:cs typeface="Segoe UI"/>
              </a:rPr>
              <a:t>Tests et prototypage</a:t>
            </a:r>
            <a:endParaRPr lang="fr-FR" sz="9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Courier New"/>
              <a:buChar char="o"/>
            </a:pPr>
            <a:r>
              <a:rPr lang="fr-FR" sz="900">
                <a:solidFill>
                  <a:schemeClr val="tx1"/>
                </a:solidFill>
                <a:ea typeface="Calibri"/>
                <a:cs typeface="Calibri"/>
              </a:rPr>
              <a:t>Surveillance et diagnostic </a:t>
            </a:r>
            <a:endParaRPr lang="fr-FR" sz="900">
              <a:solidFill>
                <a:schemeClr val="tx1"/>
              </a:solidFill>
              <a:ea typeface="Calibri"/>
              <a:cs typeface="Segoe UI"/>
            </a:endParaRPr>
          </a:p>
          <a:p>
            <a:pPr marL="171450" indent="-171450">
              <a:buFont typeface="Courier New"/>
              <a:buChar char="o"/>
            </a:pPr>
            <a:r>
              <a:rPr lang="fr-FR" sz="900">
                <a:solidFill>
                  <a:schemeClr val="tx1"/>
                </a:solidFill>
                <a:ea typeface="Calibri"/>
                <a:cs typeface="Calibri"/>
              </a:rPr>
              <a:t>Conception et développement de machines et machines spéciales</a:t>
            </a:r>
          </a:p>
          <a:p>
            <a:pPr marL="171450" indent="-171450">
              <a:buFont typeface="Courier New"/>
              <a:buChar char="o"/>
            </a:pPr>
            <a:r>
              <a:rPr lang="fr-FR" sz="900">
                <a:solidFill>
                  <a:schemeClr val="tx1"/>
                </a:solidFill>
                <a:ea typeface="Calibri"/>
                <a:cs typeface="Calibri"/>
              </a:rPr>
              <a:t>Pilotage et contrôle de procédés industriels ou de lignes de production 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>
                <a:latin typeface="Myriad Pro" panose="020B0503030403020204" pitchFamily="34" charset="0"/>
              </a:rPr>
              <a:t>Situations professionnelles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84691" y="3724791"/>
            <a:ext cx="1865812" cy="406177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fr-FR" sz="120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1</a:t>
            </a:r>
          </a:p>
          <a:p>
            <a:pPr algn="ctr"/>
            <a:r>
              <a:rPr lang="fr-FR" sz="1200">
                <a:latin typeface="Calibri"/>
                <a:ea typeface="Calibri"/>
                <a:cs typeface="Calibri"/>
              </a:rPr>
              <a:t>pour la commande d'un système simple continu ou discret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2</a:t>
            </a:r>
          </a:p>
          <a:p>
            <a:pPr algn="ctr"/>
            <a:r>
              <a:rPr lang="fr-FR" sz="1200">
                <a:latin typeface="Calibri"/>
                <a:ea typeface="Calibri"/>
                <a:cs typeface="Calibri"/>
              </a:rPr>
              <a:t>pour le contrôle d'un système centralisé ou réparti (appuyé par des modèles, des simulations)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536171"/>
            <a:ext cx="18505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3</a:t>
            </a:r>
          </a:p>
          <a:p>
            <a:pPr algn="ctr"/>
            <a:r>
              <a:rPr lang="fr-FR" sz="1200">
                <a:latin typeface="Calibri"/>
                <a:ea typeface="Calibri"/>
                <a:cs typeface="Calibri"/>
              </a:rPr>
              <a:t>pour le contrôle et le pilotage d'un système par des techniques avancées d'automatique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Aft>
                <a:spcPts val="600"/>
              </a:spcAft>
            </a:pPr>
            <a:r>
              <a:rPr lang="fr-FR" sz="1200" b="1" cap="all">
                <a:solidFill>
                  <a:schemeClr val="bg1"/>
                </a:solidFill>
                <a:ea typeface="+mn-lt"/>
                <a:cs typeface="Calibri"/>
              </a:rPr>
              <a:t>Élaborer des structures de commande et de pilotage de systèmes automatisés</a:t>
            </a:r>
            <a:br>
              <a:rPr lang="fr-FR" sz="1200" b="1" cap="all">
                <a:solidFill>
                  <a:schemeClr val="bg1"/>
                </a:solidFill>
                <a:ea typeface="+mn-lt"/>
                <a:cs typeface="Calibri"/>
              </a:rPr>
            </a:br>
            <a:r>
              <a:rPr lang="fr-FR" sz="1200" b="1" cap="all">
                <a:solidFill>
                  <a:schemeClr val="bg1"/>
                </a:solidFill>
                <a:ea typeface="+mn-lt"/>
                <a:cs typeface="Calibri"/>
              </a:rPr>
              <a:t>RNCP35711BC03</a:t>
            </a:r>
            <a:r>
              <a:rPr lang="fr-FR" sz="1200" cap="all">
                <a:solidFill>
                  <a:schemeClr val="bg1"/>
                </a:solidFill>
                <a:ea typeface="+mn-lt"/>
                <a:cs typeface="Calibri"/>
              </a:rPr>
              <a:t> </a:t>
            </a:r>
            <a:r>
              <a:rPr lang="fr-FR" sz="1200" cap="all"/>
              <a:t>RNCP35711BC05</a:t>
            </a:r>
            <a:endParaRPr lang="fr-FR" sz="1200" cap="all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F84988-4303-5FAC-598E-97F238A8472F}"/>
              </a:ext>
            </a:extLst>
          </p:cNvPr>
          <p:cNvSpPr txBox="1"/>
          <p:nvPr/>
        </p:nvSpPr>
        <p:spPr>
          <a:xfrm>
            <a:off x="2071024" y="3692163"/>
            <a:ext cx="468461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latin typeface="Myriad Pro"/>
                <a:ea typeface="+mn-lt"/>
                <a:cs typeface="+mn-lt"/>
              </a:rPr>
              <a:t>AC 3.1 Mettre en œuvre une démarche d'analyse pour la modélisation et l'identification d'un système 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3.2  </a:t>
            </a:r>
            <a:r>
              <a:rPr lang="fr-FR" sz="900" i="1" strike="sngStrike">
                <a:latin typeface="Myriad Pro"/>
                <a:ea typeface="+mn-lt"/>
                <a:cs typeface="+mn-lt"/>
              </a:rPr>
              <a:t>Utiliser les outils mathématiques appropriés pour </a:t>
            </a:r>
            <a:r>
              <a:rPr lang="fr-FR" sz="900">
                <a:latin typeface="Myriad Pro"/>
                <a:ea typeface="+mn-lt"/>
                <a:cs typeface="+mn-lt"/>
              </a:rPr>
              <a:t>l'analyse des signaux et des systèmes continus ou échantillonnés </a:t>
            </a:r>
          </a:p>
          <a:p>
            <a:r>
              <a:rPr lang="fr-FR" sz="900">
                <a:latin typeface="Myriad Pro"/>
                <a:ea typeface="+mn-lt"/>
                <a:cs typeface="+mn-lt"/>
              </a:rPr>
              <a:t>AC 3.3 Simuler et mettre en œuvre une solution de commande en boucle ouverte 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3.4 Utiliser les outils de modélisation de l'automatisation (GEMMA, GRAFCET) 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 3.5 </a:t>
            </a:r>
            <a:r>
              <a:rPr lang="fr-FR" sz="900">
                <a:solidFill>
                  <a:srgbClr val="333333"/>
                </a:solidFill>
                <a:latin typeface="Myriad Pro"/>
                <a:ea typeface="+mn-lt"/>
                <a:cs typeface="Segoe UI"/>
              </a:rPr>
              <a:t>Organiser la modularisation et hiérarchisation d’une solution de commande d‘un automatisme simple et la mettre en œuvre</a:t>
            </a:r>
            <a:endParaRPr lang="fr-FR" sz="900">
              <a:latin typeface="Myriad Pro"/>
              <a:ea typeface="+mn-lt"/>
              <a:cs typeface="+mn-l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84D950-1711-5A10-D96F-03D2E5D98B73}"/>
              </a:ext>
            </a:extLst>
          </p:cNvPr>
          <p:cNvSpPr txBox="1"/>
          <p:nvPr/>
        </p:nvSpPr>
        <p:spPr>
          <a:xfrm>
            <a:off x="2072970" y="6251379"/>
            <a:ext cx="4676264" cy="784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900">
                <a:latin typeface="Myriad Pro"/>
                <a:ea typeface="+mn-lt"/>
                <a:cs typeface="+mn-lt"/>
              </a:rPr>
              <a:t>AC 3.14 Construire des modèles de type représentation d’état de systèmes multi-entrées multi-sorties 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3.15 Construire des observateurs pour obtenir des informations sur l'état d'un système</a:t>
            </a:r>
          </a:p>
          <a:p>
            <a:r>
              <a:rPr lang="fr-FR" sz="900">
                <a:latin typeface="Myriad Pro"/>
                <a:ea typeface="+mn-lt"/>
                <a:cs typeface="+mn-lt"/>
              </a:rPr>
              <a:t>AC 3.16 Concevoir des structures de commande avancée</a:t>
            </a:r>
            <a:endParaRPr lang="en-US" sz="900">
              <a:latin typeface="Myriad Pro"/>
              <a:cs typeface="Calibri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DBBCF91-9750-DA92-0990-494FE77C8C77}"/>
              </a:ext>
            </a:extLst>
          </p:cNvPr>
          <p:cNvSpPr txBox="1"/>
          <p:nvPr/>
        </p:nvSpPr>
        <p:spPr>
          <a:xfrm>
            <a:off x="2064137" y="4872711"/>
            <a:ext cx="4678691" cy="129266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lIns="91440" tIns="45720" rIns="91440" bIns="0" rtlCol="0" anchor="t">
            <a:spAutoFit/>
          </a:bodyPr>
          <a:lstStyle/>
          <a:p>
            <a:r>
              <a:rPr lang="fr-FR" sz="900">
                <a:latin typeface="Myriad Pro"/>
                <a:ea typeface="+mn-lt"/>
                <a:cs typeface="+mn-lt"/>
              </a:rPr>
              <a:t>AC 3.7 Synthétiser un correcteur standard en s'assurant de la stabilité du système bouclé;  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3.8 Simuler et mettre en œuvre une solution de commande en boucle fermée   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3.9 Evaluer les performances </a:t>
            </a:r>
            <a:r>
              <a:rPr lang="fr-FR" sz="900">
                <a:solidFill>
                  <a:srgbClr val="333333"/>
                </a:solidFill>
                <a:latin typeface="Myriad Pro"/>
                <a:ea typeface="+mn-lt"/>
                <a:cs typeface="Segoe UI"/>
              </a:rPr>
              <a:t>de la solution de commande en boucle fermée</a:t>
            </a:r>
            <a:r>
              <a:rPr lang="fr-FR" sz="900">
                <a:latin typeface="Myriad Pro"/>
                <a:ea typeface="+mn-lt"/>
                <a:cs typeface="+mn-lt"/>
              </a:rPr>
              <a:t> 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3.10 Caractériser la solution centralisée / décentralisée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3.11</a:t>
            </a:r>
            <a:r>
              <a:rPr lang="fr-FR" sz="900">
                <a:highlight>
                  <a:srgbClr val="FFFF00"/>
                </a:highlight>
                <a:latin typeface="Myriad Pro"/>
                <a:ea typeface="+mn-lt"/>
                <a:cs typeface="+mn-lt"/>
              </a:rPr>
              <a:t> Organiser la démarche de décentralisation de la commande,  la modularisation, la hiérarchisation de la solution et la mettre en œuvre</a:t>
            </a:r>
            <a:endParaRPr lang="en-US" sz="900">
              <a:highlight>
                <a:srgbClr val="FFFF00"/>
              </a:highlight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3.12 Collaborer sur un projet en équipe 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3.13 Présenter les résultats de son travail  </a:t>
            </a:r>
            <a:endParaRPr lang="en-US" sz="900">
              <a:latin typeface="Myriad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6914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39C6AD-AF35-BE97-714E-47D414B85D41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>
                <a:solidFill>
                  <a:schemeClr val="bg1"/>
                </a:solidFill>
                <a:latin typeface="Myriad Pro" panose="020B0503030403020204" pitchFamily="34" charset="0"/>
              </a:rPr>
              <a:t>		Nom de la formation		Polytech XXX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900">
                <a:solidFill>
                  <a:schemeClr val="tx1"/>
                </a:solidFill>
              </a:rPr>
              <a:t>Composantes essentielles</a:t>
            </a:r>
          </a:p>
          <a:p>
            <a:pPr marL="171450" indent="-171450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  <a:cs typeface="Calibri" panose="020F0502020204030204"/>
              </a:rPr>
              <a:t>En répondant à l'expression des besoins de façon pertinente </a:t>
            </a:r>
            <a:endParaRPr lang="fr-FR" sz="900">
              <a:solidFill>
                <a:schemeClr val="tx1"/>
              </a:solidFill>
              <a:ea typeface="Calibri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 utilisant de manière critique des méthodes et outils assurant la qualité du système (gestion de projet informatique, </a:t>
            </a:r>
            <a:r>
              <a:rPr lang="fr-FR" sz="900">
                <a:solidFill>
                  <a:schemeClr val="tx1"/>
                </a:solidFill>
                <a:ea typeface="Calibri"/>
                <a:cs typeface="Arial"/>
              </a:rPr>
              <a:t>standards qualité, sûreté, sécurité, amélioration continue</a:t>
            </a:r>
            <a:r>
              <a:rPr lang="fr-FR" sz="900">
                <a:solidFill>
                  <a:schemeClr val="tx1"/>
                </a:solidFill>
              </a:rPr>
              <a:t>)</a:t>
            </a:r>
            <a:endParaRPr lang="fr-FR" sz="9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 </a:t>
            </a:r>
            <a:r>
              <a:rPr lang="fr-FR" sz="900">
                <a:solidFill>
                  <a:schemeClr val="tx1"/>
                </a:solidFill>
                <a:ea typeface="Calibri"/>
                <a:cs typeface="Arial"/>
              </a:rPr>
              <a:t>adoptant une approche systémique (aspects matériels et logiciels)</a:t>
            </a:r>
            <a:endParaRPr lang="fr-FR" sz="900">
              <a:solidFill>
                <a:schemeClr val="tx1"/>
              </a:solidFill>
              <a:cs typeface="Calibri" panose="020F0502020204030204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  <a:cs typeface="Segoe UI"/>
              </a:rPr>
              <a:t>En communiquant de manière adaptée, étayée et précise</a:t>
            </a:r>
            <a:endParaRPr lang="fr-FR" sz="900">
              <a:solidFill>
                <a:schemeClr val="tx1"/>
              </a:solidFill>
              <a:ea typeface="Calibri"/>
              <a:cs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  <a:ea typeface="+mn-lt"/>
                <a:cs typeface="+mn-lt"/>
              </a:rPr>
              <a:t>En adoptant une démarche </a:t>
            </a:r>
            <a:r>
              <a:rPr lang="fr-FR" sz="900">
                <a:solidFill>
                  <a:schemeClr val="tx1"/>
                </a:solidFill>
                <a:ea typeface="+mn-lt"/>
                <a:cs typeface="Calibri"/>
              </a:rPr>
              <a:t>respectueuse de la règlementation, </a:t>
            </a:r>
            <a:r>
              <a:rPr lang="fr-FR" sz="900">
                <a:solidFill>
                  <a:schemeClr val="tx1"/>
                </a:solidFill>
                <a:ea typeface="+mn-lt"/>
                <a:cs typeface="Segoe UI"/>
              </a:rPr>
              <a:t>du développement durable et de la responsabilité sociétale </a:t>
            </a:r>
            <a:r>
              <a:rPr lang="fr-FR" sz="900">
                <a:solidFill>
                  <a:schemeClr val="tx1"/>
                </a:solidFill>
                <a:ea typeface="+mn-lt"/>
                <a:cs typeface="+mn-lt"/>
              </a:rPr>
              <a:t> (frugalité numérique, accessibilité, RGPD, licences, ...)</a:t>
            </a:r>
            <a:endParaRPr lang="fr-FR" sz="900">
              <a:solidFill>
                <a:schemeClr val="tx1"/>
              </a:solidFill>
              <a:ea typeface="Calibri"/>
              <a:cs typeface="Calibri"/>
            </a:endParaRPr>
          </a:p>
          <a:p>
            <a:pPr algn="just"/>
            <a:endParaRPr lang="fr-FR" sz="900">
              <a:solidFill>
                <a:schemeClr val="tx1"/>
              </a:solidFill>
              <a:highlight>
                <a:srgbClr val="00FF00"/>
              </a:highlight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Conception et mise en œuvre de l'Internet des Objets (Internet of Things, IoT)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Conception et réalisation d'applications logicielles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Conception et réalisation d'un système informatique d'acquisition et de traitement de données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10668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66564" y="4892972"/>
            <a:ext cx="4689078" cy="118864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1F8F7-3B12-EC8D-4424-D149104818B2}"/>
              </a:ext>
            </a:extLst>
          </p:cNvPr>
          <p:cNvSpPr/>
          <p:nvPr/>
        </p:nvSpPr>
        <p:spPr>
          <a:xfrm>
            <a:off x="2066564" y="6182399"/>
            <a:ext cx="4689078" cy="126413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fr-FR" sz="120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1</a:t>
            </a:r>
          </a:p>
          <a:p>
            <a:pPr algn="ctr"/>
            <a:r>
              <a:rPr lang="fr-FR" sz="1000">
                <a:latin typeface="Calibri"/>
                <a:ea typeface="Calibri"/>
                <a:cs typeface="Calibri"/>
              </a:rPr>
              <a:t>pour une application simple 3-tiers intégrant une base de données et programmée, en langage procédural ou obje</a:t>
            </a:r>
            <a:r>
              <a:rPr lang="fr-FR" sz="1000">
                <a:latin typeface="Myriad Pro"/>
              </a:rPr>
              <a:t>t</a:t>
            </a:r>
            <a:endParaRPr lang="fr-FR" sz="1000">
              <a:latin typeface="Myriad Pro" panose="020B0503030403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2</a:t>
            </a:r>
          </a:p>
          <a:p>
            <a:pPr algn="ctr"/>
            <a:r>
              <a:rPr lang="fr-FR" sz="1000">
                <a:latin typeface="Myriad Pro"/>
                <a:ea typeface="Calibri"/>
                <a:cs typeface="Times New Roman"/>
              </a:rPr>
              <a:t>pour des applications informatiques embarquées avec une architecture N-tiers, en langage procédural ou objet</a:t>
            </a:r>
            <a:endParaRPr lang="fr-FR" sz="1000">
              <a:latin typeface="Myriad Pro"/>
              <a:ea typeface="Calibri"/>
              <a:cs typeface="Calibri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429491"/>
            <a:ext cx="18505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3</a:t>
            </a:r>
          </a:p>
          <a:p>
            <a:pPr algn="ctr"/>
            <a:r>
              <a:rPr lang="fr-FR" sz="1000">
                <a:ea typeface="Calibri"/>
                <a:cs typeface="Times New Roman"/>
              </a:rPr>
              <a:t>pour des applications informatiques intégrant  des systèmes  embarqués communicants</a:t>
            </a:r>
            <a:r>
              <a:rPr lang="fr-FR" sz="1000">
                <a:cs typeface="Times New Roman"/>
              </a:rPr>
              <a:t> </a:t>
            </a:r>
            <a:endParaRPr lang="fr-FR" sz="1000">
              <a:cs typeface="Calibri" panose="020F0502020204030204"/>
            </a:endParaRPr>
          </a:p>
          <a:p>
            <a:pPr algn="ctr"/>
            <a:endParaRPr lang="fr-FR" sz="1200" b="1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DÉVELOPPER UN SYSTÈME </a:t>
            </a:r>
            <a:b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</a:br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INFORMATIQUE </a:t>
            </a:r>
            <a:b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</a:br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embarqué</a:t>
            </a:r>
            <a:endParaRPr lang="fr-FR" sz="1200" cap="all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1200" cap="all">
                <a:ea typeface="Calibri"/>
                <a:cs typeface="Calibri"/>
              </a:rPr>
              <a:t>RNCP35711BC04 </a:t>
            </a:r>
            <a:r>
              <a:rPr lang="fr-FR" sz="1200" cap="all"/>
              <a:t>RNCP35711BC05</a:t>
            </a:r>
            <a:endParaRPr lang="fr-FR" sz="1200" cap="all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F84988-4303-5FAC-598E-97F238A8472F}"/>
              </a:ext>
            </a:extLst>
          </p:cNvPr>
          <p:cNvSpPr txBox="1"/>
          <p:nvPr/>
        </p:nvSpPr>
        <p:spPr>
          <a:xfrm>
            <a:off x="2170415" y="3739208"/>
            <a:ext cx="4684618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latin typeface="Calibri"/>
                <a:cs typeface="Calibri"/>
              </a:rPr>
              <a:t>AC 4.1 </a:t>
            </a:r>
            <a:r>
              <a:rPr lang="fr-FR" sz="900">
                <a:highlight>
                  <a:srgbClr val="FFFF00"/>
                </a:highlight>
                <a:latin typeface="Calibri"/>
                <a:cs typeface="Calibri"/>
              </a:rPr>
              <a:t>Concevoir, gérer et utiliser </a:t>
            </a:r>
            <a:r>
              <a:rPr lang="fr-FR" sz="900">
                <a:latin typeface="Calibri"/>
                <a:cs typeface="Calibri"/>
              </a:rPr>
              <a:t>une base de données  </a:t>
            </a:r>
            <a:endParaRPr lang="en-US" sz="900">
              <a:latin typeface="Calibri"/>
              <a:cs typeface="Calibri"/>
            </a:endParaRPr>
          </a:p>
          <a:p>
            <a:r>
              <a:rPr lang="fr-FR" sz="900">
                <a:latin typeface="Calibri"/>
                <a:cs typeface="Calibri"/>
              </a:rPr>
              <a:t>AC 4.2 </a:t>
            </a:r>
            <a:r>
              <a:rPr lang="fr-FR" sz="900">
                <a:highlight>
                  <a:srgbClr val="FFFF00"/>
                </a:highlight>
                <a:latin typeface="Calibri"/>
                <a:cs typeface="Calibri"/>
              </a:rPr>
              <a:t>Concevoir et implémenter u</a:t>
            </a:r>
            <a:r>
              <a:rPr lang="fr-FR" sz="900">
                <a:latin typeface="Calibri"/>
                <a:cs typeface="Calibri"/>
              </a:rPr>
              <a:t>n algorithme dans un programme informatique pour résoudre un problème</a:t>
            </a:r>
            <a:endParaRPr lang="en-US" sz="900">
              <a:latin typeface="Calibri"/>
              <a:cs typeface="Calibri"/>
            </a:endParaRPr>
          </a:p>
          <a:p>
            <a:r>
              <a:rPr lang="fr-FR" sz="900">
                <a:latin typeface="Calibri"/>
                <a:cs typeface="Calibri"/>
              </a:rPr>
              <a:t>AC 4.3 </a:t>
            </a:r>
            <a:r>
              <a:rPr lang="fr-FR" sz="900">
                <a:highlight>
                  <a:srgbClr val="FFFF00"/>
                </a:highlight>
                <a:latin typeface="Calibri"/>
                <a:cs typeface="Calibri"/>
              </a:rPr>
              <a:t>Concevoir et implémenter </a:t>
            </a:r>
            <a:r>
              <a:rPr lang="fr-FR" sz="900">
                <a:latin typeface="Calibri"/>
                <a:cs typeface="Calibri"/>
              </a:rPr>
              <a:t>une application logicielle avec un nombre limité de fonctionnalités </a:t>
            </a:r>
            <a:endParaRPr lang="en-US" sz="900">
              <a:latin typeface="Calibri"/>
              <a:ea typeface="Calibri"/>
              <a:cs typeface="Calibri"/>
            </a:endParaRPr>
          </a:p>
          <a:p>
            <a:r>
              <a:rPr lang="fr-FR" sz="900">
                <a:latin typeface="Calibri"/>
                <a:cs typeface="Calibri"/>
              </a:rPr>
              <a:t>AC 4.4 </a:t>
            </a:r>
            <a:r>
              <a:rPr lang="fr-FR" sz="900">
                <a:solidFill>
                  <a:srgbClr val="333333"/>
                </a:solidFill>
                <a:latin typeface="Segoe UI"/>
                <a:cs typeface="Segoe UI"/>
              </a:rPr>
              <a:t>Développer une application Web intégrant une base de données relationnelle</a:t>
            </a:r>
            <a:r>
              <a:rPr lang="fr-FR" sz="900">
                <a:latin typeface="Calibri"/>
                <a:cs typeface="Calibri"/>
              </a:rPr>
              <a:t>  </a:t>
            </a:r>
            <a:endParaRPr lang="en-US" sz="900">
              <a:latin typeface="Calibri"/>
              <a:cs typeface="Calibri"/>
            </a:endParaRPr>
          </a:p>
          <a:p>
            <a:r>
              <a:rPr lang="fr-FR" sz="900">
                <a:latin typeface="Calibri"/>
                <a:cs typeface="Calibri"/>
              </a:rPr>
              <a:t>AC 4.5 Définir le périmètre d'un projet</a:t>
            </a:r>
            <a:endParaRPr lang="fr-FR" sz="900">
              <a:latin typeface="Calibri"/>
              <a:ea typeface="Calibri"/>
              <a:cs typeface="Calibri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84D950-1711-5A10-D96F-03D2E5D98B73}"/>
              </a:ext>
            </a:extLst>
          </p:cNvPr>
          <p:cNvSpPr txBox="1"/>
          <p:nvPr/>
        </p:nvSpPr>
        <p:spPr>
          <a:xfrm>
            <a:off x="2072970" y="6160213"/>
            <a:ext cx="4676264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4.12 </a:t>
            </a:r>
            <a:r>
              <a:rPr lang="fr-FR" sz="900">
                <a:highlight>
                  <a:srgbClr val="FFFF00"/>
                </a:highlight>
                <a:ea typeface="+mn-lt"/>
                <a:cs typeface="+mn-lt"/>
              </a:rPr>
              <a:t>Définir et mettre en œuvre</a:t>
            </a:r>
            <a:r>
              <a:rPr lang="fr-FR" sz="900">
                <a:ea typeface="+mn-lt"/>
                <a:cs typeface="+mn-lt"/>
              </a:rPr>
              <a:t> une architecture pour les systèmes embarqués communicants (organisation matérielle et logicielle, IoT..) </a:t>
            </a:r>
            <a:endParaRPr lang="en-US" sz="9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4.13 </a:t>
            </a:r>
            <a:r>
              <a:rPr lang="fr-FR" sz="900">
                <a:highlight>
                  <a:srgbClr val="FFFF00"/>
                </a:highlight>
                <a:ea typeface="+mn-lt"/>
                <a:cs typeface="+mn-lt"/>
              </a:rPr>
              <a:t>Caractériser et choisir</a:t>
            </a:r>
            <a:r>
              <a:rPr lang="fr-FR" sz="900">
                <a:ea typeface="+mn-lt"/>
                <a:cs typeface="+mn-lt"/>
              </a:rPr>
              <a:t> les moyens de communication entre les sous-systèmes 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4.14 Identifier les critères garantissant la sûreté, la fiabilité et la sécurité d'un système embarqué  </a:t>
            </a:r>
            <a:r>
              <a:rPr lang="fr-FR" sz="900">
                <a:highlight>
                  <a:srgbClr val="00FF00"/>
                </a:highlight>
                <a:ea typeface="+mn-lt"/>
                <a:cs typeface="+mn-lt"/>
              </a:rPr>
              <a:t>(production d'une documentation technique) à mettre à part</a:t>
            </a:r>
            <a:endParaRPr lang="en-US" sz="2500">
              <a:highlight>
                <a:srgbClr val="00FF00"/>
              </a:highlight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4.15 Concevoir des applications multitâches et temps réel 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4.16</a:t>
            </a:r>
            <a:r>
              <a:rPr lang="fr-FR" sz="900">
                <a:highlight>
                  <a:srgbClr val="FFFF00"/>
                </a:highlight>
                <a:ea typeface="+mn-lt"/>
                <a:cs typeface="+mn-lt"/>
              </a:rPr>
              <a:t> Évaluer et optimiser</a:t>
            </a:r>
            <a:r>
              <a:rPr lang="fr-FR" sz="900">
                <a:ea typeface="+mn-lt"/>
                <a:cs typeface="+mn-lt"/>
              </a:rPr>
              <a:t> les performances énergétiques d'un système embarqué </a:t>
            </a:r>
            <a:endParaRPr lang="en-US" sz="2500">
              <a:ea typeface="+mn-lt"/>
              <a:cs typeface="+mn-lt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DBBCF91-9750-DA92-0990-494FE77C8C77}"/>
              </a:ext>
            </a:extLst>
          </p:cNvPr>
          <p:cNvSpPr txBox="1"/>
          <p:nvPr/>
        </p:nvSpPr>
        <p:spPr>
          <a:xfrm>
            <a:off x="2094318" y="4978813"/>
            <a:ext cx="4663451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4.6 Intégrer les exigences du RGPD et du droit de la propriété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4.7 </a:t>
            </a:r>
            <a:r>
              <a:rPr lang="fr-FR" sz="900">
                <a:highlight>
                  <a:srgbClr val="FFFF00"/>
                </a:highlight>
                <a:ea typeface="+mn-lt"/>
                <a:cs typeface="+mn-lt"/>
              </a:rPr>
              <a:t>Spécifier et concevoir</a:t>
            </a:r>
            <a:r>
              <a:rPr lang="fr-FR" sz="900">
                <a:ea typeface="+mn-lt"/>
                <a:cs typeface="+mn-lt"/>
              </a:rPr>
              <a:t> un système embarqué 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4.8 Intégrer la dimension qualité dans le développement du système embarqué 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4.9 Adopter une démarche de gestion de projet adaptée au développement d'un système informatique embarqué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4.10 Appliquer une méthode créative et centrée sur l'utilisateur (design </a:t>
            </a:r>
            <a:r>
              <a:rPr lang="fr-FR" sz="900" err="1">
                <a:ea typeface="+mn-lt"/>
                <a:cs typeface="+mn-lt"/>
              </a:rPr>
              <a:t>thinking</a:t>
            </a:r>
            <a:r>
              <a:rPr lang="fr-FR" sz="900">
                <a:ea typeface="+mn-lt"/>
                <a:cs typeface="+mn-lt"/>
              </a:rPr>
              <a:t> )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4.11 Développer une application s'appuyant sur un système N-tiers</a:t>
            </a:r>
            <a:endParaRPr lang="en-US" sz="25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40034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a932de8-014e-4395-a210-acace869bdb6">
      <Terms xmlns="http://schemas.microsoft.com/office/infopath/2007/PartnerControls"/>
    </lcf76f155ced4ddcb4097134ff3c332f>
    <TaxCatchAll xmlns="64984f8b-2057-4450-93f2-8aa5e6a062c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2dfcd33df7f21bc1d96cac68e309c354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e67dd59e0820bf22da62f711b406a14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7DD30F-A297-4FC9-B9BE-64DF109F2300}">
  <ds:schemaRefs>
    <ds:schemaRef ds:uri="5a932de8-014e-4395-a210-acace869bdb6"/>
    <ds:schemaRef ds:uri="64984f8b-2057-4450-93f2-8aa5e6a062c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B3699C8-6372-4A5C-BD5F-9D45EF57FB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4553D5-4F74-413E-8A83-577244CA0204}">
  <ds:schemaRefs>
    <ds:schemaRef ds:uri="5a932de8-014e-4395-a210-acace869bdb6"/>
    <ds:schemaRef ds:uri="64984f8b-2057-4450-93f2-8aa5e6a062c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On-screen Show (4:3)</PresentationFormat>
  <Slides>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Arnaud Stolz</dc:creator>
  <cp:revision>2</cp:revision>
  <dcterms:created xsi:type="dcterms:W3CDTF">2024-01-30T16:46:58Z</dcterms:created>
  <dcterms:modified xsi:type="dcterms:W3CDTF">2025-01-13T13:01:19Z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MediaServiceImageTags">
    <vt:lpwstr/>
  </property>
</Properties>
</file>