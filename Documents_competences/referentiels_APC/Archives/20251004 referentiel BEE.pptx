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66" r:id="rId2"/>
    <p:sldId id="276" r:id="rId3"/>
    <p:sldId id="274" r:id="rId4"/>
    <p:sldId id="277" r:id="rId5"/>
    <p:sldId id="278" r:id="rId6"/>
    <p:sldId id="279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odie Gardet" initials="EG" lastIdx="1" clrIdx="0">
    <p:extLst>
      <p:ext uri="{19B8F6BF-5375-455C-9EA6-DF929625EA0E}">
        <p15:presenceInfo xmlns:p15="http://schemas.microsoft.com/office/powerpoint/2012/main" userId="Elodie Garde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831"/>
    <a:srgbClr val="FEF3C2"/>
    <a:srgbClr val="8C4BE2"/>
    <a:srgbClr val="4FA954"/>
    <a:srgbClr val="7F7F7F"/>
    <a:srgbClr val="1D7ACC"/>
    <a:srgbClr val="369FE3"/>
    <a:srgbClr val="FAD632"/>
    <a:srgbClr val="FCDF51"/>
    <a:srgbClr val="FFE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46" autoAdjust="0"/>
    <p:restoredTop sz="94582" autoAdjust="0"/>
  </p:normalViewPr>
  <p:slideViewPr>
    <p:cSldViewPr>
      <p:cViewPr varScale="1">
        <p:scale>
          <a:sx n="84" d="100"/>
          <a:sy n="84" d="100"/>
        </p:scale>
        <p:origin x="264" y="5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13E81-940D-4642-9FBB-D58CCA39D57C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2E30C-1A81-0444-AC6E-8E81B7BEE9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19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02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78551-9EC9-241E-756E-7E7C5CF7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3EF346-41CD-A87C-AD6D-EDBFEA37B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E5EE7D-5BF3-10BA-FF77-6FFEAD58C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4772A-8221-2B7A-3C60-CA8EA0FA8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222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D2D6-D756-EAD1-31EE-A6E1F026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F34487-C2EC-DDBD-839C-E954EB0A8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45DE27-C4A1-77F3-DAD0-DD42A1E09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F981CD-90E7-B8F5-4623-CA7CD7118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668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3038-BE08-1BA8-AF1A-71ECF961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3D6D2E4-E3FF-23FB-E7F8-F2AA3B0E9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2B8A0E-40CE-CBCC-A375-329A32B3E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3075D3-4D98-5275-9FFF-C8A12B101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779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RÉFÉRENTIEL DE COMPÉTENCES</a:t>
            </a:r>
          </a:p>
          <a:p>
            <a:pPr algn="ctr"/>
            <a:r>
              <a:rPr lang="fr-FR" sz="8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Bâtiment Écoconstruction Énergie</a:t>
            </a:r>
          </a:p>
        </p:txBody>
      </p:sp>
      <p:pic>
        <p:nvPicPr>
          <p:cNvPr id="124" name="Image 123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9133B9D9-D157-237C-81CB-5FE0ACB7F2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26" name="Image 12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68C9169-AB00-82FC-2A68-6D9DC23FE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1026" name="Picture 2" descr="Réseau Polytech — Wikipédia">
            <a:extLst>
              <a:ext uri="{FF2B5EF4-FFF2-40B4-BE49-F238E27FC236}">
                <a16:creationId xmlns:a16="http://schemas.microsoft.com/office/drawing/2014/main" id="{1200467D-24F8-A237-F85E-0DE8885B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3887-F143-01A2-208D-0B30DFB7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85F193DA-4C9B-31CF-9E03-8506104987BB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COMPÉTENCES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FCBE14E2-982F-D423-E4F8-756C0F60CBBF}"/>
              </a:ext>
            </a:extLst>
          </p:cNvPr>
          <p:cNvSpPr/>
          <p:nvPr/>
        </p:nvSpPr>
        <p:spPr>
          <a:xfrm>
            <a:off x="3810000" y="33909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CONCEVOIR le système constructif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RNCP38859BC01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745EEB00-7DCF-B779-AE6F-D55C91C3B37B}"/>
              </a:ext>
            </a:extLst>
          </p:cNvPr>
          <p:cNvSpPr/>
          <p:nvPr/>
        </p:nvSpPr>
        <p:spPr>
          <a:xfrm>
            <a:off x="3808445" y="67437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cap="all" dirty="0">
                <a:solidFill>
                  <a:schemeClr val="bg1"/>
                </a:solidFill>
                <a:ea typeface="+mn-lt"/>
                <a:cs typeface="+mn-lt"/>
              </a:rPr>
              <a:t>Intégrer des solutions durables adaptées aux cycles de vie du bâtiment</a:t>
            </a:r>
            <a:endParaRPr lang="fr-FR" sz="2400" b="1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RNCP38859BC03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77209B8F-DF4E-23B6-3477-DF742D32AC25}"/>
              </a:ext>
            </a:extLst>
          </p:cNvPr>
          <p:cNvSpPr/>
          <p:nvPr/>
        </p:nvSpPr>
        <p:spPr>
          <a:xfrm>
            <a:off x="9144000" y="3401008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GARANTIR la performance 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RNCP38859BC02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BD996EC0-1B09-FED3-EB1D-0B6CCCA129EB}"/>
              </a:ext>
            </a:extLst>
          </p:cNvPr>
          <p:cNvSpPr/>
          <p:nvPr/>
        </p:nvSpPr>
        <p:spPr>
          <a:xfrm>
            <a:off x="9143999" y="67437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Piloter un projet de bâtiment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RNCP38859BC05</a:t>
            </a:r>
            <a:endParaRPr lang="fr-F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6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7D3D8-A672-CF34-E468-B4918780C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99D71A2E-D0E6-FFD7-91CE-26F59A31EA15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CONCEVOIR le système constructif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RNCP38859BC01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B302F36A-63B2-5ED3-C2E8-0A6612FC23D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6C867843-C966-109B-6B01-61ED755F356D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adoptant une démarche scientifique rigoureuse à toutes les étapes</a:t>
            </a:r>
            <a:endParaRPr lang="en-US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utilisant des outils et des méthodes de manière adaptée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respectant les normes en vigueur (DTU, Eurocodes, réglementation incendie, norme PMR, RE2020);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tenant compte des contraintes liées au budget, aux délais, aux impacts environnemental et sanitaire, aux usages;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 coordonnant efficacement la conception du gros œuvre avec le second œuvre;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communiquant à l'oral et à l'écrit avec des publics divers (spécialistes et non spécialistes) dans un contexte pluriculturel et/ou international;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4DB9B11-8866-5757-F64D-700ADA984492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Calculer analytiquement  une structure en élasticité (TP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méca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Produire une maquette numérique de bâtiment à partir des plans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Attribuer les fonctions aux différents éléments d'un bâtiment</a:t>
            </a:r>
            <a:endParaRPr lang="fr-FR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Identifier les éléments constructifs de base d'un plan</a:t>
            </a:r>
            <a:endParaRPr lang="fr-FR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2DA0866B-ABB3-687E-57CB-7A29C5E74551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Modéliser la structure du bâtiment (APP BIM S7, robot)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Réaliser une descente de charges (APP BIM S7)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ptos"/>
                <a:cs typeface="Segoe UI"/>
              </a:rPr>
              <a:t>Choisir</a:t>
            </a:r>
            <a:r>
              <a:rPr lang="en-US" sz="2000" dirty="0">
                <a:latin typeface="Aptos"/>
                <a:cs typeface="Segoe UI"/>
              </a:rPr>
              <a:t> un </a:t>
            </a:r>
            <a:r>
              <a:rPr lang="en-US" sz="2000" dirty="0" err="1">
                <a:latin typeface="Aptos"/>
                <a:cs typeface="Segoe UI"/>
              </a:rPr>
              <a:t>élément</a:t>
            </a:r>
            <a:r>
              <a:rPr lang="en-US" sz="2000" dirty="0">
                <a:latin typeface="Aptos"/>
                <a:cs typeface="Segoe UI"/>
              </a:rPr>
              <a:t> </a:t>
            </a:r>
            <a:r>
              <a:rPr lang="en-US" sz="2000" dirty="0" err="1">
                <a:latin typeface="Aptos"/>
                <a:cs typeface="Segoe UI"/>
              </a:rPr>
              <a:t>structurel</a:t>
            </a:r>
            <a:r>
              <a:rPr lang="en-US" sz="2000" dirty="0">
                <a:latin typeface="Aptos"/>
                <a:cs typeface="Segoe UI"/>
              </a:rPr>
              <a:t> </a:t>
            </a:r>
            <a:r>
              <a:rPr lang="en-US" sz="2000" dirty="0" err="1">
                <a:latin typeface="Aptos"/>
                <a:cs typeface="Segoe UI"/>
              </a:rPr>
              <a:t>en</a:t>
            </a:r>
            <a:r>
              <a:rPr lang="en-US" sz="2000" dirty="0">
                <a:latin typeface="Aptos"/>
                <a:cs typeface="Segoe UI"/>
              </a:rPr>
              <a:t> </a:t>
            </a:r>
            <a:r>
              <a:rPr lang="en-US" sz="2000" dirty="0" err="1">
                <a:latin typeface="Aptos"/>
                <a:cs typeface="Segoe UI"/>
              </a:rPr>
              <a:t>fonction</a:t>
            </a:r>
            <a:r>
              <a:rPr lang="en-US" sz="2000" dirty="0">
                <a:latin typeface="Aptos"/>
                <a:cs typeface="Segoe UI"/>
              </a:rPr>
              <a:t> d'un </a:t>
            </a:r>
            <a:r>
              <a:rPr lang="en-US" sz="2000" dirty="0" err="1">
                <a:latin typeface="Aptos"/>
                <a:cs typeface="Segoe UI"/>
              </a:rPr>
              <a:t>contexte</a:t>
            </a:r>
            <a:r>
              <a:rPr lang="en-US" sz="2000" dirty="0">
                <a:latin typeface="Aptos"/>
                <a:cs typeface="Segoe UI"/>
              </a:rPr>
              <a:t> </a:t>
            </a:r>
            <a:endParaRPr lang="fr-FR" sz="2000" dirty="0">
              <a:latin typeface="Aptos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Dimensionner un bâtiment  (APP S8, ou Projet béton)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Caractériser des matériaux géo-sourcés (</a:t>
            </a:r>
            <a:r>
              <a:rPr lang="fr-FR" sz="2000" dirty="0" err="1">
                <a:latin typeface="Aptos"/>
                <a:cs typeface="Segoe UI"/>
              </a:rPr>
              <a:t>géotec</a:t>
            </a:r>
            <a:r>
              <a:rPr lang="fr-FR" sz="2000" dirty="0">
                <a:latin typeface="Aptos"/>
                <a:cs typeface="Segoe UI"/>
              </a:rPr>
              <a:t> II, partie non conventionnelle)</a:t>
            </a:r>
            <a:endParaRPr lang="en-US" sz="2000" dirty="0">
              <a:latin typeface="Aptos"/>
              <a:cs typeface="Segoe UI"/>
            </a:endParaRP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F1AD3F13-7C0A-7502-0403-C5465882C320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Concevoir en multi matériaux / multi systèmes constructifs (APP  projet tech)​</a:t>
            </a: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Dimensionner un bâtiment vis-à-vis du risque sismique (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Réhab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​Concevoir une réhabilitation structurelle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Choisir un système constructif dans un contexte défini (projet tech)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57F3CB7D-4CBC-483F-FCC2-8ABF16AEBBB9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51583935-A8D8-A4D8-37A7-32A31C428CB2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9E7AEFDD-C48A-450F-4255-D56AF0A7D827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DFEA84A2-E282-DA50-986F-4B10C8221D48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</p:spTree>
    <p:extLst>
      <p:ext uri="{BB962C8B-B14F-4D97-AF65-F5344CB8AC3E}">
        <p14:creationId xmlns:p14="http://schemas.microsoft.com/office/powerpoint/2010/main" val="33464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30F5-E680-B822-89CD-1D3D1398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E8955289-EB1D-E6BF-5D5D-409DC3DDCB7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4800" b="1" cap="all" dirty="0">
                <a:solidFill>
                  <a:schemeClr val="bg1"/>
                </a:solidFill>
                <a:ea typeface="Calibri"/>
                <a:cs typeface="Calibri"/>
              </a:rPr>
              <a:t>GARANTIR la performance 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RNCP38859BC02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33DF3E8D-28FA-4FAC-01FF-DE8EF5EA22F4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prenant en compte les contraintes existantes (techniques, économiques, environnementales)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collaborant efficacement dans un processus multi-acteurs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sélectionnant la source énergétique et les systèmes appropriés de manière argumentée;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utilisant de manière pertinente les méthodes et les outils de calculs énergétiques du bâtiment et de ses équipements 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respectant les normes et les réglementations spécifiques à la construction ; 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F797657D-69E3-7030-5584-4F1DD87EFB1C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7A85A77-4224-1889-38DE-27CE7FF724B1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Représenter les écoulements des fluides (pertes de charges, Bernoulli)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Réaliser un bilan (énergétique, masse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Evaluer les besoins (énergétiques, acoustiques, éclairage, maintenance 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Comparer des dispositifs d'un point de vue performances et d'un point de vue fonctions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887B9F56-30F1-F997-A570-956CFA94CEF7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Concevoir l'enveloppe (THB, humidité, étanchéité, STD) en vue d'une bonne gestion thermique / énergétique du bâtiment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Rendre un bâtiment conforme aux règlementations en vigueur (RE2020 énergie, code du travail,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Concevoir les réseaux de CVC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Représenter un réseau fluide avec un logiciel DAO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Améliorer la qualité des ambiances (confort d’été, acoustique, éclairage)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BF81045C-2E6A-27AA-7135-39186EEAB3DA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Evaluer le potentiel d’intégration des </a:t>
            </a:r>
            <a:r>
              <a:rPr lang="fr-FR" sz="2000" dirty="0" err="1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EnR</a:t>
            </a:r>
            <a:endParaRPr lang="fr-FR" sz="2000" dirty="0">
              <a:solidFill>
                <a:srgbClr val="24242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Dimensionner les systèmes énergétiques (installations solaires photovoltaïques, couplage réseau, autoconsommation)</a:t>
            </a:r>
            <a:endParaRPr lang="fr-FR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Réaliser un audit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Rédiger une note technique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6C436FB-E143-5BBF-AD44-10A86586F9C1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D95217FA-4C98-A67E-8029-0B50DB0069AD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578B1D44-8B0D-9D17-A0C4-09B866955939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A2242922-10A8-8224-2500-DBA1CB399E4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</p:spTree>
    <p:extLst>
      <p:ext uri="{BB962C8B-B14F-4D97-AF65-F5344CB8AC3E}">
        <p14:creationId xmlns:p14="http://schemas.microsoft.com/office/powerpoint/2010/main" val="3477544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A806-CF13-993C-E0E0-C099F303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755D2B67-05E2-1F90-45EC-7F37F6F70334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cap="all" dirty="0">
                <a:solidFill>
                  <a:schemeClr val="bg1"/>
                </a:solidFill>
                <a:ea typeface="+mn-lt"/>
                <a:cs typeface="+mn-lt"/>
              </a:rPr>
              <a:t>Intégrer des solutions durables adaptées aux cycles de vie du bâtiment</a:t>
            </a:r>
            <a:endParaRPr lang="fr-FR" sz="2400" b="1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RNCP38859BC03</a:t>
            </a:r>
            <a:endParaRPr lang="fr-FR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E95D4EFA-053B-8BE9-EACD-8DA7B6033170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prenant en compte les aspects écologiques, sociétaux et économiques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utilisant les outils numériques et les bases de données (CSTB,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Copernicus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, etc.) adaptés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justifiant les hypothèses du périmètre d'étude de manière pertinente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 proposant des solutions pertinentes visant à réduire l’impact environnemental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respectant les normes et les réglementations en vigueur spécifiques au cycle de vie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adaptant efficacement sa communication aux différentes parties prenantes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; </a:t>
            </a:r>
            <a:endParaRPr lang="fr-FR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BF693259-F9EF-F253-6A91-6833D6C788A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D582853-8316-3AA7-B446-9C890792606B}"/>
              </a:ext>
            </a:extLst>
          </p:cNvPr>
          <p:cNvSpPr/>
          <p:nvPr/>
        </p:nvSpPr>
        <p:spPr>
          <a:xfrm>
            <a:off x="2401569" y="4840118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Évaluer l'empreinte environnementale (bilan carbone, ACV)</a:t>
            </a:r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Proposer des actions en vue de répondre aux exigences de stratégies bas carbone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Sélectionner des matériaux </a:t>
            </a:r>
            <a:r>
              <a:rPr lang="fr-FR" sz="200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bio-sourcés</a:t>
            </a: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et des systèmes performants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Réaliser une analyse multicritère </a:t>
            </a:r>
            <a:r>
              <a:rPr lang="fr-FR" sz="2000" dirty="0">
                <a:ea typeface="Calibri"/>
                <a:cs typeface="Calibri"/>
              </a:rPr>
              <a:t> </a:t>
            </a: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2C148358-2148-D2E7-F73F-4EAB29F77648}"/>
              </a:ext>
            </a:extLst>
          </p:cNvPr>
          <p:cNvSpPr/>
          <p:nvPr/>
        </p:nvSpPr>
        <p:spPr>
          <a:xfrm>
            <a:off x="2401569" y="6582448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Appliquer la règlementation thermique et environnementale pour le neuf (RE2020) et pour la rénovation (</a:t>
            </a:r>
            <a:r>
              <a:rPr lang="fr-FR" sz="200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RTex</a:t>
            </a: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Évaluer la rentabilité économique de différentes solutions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Mettre en œuvre des process de commissionnement pour la gestion durable du bâtiment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F37F1302-0150-32C4-19D2-575D7E56DC95}"/>
              </a:ext>
            </a:extLst>
          </p:cNvPr>
          <p:cNvSpPr/>
          <p:nvPr/>
        </p:nvSpPr>
        <p:spPr>
          <a:xfrm>
            <a:off x="2401569" y="8324779"/>
            <a:ext cx="15450492" cy="186969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Mettre en œuvre des scénarios de gestion durable du bâtiment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Comparer l'empreinte environnementale de différentes variantes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Participer au montage d'un plan pluriannuel de maintenance (grille de priorisation, listes de vérifications et d'inspection, fiches entretiens préventifs, mise à jour fiches de prévention)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Participer à la rédaction d'un plan de commissionnement (application méthode RACI, plan de documentation, tableau d'analyses et de vérifications)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4653456-05E2-1EF7-E5AD-9F894A3A76D2}"/>
              </a:ext>
            </a:extLst>
          </p:cNvPr>
          <p:cNvSpPr/>
          <p:nvPr/>
        </p:nvSpPr>
        <p:spPr>
          <a:xfrm rot="16200000">
            <a:off x="-1992932" y="7212633"/>
            <a:ext cx="5355774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855B75E0-5347-98C9-A1F8-8DCEF31ADB57}"/>
              </a:ext>
            </a:extLst>
          </p:cNvPr>
          <p:cNvSpPr/>
          <p:nvPr/>
        </p:nvSpPr>
        <p:spPr>
          <a:xfrm>
            <a:off x="1107010" y="4840118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34202A5C-18A5-947D-17E9-1ED96B40B1A8}"/>
              </a:ext>
            </a:extLst>
          </p:cNvPr>
          <p:cNvSpPr/>
          <p:nvPr/>
        </p:nvSpPr>
        <p:spPr>
          <a:xfrm>
            <a:off x="1107010" y="6582448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40690583-5DC5-0BBC-568B-FEE41B2D0728}"/>
              </a:ext>
            </a:extLst>
          </p:cNvPr>
          <p:cNvSpPr/>
          <p:nvPr/>
        </p:nvSpPr>
        <p:spPr>
          <a:xfrm>
            <a:off x="1107010" y="8324779"/>
            <a:ext cx="1294559" cy="186969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</p:spTree>
    <p:extLst>
      <p:ext uri="{BB962C8B-B14F-4D97-AF65-F5344CB8AC3E}">
        <p14:creationId xmlns:p14="http://schemas.microsoft.com/office/powerpoint/2010/main" val="40956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1729-E3BA-F219-DB1D-07851412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764DC90B-6441-4540-4D07-7274964A84C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Piloter un projet de bâtiment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RNCP38859BC05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2EC66EAC-981F-EF95-2651-B3354C3C4161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tenant compte des besoins</a:t>
            </a:r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assurant efficacement la coordination des différents corps de métier</a:t>
            </a:r>
            <a:endParaRPr lang="en-US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sélectionnant les méthodes et outils de management et de pilotage appropriés à chaque étape du projet de construction ;</a:t>
            </a: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tenant compte des procédures liées à la qualité, sécurité, santé, environnement…;</a:t>
            </a: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respectant le fonctionnement interne à l'entreprise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communiquant de manière adaptée avec un public varié;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E5F2FD61-6409-EA03-2794-3D6DAACAEB60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FFE3588B-8C13-D619-E556-6A0A6E2ECB63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les attendus du projet à travers les documents contractuels (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DPGF, CCTP, …)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le rôle des différents acteurs du bâtiment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le fonctionnement d'une entreprise (organisation du travail, sécurité, DDRS)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Poser et résoudre un problème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Rendre compte de l’avancement </a:t>
            </a: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47CEA140-556F-3EC5-7022-79096AFD1B39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Travailler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mode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collaboratif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(APP BIM S7)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Animer des ateliers de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co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-création pour trouver des solutions </a:t>
            </a:r>
            <a:endParaRPr lang="fr-FR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Planifier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différentes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tâches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d'un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projet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Vérifier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la 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conformité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bonnes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dispositions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constructives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Analyser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risques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liés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au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projet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(AMDEC)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43734BA6-B5F7-A081-D91D-CB98BAAF35C2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Gérer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ressources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humaines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, materiel,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financières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...)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des solutions aux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problèmes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rencontrés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Faire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une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analyse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critique des </a:t>
            </a: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documents contractuels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 (DPGF, CCTP,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Assurer le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suivi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d'un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projet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(Calculer un ROI, TRI,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payback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, etc.) 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Produire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des documents dans un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contexte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professionnel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(plan, rapport, note de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calcul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Rédiger une recherche bibliographique ou réglementaire (PRD, différence FISE/FISA)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DBC82DEA-7BDA-A646-8B96-222189D2F797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AFC72ADE-6CCA-BD7C-1E25-D427CB6FE5FE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035C0639-AE8C-112F-4DC6-5A8E8438B4E5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96AFB3D3-7D60-9633-A528-0881FBB7C11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</p:spTree>
    <p:extLst>
      <p:ext uri="{BB962C8B-B14F-4D97-AF65-F5344CB8AC3E}">
        <p14:creationId xmlns:p14="http://schemas.microsoft.com/office/powerpoint/2010/main" val="2681372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ef141f578fb95b0eb90a671c5647a193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4d25ba230db756f9eb4d095c14916fc9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D2A142B-E015-4A0D-84CC-9B48551A6718}"/>
</file>

<file path=customXml/itemProps2.xml><?xml version="1.0" encoding="utf-8"?>
<ds:datastoreItem xmlns:ds="http://schemas.openxmlformats.org/officeDocument/2006/customXml" ds:itemID="{527B62F5-D923-4FB9-8C69-C44E87DBDB8E}"/>
</file>

<file path=customXml/itemProps3.xml><?xml version="1.0" encoding="utf-8"?>
<ds:datastoreItem xmlns:ds="http://schemas.openxmlformats.org/officeDocument/2006/customXml" ds:itemID="{45BE0D91-E397-476C-AFA3-A2C7D808204E}"/>
</file>

<file path=docProps/app.xml><?xml version="1.0" encoding="utf-8"?>
<Properties xmlns="http://schemas.openxmlformats.org/officeDocument/2006/extended-properties" xmlns:vt="http://schemas.openxmlformats.org/officeDocument/2006/docPropsVTypes">
  <TotalTime>17717</TotalTime>
  <Words>1017</Words>
  <Application>Microsoft Macintosh PowerPoint</Application>
  <PresentationFormat>Personnalisé</PresentationFormat>
  <Paragraphs>136</Paragraphs>
  <Slides>6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Calibri</vt:lpstr>
      <vt:lpstr>Aptos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dc:creator>Elodie Gardet</dc:creator>
  <cp:lastModifiedBy>marc skerrett</cp:lastModifiedBy>
  <cp:revision>38</cp:revision>
  <dcterms:created xsi:type="dcterms:W3CDTF">2006-08-16T00:00:00Z</dcterms:created>
  <dcterms:modified xsi:type="dcterms:W3CDTF">2025-11-04T05:29:07Z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</Properties>
</file>