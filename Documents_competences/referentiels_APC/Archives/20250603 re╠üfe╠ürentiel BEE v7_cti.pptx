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5_93EEB545.xml" ContentType="application/vnd.ms-powerpoint.comments+xml"/>
  <Override PartName="/ppt/comments/modernComment_106_A5D24BC3.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sldIdLst>
    <p:sldId id="256" r:id="rId5"/>
    <p:sldId id="260" r:id="rId6"/>
    <p:sldId id="261" r:id="rId7"/>
    <p:sldId id="263" r:id="rId8"/>
    <p:sldId id="262" r:id="rId9"/>
  </p:sldIdLst>
  <p:sldSz cx="6858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101C16D-8B13-9C77-127B-9E5ACACB14E9}" name="marc skerrett" initials="ms" userId="1b4c5efbffebc54c" providerId="Windows Live"/>
  <p188:author id="{2B820C88-A42F-0467-4C37-4A53AA7EA36D}" name="Marc Skerrett" initials="MS" userId="S::marc.skerrett@univ-smb.fr::5838212c-6006-4602-b097-e4ba2e4953e8" providerId="AD"/>
  <p188:author id="{799D08C0-A121-1B76-83DB-2C3CBAF0334C}" name="Nolwenn Le-Pierres" initials="NL" userId="S::nolwenn.le-pierres@univ-smb.fr::6ba42ef7-f712-4cbe-bfe3-a0079f44dae1" providerId="AD"/>
  <p188:author id="{965E2FD6-B9CD-BD0D-4F96-03DC18C59540}" name="Mickael Pailha" initials="MP" userId="S::mickael.pailha@univ-smb.fr::5ea38097-435b-4e50-9c1f-c17694cfe62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6B1689-DA23-8474-4AFD-1FDE5711ED3E}" v="827" dt="2025-06-03T07:49:38.6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p:cViewPr>
        <p:scale>
          <a:sx n="167" d="100"/>
          <a:sy n="167" d="100"/>
        </p:scale>
        <p:origin x="1784" y="-28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5" Type="http://schemas.microsoft.com/office/2018/10/relationships/authors" Target="authors.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microsoft.com/office/2015/10/relationships/revisionInfo" Target="revisionInfo.xml"/></Relationships>
</file>

<file path=ppt/comments/modernComment_105_93EEB545.xml><?xml version="1.0" encoding="utf-8"?>
<p188:cmLst xmlns:a="http://schemas.openxmlformats.org/drawingml/2006/main" xmlns:r="http://schemas.openxmlformats.org/officeDocument/2006/relationships" xmlns:p188="http://schemas.microsoft.com/office/powerpoint/2018/8/main">
  <p188:cm id="{EB280D7B-D72C-49D4-8A6B-619F78599353}" authorId="{2B820C88-A42F-0467-4C37-4A53AA7EA36D}" created="2025-02-17T07:43:41.443">
    <ac:deMkLst xmlns:ac="http://schemas.microsoft.com/office/drawing/2013/main/command">
      <pc:docMk xmlns:pc="http://schemas.microsoft.com/office/powerpoint/2013/main/command"/>
      <pc:sldMk xmlns:pc="http://schemas.microsoft.com/office/powerpoint/2013/main/command" cId="2481894725" sldId="261"/>
      <ac:spMk id="2" creationId="{120BE6C5-C445-D8AB-4C49-F06327F3D35A}"/>
    </ac:deMkLst>
    <p188:replyLst>
      <p188:reply id="{20D45B90-1263-49FE-9FF0-6B8E70A95BAC}" authorId="{2B820C88-A42F-0467-4C37-4A53AA7EA36D}" created="2025-02-17T10:46:19.092">
        <p188:txBody>
          <a:bodyPr/>
          <a:lstStyle/>
          <a:p>
            <a:r>
              <a:rPr lang="fr-FR"/>
              <a:t>Garantir la performance énergétique en lien avec la réglementation</a:t>
            </a:r>
          </a:p>
        </p188:txBody>
      </p188:reply>
      <p188:reply id="{4CCDDB69-92B8-4F2B-962C-19D8F6CBEBDF}" authorId="{2B820C88-A42F-0467-4C37-4A53AA7EA36D}" created="2025-02-17T10:49:50.772">
        <p188:txBody>
          <a:bodyPr/>
          <a:lstStyle/>
          <a:p>
            <a:r>
              <a:rPr lang="fr-FR"/>
              <a:t>Obligation de résultats</a:t>
            </a:r>
          </a:p>
        </p188:txBody>
      </p188:reply>
      <p188:reply id="{BC2A1938-E6EB-4341-A7A2-50A654854A0C}" authorId="{965E2FD6-B9CD-BD0D-4F96-03DC18C59540}" created="2025-02-21T08:36:23.328">
        <p188:txBody>
          <a:bodyPr/>
          <a:lstStyle/>
          <a:p>
            <a:r>
              <a:rPr lang="en-US"/>
              <a:t>Etablir, certifier, assurer</a:t>
            </a:r>
          </a:p>
        </p188:txBody>
      </p188:reply>
      <p188:reply id="{2AD7236F-7564-461C-A071-7FD35EDA5D28}" authorId="{965E2FD6-B9CD-BD0D-4F96-03DC18C59540}" created="2025-02-21T08:37:18.719">
        <p188:txBody>
          <a:bodyPr/>
          <a:lstStyle/>
          <a:p>
            <a:r>
              <a:rPr lang="en-US"/>
              <a:t>énergétique et des ambiances</a:t>
            </a:r>
          </a:p>
        </p188:txBody>
      </p188:reply>
    </p188:replyLst>
    <p188:txBody>
      <a:bodyPr/>
      <a:lstStyle/>
      <a:p>
        <a:r>
          <a:rPr lang="fr-FR"/>
          <a:t>"Optimiser" ne convient pas à tous. Proposition autre : améliorer, perfectionner, maximiser, amender ou encore Mettre au point les systèmes énergétiques.</a:t>
        </a:r>
      </a:p>
    </p188:txBody>
  </p188:cm>
  <p188:cm id="{39C591C0-A1C8-4A37-A8CF-5537CED7659B}" authorId="{799D08C0-A121-1B76-83DB-2C3CBAF0334C}" status="resolved" created="2025-04-15T11:48:22.395" complete="100000">
    <ac:txMkLst xmlns:ac="http://schemas.microsoft.com/office/drawing/2013/main/command">
      <pc:docMk xmlns:pc="http://schemas.microsoft.com/office/powerpoint/2013/main/command"/>
      <pc:sldMk xmlns:pc="http://schemas.microsoft.com/office/powerpoint/2013/main/command" cId="2481894725" sldId="261"/>
      <ac:spMk id="7" creationId="{C7304A67-8B2E-B3E3-31CF-722C5F9D66A3}"/>
      <ac:txMk cp="470">
        <ac:context len="471" hash="4157564564"/>
      </ac:txMk>
    </ac:txMkLst>
    <p188:pos x="3255264" y="3328416"/>
    <p188:txBody>
      <a:bodyPr/>
      <a:lstStyle/>
      <a:p>
        <a:r>
          <a:rPr lang="en-US"/>
          <a:t>répétition : déjà dans le début de la phrase</a:t>
        </a:r>
      </a:p>
    </p188:txBody>
    <p188:extLst>
      <p:ext xmlns:p="http://schemas.openxmlformats.org/presentationml/2006/main" uri="{57CB4572-C831-44C2-8A1C-0ADB6CCDFE69}">
        <p223:reactions xmlns:p223="http://schemas.microsoft.com/office/powerpoint/2022/03/main">
          <p223:rxn type="👍">
            <p223:instance time="2025-04-17T13:55:49.346" authorId="{965E2FD6-B9CD-BD0D-4F96-03DC18C59540}"/>
          </p223:rxn>
        </p223:reactions>
      </p:ext>
    </p188:extLst>
  </p188:cm>
  <p188:cm id="{39A101AF-C548-4A9B-BA10-8A15FB9221F3}" authorId="{799D08C0-A121-1B76-83DB-2C3CBAF0334C}" status="resolved" created="2025-04-15T11:49:45.834" complete="100000">
    <ac:txMkLst xmlns:ac="http://schemas.microsoft.com/office/drawing/2013/main/command">
      <pc:docMk xmlns:pc="http://schemas.microsoft.com/office/powerpoint/2013/main/command"/>
      <pc:sldMk xmlns:pc="http://schemas.microsoft.com/office/powerpoint/2013/main/command" cId="2481894725" sldId="261"/>
      <ac:spMk id="17" creationId="{5C975040-760A-249A-EC74-CAD15C1A0F95}"/>
      <ac:txMk cp="64" len="93">
        <ac:context len="204" hash="1307019773"/>
      </ac:txMk>
    </ac:txMkLst>
    <p188:pos x="3364992" y="2066544"/>
    <p188:txBody>
      <a:bodyPr/>
      <a:lstStyle/>
      <a:p>
        <a:r>
          <a:rPr lang="en-US"/>
          <a:t>s'applique uniquement au PV : à préciser?</a:t>
        </a:r>
      </a:p>
    </p188:txBody>
    <p188:extLst>
      <p:ext xmlns:p="http://schemas.openxmlformats.org/presentationml/2006/main" uri="{57CB4572-C831-44C2-8A1C-0ADB6CCDFE69}">
        <p223:reactions xmlns:p223="http://schemas.microsoft.com/office/powerpoint/2022/03/main">
          <p223:rxn type="👍">
            <p223:instance time="2025-04-17T13:55:48.299" authorId="{965E2FD6-B9CD-BD0D-4F96-03DC18C59540}"/>
          </p223:rxn>
        </p223:reactions>
      </p:ext>
    </p188:extLst>
  </p188:cm>
  <p188:cm id="{4ADB8CF0-6E22-4CA0-818F-DFDEE6453360}" authorId="{799D08C0-A121-1B76-83DB-2C3CBAF0334C}" created="2025-04-15T11:50:52.101">
    <ac:txMkLst xmlns:ac="http://schemas.microsoft.com/office/drawing/2013/main/command">
      <pc:docMk xmlns:pc="http://schemas.microsoft.com/office/powerpoint/2013/main/command"/>
      <pc:sldMk xmlns:pc="http://schemas.microsoft.com/office/powerpoint/2013/main/command" cId="2481894725" sldId="261"/>
      <ac:spMk id="17" creationId="{5C975040-760A-249A-EC74-CAD15C1A0F95}"/>
      <ac:txMk cp="176">
        <ac:context len="204" hash="1307019773"/>
      </ac:txMk>
    </ac:txMkLst>
    <p188:pos x="7808976" y="3273552"/>
    <p188:txBody>
      <a:bodyPr/>
      <a:lstStyle/>
      <a:p>
        <a:r>
          <a:rPr lang="en-US"/>
          <a:t>c'est parceque c'est évalué par ailleurs (dans un module non concerné par les apprentissages critiques) que ça a été enlevé?</a:t>
        </a:r>
      </a:p>
    </p188:txBody>
  </p188:cm>
</p188:cmLst>
</file>

<file path=ppt/comments/modernComment_106_A5D24BC3.xml><?xml version="1.0" encoding="utf-8"?>
<p188:cmLst xmlns:a="http://schemas.openxmlformats.org/drawingml/2006/main" xmlns:r="http://schemas.openxmlformats.org/officeDocument/2006/relationships" xmlns:p188="http://schemas.microsoft.com/office/powerpoint/2018/8/main">
  <p188:cm id="{44E087CF-D115-4D31-B172-8A165BF12CF7}" authorId="{2B820C88-A42F-0467-4C37-4A53AA7EA36D}" status="resolved" created="2025-04-07T14:43:26.270" complete="100000">
    <ac:deMkLst xmlns:ac="http://schemas.microsoft.com/office/drawing/2013/main/command">
      <pc:docMk xmlns:pc="http://schemas.microsoft.com/office/powerpoint/2013/main/command"/>
      <pc:sldMk xmlns:pc="http://schemas.microsoft.com/office/powerpoint/2013/main/command" cId="2782022595" sldId="262"/>
      <ac:spMk id="7" creationId="{C7304A67-8B2E-B3E3-31CF-722C5F9D66A3}"/>
    </ac:deMkLst>
    <p188:pos x="54754" y="273772"/>
    <p188:txBody>
      <a:bodyPr/>
      <a:lstStyle/>
      <a:p>
        <a:r>
          <a:rPr lang="fr-FR"/>
          <a:t>Concevoir ou adapter, Anticiper les phases du cycle de vie, mettre en oeuvre des actions intégrant le cycle de vie des bâtiments, développer des solutions durables adaptées aux cycles de vie du bâtiment</a:t>
        </a:r>
      </a:p>
    </p188:txBody>
  </p188:cm>
  <p188:cm id="{9713F6ED-D568-4885-8145-637960E078E7}" authorId="{2B820C88-A42F-0467-4C37-4A53AA7EA36D}" created="2025-04-07T15:11:35.826">
    <pc:sldMkLst xmlns:pc="http://schemas.microsoft.com/office/powerpoint/2013/main/command">
      <pc:docMk/>
      <pc:sldMk cId="2782022595" sldId="262"/>
    </pc:sldMkLst>
    <p188:txBody>
      <a:bodyPr/>
      <a:lstStyle/>
      <a:p>
        <a:r>
          <a:rPr lang="fr-FR"/>
          <a:t>Ajouter dans une visée R&amp;D le caractères évolutifs des méthodes, des techniques, normes associés aux cycles de vie. </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lstStyle>
            <a:lvl1pPr algn="ctr">
              <a:defRPr sz="4500"/>
            </a:lvl1pPr>
          </a:lstStyle>
          <a:p>
            <a:r>
              <a:rPr lang="fr-FR"/>
              <a:t>Modifiez le style du titre</a:t>
            </a:r>
            <a:endParaRPr lang="en-US"/>
          </a:p>
        </p:txBody>
      </p:sp>
      <p:sp>
        <p:nvSpPr>
          <p:cNvPr id="3" name="Subtitle 2"/>
          <p:cNvSpPr>
            <a:spLocks noGrp="1"/>
          </p:cNvSpPr>
          <p:nvPr>
            <p:ph type="subTitle" idx="1"/>
          </p:nvPr>
        </p:nvSpPr>
        <p:spPr>
          <a:xfrm>
            <a:off x="857250" y="4802717"/>
            <a:ext cx="5143500" cy="220768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a:t>Modifiez le style des sous-titres du masque</a:t>
            </a:r>
            <a:endParaRPr lang="en-US"/>
          </a:p>
        </p:txBody>
      </p:sp>
      <p:sp>
        <p:nvSpPr>
          <p:cNvPr id="4" name="Date Placeholder 3"/>
          <p:cNvSpPr>
            <a:spLocks noGrp="1"/>
          </p:cNvSpPr>
          <p:nvPr>
            <p:ph type="dt" sz="half" idx="10"/>
          </p:nvPr>
        </p:nvSpPr>
        <p:spPr/>
        <p:txBody>
          <a:bodyPr/>
          <a:lstStyle/>
          <a:p>
            <a:fld id="{BF4425F2-F0E4-1D4B-BFA0-799A02AE676D}" type="datetimeFigureOut">
              <a:rPr lang="fr-FR" smtClean="0"/>
              <a:t>03/06/2025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B1D948C-A121-A74A-9582-4454DDF3EA04}" type="slidenum">
              <a:rPr lang="fr-FR" smtClean="0"/>
              <a:t>‹N°›</a:t>
            </a:fld>
            <a:endParaRPr lang="fr-FR"/>
          </a:p>
        </p:txBody>
      </p:sp>
    </p:spTree>
    <p:extLst>
      <p:ext uri="{BB962C8B-B14F-4D97-AF65-F5344CB8AC3E}">
        <p14:creationId xmlns:p14="http://schemas.microsoft.com/office/powerpoint/2010/main" val="31169701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BF4425F2-F0E4-1D4B-BFA0-799A02AE676D}" type="datetimeFigureOut">
              <a:rPr lang="fr-FR" smtClean="0"/>
              <a:t>03/06/2025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B1D948C-A121-A74A-9582-4454DDF3EA04}" type="slidenum">
              <a:rPr lang="fr-FR" smtClean="0"/>
              <a:t>‹N°›</a:t>
            </a:fld>
            <a:endParaRPr lang="fr-FR"/>
          </a:p>
        </p:txBody>
      </p:sp>
    </p:spTree>
    <p:extLst>
      <p:ext uri="{BB962C8B-B14F-4D97-AF65-F5344CB8AC3E}">
        <p14:creationId xmlns:p14="http://schemas.microsoft.com/office/powerpoint/2010/main" val="17346703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fr-FR"/>
              <a:t>Modifiez le style du titre</a:t>
            </a:r>
            <a:endParaRPr lang="en-US"/>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F4425F2-F0E4-1D4B-BFA0-799A02AE676D}" type="datetimeFigureOut">
              <a:rPr lang="fr-FR" smtClean="0"/>
              <a:t>03/06/2025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B1D948C-A121-A74A-9582-4454DDF3EA04}" type="slidenum">
              <a:rPr lang="fr-FR" smtClean="0"/>
              <a:t>‹N°›</a:t>
            </a:fld>
            <a:endParaRPr lang="fr-FR"/>
          </a:p>
        </p:txBody>
      </p:sp>
    </p:spTree>
    <p:extLst>
      <p:ext uri="{BB962C8B-B14F-4D97-AF65-F5344CB8AC3E}">
        <p14:creationId xmlns:p14="http://schemas.microsoft.com/office/powerpoint/2010/main" val="118046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sz="half" idx="1"/>
          </p:nvPr>
        </p:nvSpPr>
        <p:spPr>
          <a:xfrm>
            <a:off x="471488" y="2434167"/>
            <a:ext cx="2914650" cy="580178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Content Placeholder 3"/>
          <p:cNvSpPr>
            <a:spLocks noGrp="1"/>
          </p:cNvSpPr>
          <p:nvPr>
            <p:ph sz="half" idx="2"/>
          </p:nvPr>
        </p:nvSpPr>
        <p:spPr>
          <a:xfrm>
            <a:off x="3471863" y="2434167"/>
            <a:ext cx="2914650" cy="580178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Date Placeholder 4"/>
          <p:cNvSpPr>
            <a:spLocks noGrp="1"/>
          </p:cNvSpPr>
          <p:nvPr>
            <p:ph type="dt" sz="half" idx="10"/>
          </p:nvPr>
        </p:nvSpPr>
        <p:spPr/>
        <p:txBody>
          <a:bodyPr/>
          <a:lstStyle/>
          <a:p>
            <a:fld id="{BF4425F2-F0E4-1D4B-BFA0-799A02AE676D}" type="datetimeFigureOut">
              <a:rPr lang="fr-FR" smtClean="0"/>
              <a:t>03/06/2025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BB1D948C-A121-A74A-9582-4454DDF3EA04}" type="slidenum">
              <a:rPr lang="fr-FR" smtClean="0"/>
              <a:t>‹N°›</a:t>
            </a:fld>
            <a:endParaRPr lang="fr-FR"/>
          </a:p>
        </p:txBody>
      </p:sp>
    </p:spTree>
    <p:extLst>
      <p:ext uri="{BB962C8B-B14F-4D97-AF65-F5344CB8AC3E}">
        <p14:creationId xmlns:p14="http://schemas.microsoft.com/office/powerpoint/2010/main" val="971442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6"/>
            <a:ext cx="5915025" cy="1767417"/>
          </a:xfrm>
        </p:spPr>
        <p:txBody>
          <a:bodyPr/>
          <a:lstStyle/>
          <a:p>
            <a:r>
              <a:rPr lang="fr-FR"/>
              <a:t>Modifiez le style du titre</a:t>
            </a:r>
            <a:endParaRPr lang="en-US"/>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4" name="Content Placeholder 3"/>
          <p:cNvSpPr>
            <a:spLocks noGrp="1"/>
          </p:cNvSpPr>
          <p:nvPr>
            <p:ph sz="half" idx="2"/>
          </p:nvPr>
        </p:nvSpPr>
        <p:spPr>
          <a:xfrm>
            <a:off x="472381" y="3340100"/>
            <a:ext cx="2901255" cy="491278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6" name="Content Placeholder 5"/>
          <p:cNvSpPr>
            <a:spLocks noGrp="1"/>
          </p:cNvSpPr>
          <p:nvPr>
            <p:ph sz="quarter" idx="4"/>
          </p:nvPr>
        </p:nvSpPr>
        <p:spPr>
          <a:xfrm>
            <a:off x="3471863" y="3340100"/>
            <a:ext cx="2915543" cy="491278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Date Placeholder 6"/>
          <p:cNvSpPr>
            <a:spLocks noGrp="1"/>
          </p:cNvSpPr>
          <p:nvPr>
            <p:ph type="dt" sz="half" idx="10"/>
          </p:nvPr>
        </p:nvSpPr>
        <p:spPr/>
        <p:txBody>
          <a:bodyPr/>
          <a:lstStyle/>
          <a:p>
            <a:fld id="{BF4425F2-F0E4-1D4B-BFA0-799A02AE676D}" type="datetimeFigureOut">
              <a:rPr lang="fr-FR" smtClean="0"/>
              <a:t>03/06/2025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BB1D948C-A121-A74A-9582-4454DDF3EA04}" type="slidenum">
              <a:rPr lang="fr-FR" smtClean="0"/>
              <a:t>‹N°›</a:t>
            </a:fld>
            <a:endParaRPr lang="fr-FR"/>
          </a:p>
        </p:txBody>
      </p:sp>
    </p:spTree>
    <p:extLst>
      <p:ext uri="{BB962C8B-B14F-4D97-AF65-F5344CB8AC3E}">
        <p14:creationId xmlns:p14="http://schemas.microsoft.com/office/powerpoint/2010/main" val="1329118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Date Placeholder 2"/>
          <p:cNvSpPr>
            <a:spLocks noGrp="1"/>
          </p:cNvSpPr>
          <p:nvPr>
            <p:ph type="dt" sz="half" idx="10"/>
          </p:nvPr>
        </p:nvSpPr>
        <p:spPr/>
        <p:txBody>
          <a:bodyPr/>
          <a:lstStyle/>
          <a:p>
            <a:fld id="{BF4425F2-F0E4-1D4B-BFA0-799A02AE676D}" type="datetimeFigureOut">
              <a:rPr lang="fr-FR" smtClean="0"/>
              <a:t>03/06/2025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BB1D948C-A121-A74A-9582-4454DDF3EA04}" type="slidenum">
              <a:rPr lang="fr-FR" smtClean="0"/>
              <a:t>‹N°›</a:t>
            </a:fld>
            <a:endParaRPr lang="fr-FR"/>
          </a:p>
        </p:txBody>
      </p:sp>
    </p:spTree>
    <p:extLst>
      <p:ext uri="{BB962C8B-B14F-4D97-AF65-F5344CB8AC3E}">
        <p14:creationId xmlns:p14="http://schemas.microsoft.com/office/powerpoint/2010/main" val="1540022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4425F2-F0E4-1D4B-BFA0-799A02AE676D}" type="datetimeFigureOut">
              <a:rPr lang="fr-FR" smtClean="0"/>
              <a:t>03/06/2025</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BB1D948C-A121-A74A-9582-4454DDF3EA04}" type="slidenum">
              <a:rPr lang="fr-FR" smtClean="0"/>
              <a:t>‹N°›</a:t>
            </a:fld>
            <a:endParaRPr lang="fr-FR"/>
          </a:p>
        </p:txBody>
      </p:sp>
      <p:pic>
        <p:nvPicPr>
          <p:cNvPr id="6" name="Image 7">
            <a:extLst>
              <a:ext uri="{FF2B5EF4-FFF2-40B4-BE49-F238E27FC236}">
                <a16:creationId xmlns:a16="http://schemas.microsoft.com/office/drawing/2014/main" id="{2562921F-EF9C-41C1-9438-35B32010061A}"/>
              </a:ext>
            </a:extLst>
          </p:cNvPr>
          <p:cNvPicPr>
            <a:picLocks noChangeAspect="1"/>
          </p:cNvPicPr>
          <p:nvPr userDrawn="1"/>
        </p:nvPicPr>
        <p:blipFill>
          <a:blip r:embed="rId2"/>
          <a:stretch/>
        </p:blipFill>
        <p:spPr bwMode="auto">
          <a:xfrm>
            <a:off x="5050256" y="7899771"/>
            <a:ext cx="1807744" cy="1150730"/>
          </a:xfrm>
          <a:prstGeom prst="rect">
            <a:avLst/>
          </a:prstGeom>
        </p:spPr>
      </p:pic>
    </p:spTree>
    <p:extLst>
      <p:ext uri="{BB962C8B-B14F-4D97-AF65-F5344CB8AC3E}">
        <p14:creationId xmlns:p14="http://schemas.microsoft.com/office/powerpoint/2010/main" val="844434990"/>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fr-FR"/>
              <a:t>Modifiez le style du titre</a:t>
            </a:r>
            <a:endParaRPr lang="en-US"/>
          </a:p>
        </p:txBody>
      </p:sp>
      <p:sp>
        <p:nvSpPr>
          <p:cNvPr id="3" name="Content Placeholder 2"/>
          <p:cNvSpPr>
            <a:spLocks noGrp="1"/>
          </p:cNvSpPr>
          <p:nvPr>
            <p:ph idx="1"/>
          </p:nvPr>
        </p:nvSpPr>
        <p:spPr>
          <a:xfrm>
            <a:off x="2915543" y="1316569"/>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F4425F2-F0E4-1D4B-BFA0-799A02AE676D}" type="datetimeFigureOut">
              <a:rPr lang="fr-FR" smtClean="0"/>
              <a:t>03/06/2025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BB1D948C-A121-A74A-9582-4454DDF3EA04}" type="slidenum">
              <a:rPr lang="fr-FR" smtClean="0"/>
              <a:t>‹N°›</a:t>
            </a:fld>
            <a:endParaRPr lang="fr-FR"/>
          </a:p>
        </p:txBody>
      </p:sp>
    </p:spTree>
    <p:extLst>
      <p:ext uri="{BB962C8B-B14F-4D97-AF65-F5344CB8AC3E}">
        <p14:creationId xmlns:p14="http://schemas.microsoft.com/office/powerpoint/2010/main" val="3669891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fr-FR"/>
              <a:t>Modifiez le style du titre</a:t>
            </a:r>
            <a:endParaRPr lang="en-US"/>
          </a:p>
        </p:txBody>
      </p:sp>
      <p:sp>
        <p:nvSpPr>
          <p:cNvPr id="3" name="Picture Placeholder 2"/>
          <p:cNvSpPr>
            <a:spLocks noGrp="1" noChangeAspect="1"/>
          </p:cNvSpPr>
          <p:nvPr>
            <p:ph type="pic" idx="1"/>
          </p:nvPr>
        </p:nvSpPr>
        <p:spPr>
          <a:xfrm>
            <a:off x="2915543" y="1316569"/>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fr-FR"/>
              <a:t>Cliquez sur l'icône pour ajouter une image</a:t>
            </a:r>
            <a:endParaRPr lang="en-US"/>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F4425F2-F0E4-1D4B-BFA0-799A02AE676D}" type="datetimeFigureOut">
              <a:rPr lang="fr-FR" smtClean="0"/>
              <a:t>03/06/2025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BB1D948C-A121-A74A-9582-4454DDF3EA04}" type="slidenum">
              <a:rPr lang="fr-FR" smtClean="0"/>
              <a:t>‹N°›</a:t>
            </a:fld>
            <a:endParaRPr lang="fr-FR"/>
          </a:p>
        </p:txBody>
      </p:sp>
    </p:spTree>
    <p:extLst>
      <p:ext uri="{BB962C8B-B14F-4D97-AF65-F5344CB8AC3E}">
        <p14:creationId xmlns:p14="http://schemas.microsoft.com/office/powerpoint/2010/main" val="3192984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BF4425F2-F0E4-1D4B-BFA0-799A02AE676D}" type="datetimeFigureOut">
              <a:rPr lang="fr-FR" smtClean="0"/>
              <a:t>03/06/2025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B1D948C-A121-A74A-9582-4454DDF3EA04}" type="slidenum">
              <a:rPr lang="fr-FR" smtClean="0"/>
              <a:t>‹N°›</a:t>
            </a:fld>
            <a:endParaRPr lang="fr-FR"/>
          </a:p>
        </p:txBody>
      </p:sp>
    </p:spTree>
    <p:extLst>
      <p:ext uri="{BB962C8B-B14F-4D97-AF65-F5344CB8AC3E}">
        <p14:creationId xmlns:p14="http://schemas.microsoft.com/office/powerpoint/2010/main" val="2006586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4"/>
            <a:ext cx="1478756" cy="7749117"/>
          </a:xfrm>
        </p:spPr>
        <p:txBody>
          <a:bodyPr vert="eaVert"/>
          <a:lstStyle/>
          <a:p>
            <a:r>
              <a:rPr lang="fr-FR"/>
              <a:t>Modifiez le style du titre</a:t>
            </a:r>
            <a:endParaRPr lang="en-US"/>
          </a:p>
        </p:txBody>
      </p:sp>
      <p:sp>
        <p:nvSpPr>
          <p:cNvPr id="3" name="Vertical Text Placeholder 2"/>
          <p:cNvSpPr>
            <a:spLocks noGrp="1"/>
          </p:cNvSpPr>
          <p:nvPr>
            <p:ph type="body" orient="vert" idx="1"/>
          </p:nvPr>
        </p:nvSpPr>
        <p:spPr>
          <a:xfrm>
            <a:off x="471488" y="486834"/>
            <a:ext cx="4350544" cy="7749117"/>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BF4425F2-F0E4-1D4B-BFA0-799A02AE676D}" type="datetimeFigureOut">
              <a:rPr lang="fr-FR" smtClean="0"/>
              <a:t>03/06/2025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B1D948C-A121-A74A-9582-4454DDF3EA04}" type="slidenum">
              <a:rPr lang="fr-FR" smtClean="0"/>
              <a:t>‹N°›</a:t>
            </a:fld>
            <a:endParaRPr lang="fr-FR"/>
          </a:p>
        </p:txBody>
      </p:sp>
    </p:spTree>
    <p:extLst>
      <p:ext uri="{BB962C8B-B14F-4D97-AF65-F5344CB8AC3E}">
        <p14:creationId xmlns:p14="http://schemas.microsoft.com/office/powerpoint/2010/main" val="956775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75000"/>
                  </a:schemeClr>
                </a:solidFill>
              </a:defRPr>
            </a:lvl1pPr>
          </a:lstStyle>
          <a:p>
            <a:fld id="{BF4425F2-F0E4-1D4B-BFA0-799A02AE676D}" type="datetimeFigureOut">
              <a:rPr lang="fr-FR" smtClean="0"/>
              <a:t>03/06/2025</a:t>
            </a:fld>
            <a:endParaRPr lang="fr-FR"/>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75000"/>
                  </a:schemeClr>
                </a:solidFill>
              </a:defRPr>
            </a:lvl1pPr>
          </a:lstStyle>
          <a:p>
            <a:fld id="{BB1D948C-A121-A74A-9582-4454DDF3EA04}" type="slidenum">
              <a:rPr lang="fr-FR" smtClean="0"/>
              <a:t>‹N°›</a:t>
            </a:fld>
            <a:endParaRPr lang="fr-FR"/>
          </a:p>
        </p:txBody>
      </p:sp>
    </p:spTree>
    <p:extLst>
      <p:ext uri="{BB962C8B-B14F-4D97-AF65-F5344CB8AC3E}">
        <p14:creationId xmlns:p14="http://schemas.microsoft.com/office/powerpoint/2010/main" val="396794697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microsoft.com/office/2018/10/relationships/comments" Target="../comments/modernComment_105_93EEB545.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microsoft.com/office/2018/10/relationships/comments" Target="../comments/modernComment_106_A5D24BC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BCB4965-E3CC-A257-0CA1-2FCCE798A106}"/>
              </a:ext>
            </a:extLst>
          </p:cNvPr>
          <p:cNvSpPr/>
          <p:nvPr/>
        </p:nvSpPr>
        <p:spPr>
          <a:xfrm>
            <a:off x="1472917" y="1650671"/>
            <a:ext cx="1850571" cy="1328057"/>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spcAft>
                <a:spcPts val="600"/>
              </a:spcAft>
            </a:pPr>
            <a:r>
              <a:rPr lang="fr-FR" sz="1100" b="1" cap="all" dirty="0">
                <a:latin typeface="Calibri"/>
                <a:ea typeface="Calibri"/>
                <a:cs typeface="Calibri"/>
              </a:rPr>
              <a:t> CONCEVOIR le système constructif</a:t>
            </a:r>
          </a:p>
          <a:p>
            <a:pPr algn="ctr">
              <a:spcAft>
                <a:spcPts val="600"/>
              </a:spcAft>
            </a:pPr>
            <a:r>
              <a:rPr lang="fr-FR" sz="1200" cap="all" dirty="0">
                <a:ea typeface="+mn-lt"/>
                <a:cs typeface="+mn-lt"/>
              </a:rPr>
              <a:t>RNCP38859BC01</a:t>
            </a:r>
          </a:p>
          <a:p>
            <a:pPr algn="ctr">
              <a:spcAft>
                <a:spcPts val="600"/>
              </a:spcAft>
            </a:pPr>
            <a:r>
              <a:rPr lang="fr-FR" sz="1200" cap="all" dirty="0">
                <a:ea typeface="+mn-lt"/>
                <a:cs typeface="+mn-lt"/>
              </a:rPr>
              <a:t>RNCP38859BC04</a:t>
            </a:r>
            <a:endParaRPr lang="fr-FR" dirty="0"/>
          </a:p>
        </p:txBody>
      </p:sp>
      <p:sp>
        <p:nvSpPr>
          <p:cNvPr id="2" name="Rectangle 1">
            <a:extLst>
              <a:ext uri="{FF2B5EF4-FFF2-40B4-BE49-F238E27FC236}">
                <a16:creationId xmlns:a16="http://schemas.microsoft.com/office/drawing/2014/main" id="{BAE7B3F2-CEC8-417B-12A7-9B8523FDC72C}"/>
              </a:ext>
            </a:extLst>
          </p:cNvPr>
          <p:cNvSpPr/>
          <p:nvPr/>
        </p:nvSpPr>
        <p:spPr>
          <a:xfrm>
            <a:off x="3541863" y="1650671"/>
            <a:ext cx="1850571" cy="1328057"/>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spcAft>
                <a:spcPts val="600"/>
              </a:spcAft>
            </a:pPr>
            <a:r>
              <a:rPr lang="fr-FR" sz="1100" b="1" cap="all" dirty="0">
                <a:latin typeface="Calibri"/>
                <a:ea typeface="Calibri"/>
                <a:cs typeface="Calibri"/>
              </a:rPr>
              <a:t>GARANTIR la performance </a:t>
            </a:r>
          </a:p>
          <a:p>
            <a:pPr algn="ctr">
              <a:spcAft>
                <a:spcPts val="600"/>
              </a:spcAft>
            </a:pPr>
            <a:r>
              <a:rPr lang="fr-FR" sz="1200" cap="all" dirty="0">
                <a:ea typeface="+mn-lt"/>
                <a:cs typeface="+mn-lt"/>
              </a:rPr>
              <a:t>RNCP38859BC02</a:t>
            </a:r>
            <a:endParaRPr lang="fr-FR" dirty="0">
              <a:ea typeface="+mn-lt"/>
              <a:cs typeface="+mn-lt"/>
            </a:endParaRPr>
          </a:p>
          <a:p>
            <a:pPr algn="ctr">
              <a:spcAft>
                <a:spcPts val="600"/>
              </a:spcAft>
            </a:pPr>
            <a:r>
              <a:rPr lang="fr-FR" sz="1200" cap="all" dirty="0">
                <a:ea typeface="+mn-lt"/>
                <a:cs typeface="+mn-lt"/>
              </a:rPr>
              <a:t>RNCP38859BC04</a:t>
            </a:r>
            <a:endParaRPr lang="fr-FR" dirty="0">
              <a:ea typeface="+mn-lt"/>
              <a:cs typeface="+mn-lt"/>
            </a:endParaRPr>
          </a:p>
        </p:txBody>
      </p:sp>
      <p:sp>
        <p:nvSpPr>
          <p:cNvPr id="18" name="Rectangle 17">
            <a:extLst>
              <a:ext uri="{FF2B5EF4-FFF2-40B4-BE49-F238E27FC236}">
                <a16:creationId xmlns:a16="http://schemas.microsoft.com/office/drawing/2014/main" id="{4B25E8AB-A55E-7EBF-291F-B181B69A8BD6}"/>
              </a:ext>
            </a:extLst>
          </p:cNvPr>
          <p:cNvSpPr/>
          <p:nvPr/>
        </p:nvSpPr>
        <p:spPr>
          <a:xfrm>
            <a:off x="1472917" y="3243943"/>
            <a:ext cx="1850571" cy="1328057"/>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100" b="1" cap="all" dirty="0">
                <a:solidFill>
                  <a:schemeClr val="bg1"/>
                </a:solidFill>
                <a:ea typeface="+mn-lt"/>
                <a:cs typeface="+mn-lt"/>
              </a:rPr>
              <a:t>Intégrer des solutions durables adaptées aux cycles de vie du bâtiment</a:t>
            </a:r>
          </a:p>
          <a:p>
            <a:pPr algn="ctr"/>
            <a:endParaRPr lang="fr-FR" sz="900" b="1" cap="all">
              <a:solidFill>
                <a:schemeClr val="bg1"/>
              </a:solidFill>
              <a:latin typeface="Calibri"/>
              <a:ea typeface="Calibri"/>
              <a:cs typeface="Calibri"/>
            </a:endParaRPr>
          </a:p>
          <a:p>
            <a:pPr algn="ctr">
              <a:spcAft>
                <a:spcPts val="600"/>
              </a:spcAft>
            </a:pPr>
            <a:r>
              <a:rPr lang="fr-FR" sz="1200" cap="all" dirty="0">
                <a:ea typeface="+mn-lt"/>
                <a:cs typeface="+mn-lt"/>
              </a:rPr>
              <a:t>RNCP38859BC03</a:t>
            </a:r>
            <a:endParaRPr lang="fr-FR" dirty="0"/>
          </a:p>
        </p:txBody>
      </p:sp>
      <p:sp>
        <p:nvSpPr>
          <p:cNvPr id="19" name="Rectangle 18">
            <a:extLst>
              <a:ext uri="{FF2B5EF4-FFF2-40B4-BE49-F238E27FC236}">
                <a16:creationId xmlns:a16="http://schemas.microsoft.com/office/drawing/2014/main" id="{0DF9A382-DCE3-E467-095C-0B198C15F7B1}"/>
              </a:ext>
            </a:extLst>
          </p:cNvPr>
          <p:cNvSpPr/>
          <p:nvPr/>
        </p:nvSpPr>
        <p:spPr>
          <a:xfrm>
            <a:off x="3541863" y="3243942"/>
            <a:ext cx="1850571" cy="1328057"/>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spcAft>
                <a:spcPts val="600"/>
              </a:spcAft>
            </a:pPr>
            <a:r>
              <a:rPr lang="fr-FR" sz="1100" b="1" cap="all" dirty="0">
                <a:latin typeface="Calibri"/>
                <a:ea typeface="Calibri"/>
                <a:cs typeface="Calibri"/>
              </a:rPr>
              <a:t>Piloter un projet de bâtiment</a:t>
            </a:r>
          </a:p>
          <a:p>
            <a:pPr algn="ctr">
              <a:spcAft>
                <a:spcPts val="600"/>
              </a:spcAft>
            </a:pPr>
            <a:r>
              <a:rPr lang="fr-FR" sz="1200" cap="all" dirty="0">
                <a:ea typeface="+mn-lt"/>
                <a:cs typeface="+mn-lt"/>
              </a:rPr>
              <a:t>RNCP38859BC05</a:t>
            </a:r>
            <a:endParaRPr lang="fr-FR" dirty="0"/>
          </a:p>
        </p:txBody>
      </p:sp>
      <p:sp>
        <p:nvSpPr>
          <p:cNvPr id="20" name="ZoneTexte 19">
            <a:extLst>
              <a:ext uri="{FF2B5EF4-FFF2-40B4-BE49-F238E27FC236}">
                <a16:creationId xmlns:a16="http://schemas.microsoft.com/office/drawing/2014/main" id="{14102A85-DE7E-D222-A6BB-351E1ADD0520}"/>
              </a:ext>
            </a:extLst>
          </p:cNvPr>
          <p:cNvSpPr txBox="1"/>
          <p:nvPr/>
        </p:nvSpPr>
        <p:spPr>
          <a:xfrm>
            <a:off x="1569260" y="858000"/>
            <a:ext cx="3719480" cy="369332"/>
          </a:xfrm>
          <a:prstGeom prst="rect">
            <a:avLst/>
          </a:prstGeom>
          <a:noFill/>
        </p:spPr>
        <p:txBody>
          <a:bodyPr wrap="none" rtlCol="0">
            <a:spAutoFit/>
          </a:bodyPr>
          <a:lstStyle/>
          <a:p>
            <a:r>
              <a:rPr lang="fr-FR"/>
              <a:t>VUE D’ENSEMBLE DES COMPÉTENCES</a:t>
            </a:r>
          </a:p>
        </p:txBody>
      </p:sp>
      <p:sp>
        <p:nvSpPr>
          <p:cNvPr id="23" name="Rectangle 22">
            <a:extLst>
              <a:ext uri="{FF2B5EF4-FFF2-40B4-BE49-F238E27FC236}">
                <a16:creationId xmlns:a16="http://schemas.microsoft.com/office/drawing/2014/main" id="{E3DEF488-0DC5-EFE0-4CE1-31506D55603B}"/>
              </a:ext>
            </a:extLst>
          </p:cNvPr>
          <p:cNvSpPr/>
          <p:nvPr/>
        </p:nvSpPr>
        <p:spPr>
          <a:xfrm>
            <a:off x="115172" y="113568"/>
            <a:ext cx="6640470" cy="319051"/>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800" b="1" cap="all">
                <a:solidFill>
                  <a:schemeClr val="bg1"/>
                </a:solidFill>
                <a:latin typeface="Myriad Pro" panose="020B0503030403020204" pitchFamily="34" charset="0"/>
              </a:rPr>
              <a:t>		Bâtiment, écoconstruction, énergie		Polytech XXX</a:t>
            </a:r>
          </a:p>
        </p:txBody>
      </p:sp>
    </p:spTree>
    <p:extLst>
      <p:ext uri="{BB962C8B-B14F-4D97-AF65-F5344CB8AC3E}">
        <p14:creationId xmlns:p14="http://schemas.microsoft.com/office/powerpoint/2010/main" val="30443814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07C2E-25C5-7103-B26E-F2CF56CBDB9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B39C6AD-AF35-BE97-714E-47D414B85D41}"/>
              </a:ext>
            </a:extLst>
          </p:cNvPr>
          <p:cNvSpPr/>
          <p:nvPr/>
        </p:nvSpPr>
        <p:spPr>
          <a:xfrm>
            <a:off x="115172" y="113568"/>
            <a:ext cx="6640470" cy="319051"/>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800" b="1" cap="all">
                <a:solidFill>
                  <a:schemeClr val="bg1"/>
                </a:solidFill>
                <a:latin typeface="Myriad Pro" panose="020B0503030403020204" pitchFamily="34" charset="0"/>
              </a:rPr>
              <a:t>		 Bâtiment, écoconstruction, énergie 		Polytech XXX</a:t>
            </a:r>
          </a:p>
        </p:txBody>
      </p:sp>
      <p:sp>
        <p:nvSpPr>
          <p:cNvPr id="9" name="Rectangle 8">
            <a:extLst>
              <a:ext uri="{FF2B5EF4-FFF2-40B4-BE49-F238E27FC236}">
                <a16:creationId xmlns:a16="http://schemas.microsoft.com/office/drawing/2014/main" id="{3FD9CD12-2037-DE8F-6A9E-95825825CA7C}"/>
              </a:ext>
            </a:extLst>
          </p:cNvPr>
          <p:cNvSpPr/>
          <p:nvPr/>
        </p:nvSpPr>
        <p:spPr>
          <a:xfrm>
            <a:off x="2066564" y="1980480"/>
            <a:ext cx="4689078" cy="1103683"/>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fr-FR" sz="900">
              <a:solidFill>
                <a:schemeClr val="tx1"/>
              </a:solidFill>
              <a:latin typeface="Myriad Pro" panose="020B0503030403020204" pitchFamily="34" charset="0"/>
            </a:endParaRPr>
          </a:p>
        </p:txBody>
      </p:sp>
      <p:sp>
        <p:nvSpPr>
          <p:cNvPr id="12" name="ZoneTexte 11">
            <a:extLst>
              <a:ext uri="{FF2B5EF4-FFF2-40B4-BE49-F238E27FC236}">
                <a16:creationId xmlns:a16="http://schemas.microsoft.com/office/drawing/2014/main" id="{EA0BF5BA-02F0-CAEF-B55D-D10743D07B41}"/>
              </a:ext>
            </a:extLst>
          </p:cNvPr>
          <p:cNvSpPr txBox="1"/>
          <p:nvPr/>
        </p:nvSpPr>
        <p:spPr>
          <a:xfrm>
            <a:off x="115171" y="1980480"/>
            <a:ext cx="1880643" cy="253916"/>
          </a:xfrm>
          <a:prstGeom prst="rect">
            <a:avLst/>
          </a:prstGeom>
          <a:noFill/>
        </p:spPr>
        <p:txBody>
          <a:bodyPr wrap="none" rtlCol="0">
            <a:spAutoFit/>
          </a:bodyPr>
          <a:lstStyle/>
          <a:p>
            <a:r>
              <a:rPr lang="fr-FR" sz="1050" b="1">
                <a:latin typeface="Myriad Pro" panose="020B0503030403020204" pitchFamily="34" charset="0"/>
              </a:rPr>
              <a:t>Situations professionnelles</a:t>
            </a:r>
          </a:p>
        </p:txBody>
      </p:sp>
      <p:sp>
        <p:nvSpPr>
          <p:cNvPr id="27" name="Rectangle 26">
            <a:extLst>
              <a:ext uri="{FF2B5EF4-FFF2-40B4-BE49-F238E27FC236}">
                <a16:creationId xmlns:a16="http://schemas.microsoft.com/office/drawing/2014/main" id="{AB8DDAEA-5EAB-8B33-030A-71CEA82ABC09}"/>
              </a:ext>
            </a:extLst>
          </p:cNvPr>
          <p:cNvSpPr/>
          <p:nvPr/>
        </p:nvSpPr>
        <p:spPr>
          <a:xfrm>
            <a:off x="2066564" y="3709551"/>
            <a:ext cx="4689078" cy="1078725"/>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fr-FR" sz="900">
              <a:solidFill>
                <a:schemeClr val="tx1"/>
              </a:solidFill>
              <a:latin typeface="Myriad Pro" panose="020B0503030403020204" pitchFamily="34" charset="0"/>
            </a:endParaRPr>
          </a:p>
        </p:txBody>
      </p:sp>
      <p:sp>
        <p:nvSpPr>
          <p:cNvPr id="28" name="Rectangle 27">
            <a:extLst>
              <a:ext uri="{FF2B5EF4-FFF2-40B4-BE49-F238E27FC236}">
                <a16:creationId xmlns:a16="http://schemas.microsoft.com/office/drawing/2014/main" id="{CDB6D710-E0A0-E469-2EC9-0C7D72E6CC9D}"/>
              </a:ext>
            </a:extLst>
          </p:cNvPr>
          <p:cNvSpPr/>
          <p:nvPr/>
        </p:nvSpPr>
        <p:spPr>
          <a:xfrm>
            <a:off x="2066564" y="4843696"/>
            <a:ext cx="4689078" cy="1207691"/>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endParaRPr lang="fr-FR" sz="900">
              <a:solidFill>
                <a:schemeClr val="tx1"/>
              </a:solidFill>
              <a:latin typeface="Myriad Pro" panose="020B0503030403020204" pitchFamily="34" charset="0"/>
            </a:endParaRPr>
          </a:p>
          <a:p>
            <a:endParaRPr lang="fr-FR" sz="900">
              <a:solidFill>
                <a:schemeClr val="tx1"/>
              </a:solidFill>
              <a:latin typeface="Myriad Pro" panose="020B0503030403020204" pitchFamily="34" charset="0"/>
            </a:endParaRPr>
          </a:p>
        </p:txBody>
      </p:sp>
      <p:sp>
        <p:nvSpPr>
          <p:cNvPr id="29" name="Rectangle 28">
            <a:extLst>
              <a:ext uri="{FF2B5EF4-FFF2-40B4-BE49-F238E27FC236}">
                <a16:creationId xmlns:a16="http://schemas.microsoft.com/office/drawing/2014/main" id="{5471F8F7-3B12-EC8D-4424-D149104818B2}"/>
              </a:ext>
            </a:extLst>
          </p:cNvPr>
          <p:cNvSpPr/>
          <p:nvPr/>
        </p:nvSpPr>
        <p:spPr>
          <a:xfrm>
            <a:off x="2066564" y="6106807"/>
            <a:ext cx="4689078" cy="1207691"/>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fr-FR" sz="900">
              <a:solidFill>
                <a:schemeClr val="tx1"/>
              </a:solidFill>
              <a:latin typeface="Myriad Pro" panose="020B0503030403020204" pitchFamily="34" charset="0"/>
            </a:endParaRPr>
          </a:p>
        </p:txBody>
      </p:sp>
      <p:grpSp>
        <p:nvGrpSpPr>
          <p:cNvPr id="6" name="Groupe 5">
            <a:extLst>
              <a:ext uri="{FF2B5EF4-FFF2-40B4-BE49-F238E27FC236}">
                <a16:creationId xmlns:a16="http://schemas.microsoft.com/office/drawing/2014/main" id="{2BA9DC19-8C43-2F07-D6C3-D9FBD553DB6B}"/>
              </a:ext>
            </a:extLst>
          </p:cNvPr>
          <p:cNvGrpSpPr/>
          <p:nvPr/>
        </p:nvGrpSpPr>
        <p:grpSpPr>
          <a:xfrm>
            <a:off x="115171" y="3709551"/>
            <a:ext cx="1850572" cy="3955093"/>
            <a:chOff x="2638730" y="3612188"/>
            <a:chExt cx="1850572" cy="3955093"/>
          </a:xfrm>
        </p:grpSpPr>
        <p:sp>
          <p:nvSpPr>
            <p:cNvPr id="8" name="Chevron 7">
              <a:extLst>
                <a:ext uri="{FF2B5EF4-FFF2-40B4-BE49-F238E27FC236}">
                  <a16:creationId xmlns:a16="http://schemas.microsoft.com/office/drawing/2014/main" id="{77AB3678-109B-F125-2779-B4B152E962B3}"/>
                </a:ext>
              </a:extLst>
            </p:cNvPr>
            <p:cNvSpPr/>
            <p:nvPr/>
          </p:nvSpPr>
          <p:spPr>
            <a:xfrm rot="5400000">
              <a:off x="2788216" y="4596848"/>
              <a:ext cx="1551600" cy="1850571"/>
            </a:xfrm>
            <a:prstGeom prst="chevron">
              <a:avLst>
                <a:gd name="adj" fmla="val 21677"/>
              </a:avLst>
            </a:prstGeom>
            <a:solidFill>
              <a:schemeClr val="accent4">
                <a:lumMod val="40000"/>
                <a:lumOff val="6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0" name="Chevron 9">
              <a:extLst>
                <a:ext uri="{FF2B5EF4-FFF2-40B4-BE49-F238E27FC236}">
                  <a16:creationId xmlns:a16="http://schemas.microsoft.com/office/drawing/2014/main" id="{C545B399-7E15-DA81-2411-FD1AF0EFFFCD}"/>
                </a:ext>
              </a:extLst>
            </p:cNvPr>
            <p:cNvSpPr/>
            <p:nvPr/>
          </p:nvSpPr>
          <p:spPr>
            <a:xfrm rot="5400000">
              <a:off x="2788216" y="5866195"/>
              <a:ext cx="1551600" cy="1850571"/>
            </a:xfrm>
            <a:prstGeom prst="chevron">
              <a:avLst>
                <a:gd name="adj" fmla="val 21677"/>
              </a:avLst>
            </a:prstGeom>
            <a:solidFill>
              <a:schemeClr val="accent4">
                <a:lumMod val="60000"/>
                <a:lumOff val="4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3" name="Signalisation droite 12">
              <a:extLst>
                <a:ext uri="{FF2B5EF4-FFF2-40B4-BE49-F238E27FC236}">
                  <a16:creationId xmlns:a16="http://schemas.microsoft.com/office/drawing/2014/main" id="{869B42AE-192E-30A2-CA01-FAE5B6ED176C}"/>
                </a:ext>
              </a:extLst>
            </p:cNvPr>
            <p:cNvSpPr/>
            <p:nvPr/>
          </p:nvSpPr>
          <p:spPr>
            <a:xfrm rot="5400000">
              <a:off x="2855409" y="3395510"/>
              <a:ext cx="1417215" cy="1850571"/>
            </a:xfrm>
            <a:prstGeom prst="homePlate">
              <a:avLst>
                <a:gd name="adj" fmla="val 23531"/>
              </a:avLst>
            </a:prstGeom>
            <a:solidFill>
              <a:schemeClr val="accent4">
                <a:lumMod val="20000"/>
                <a:lumOff val="8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200">
                <a:latin typeface="Myriad Pro" panose="020B0503030403020204" pitchFamily="34" charset="0"/>
              </a:endParaRPr>
            </a:p>
          </p:txBody>
        </p:sp>
      </p:grpSp>
      <p:sp>
        <p:nvSpPr>
          <p:cNvPr id="14" name="ZoneTexte 13">
            <a:extLst>
              <a:ext uri="{FF2B5EF4-FFF2-40B4-BE49-F238E27FC236}">
                <a16:creationId xmlns:a16="http://schemas.microsoft.com/office/drawing/2014/main" id="{A9010F20-576C-4615-CAFD-D7C2E038ABC5}"/>
              </a:ext>
            </a:extLst>
          </p:cNvPr>
          <p:cNvSpPr txBox="1"/>
          <p:nvPr/>
        </p:nvSpPr>
        <p:spPr>
          <a:xfrm>
            <a:off x="115171" y="3692721"/>
            <a:ext cx="1850572" cy="646331"/>
          </a:xfrm>
          <a:prstGeom prst="rect">
            <a:avLst/>
          </a:prstGeom>
          <a:noFill/>
        </p:spPr>
        <p:txBody>
          <a:bodyPr wrap="square" rtlCol="0">
            <a:spAutoFit/>
          </a:bodyPr>
          <a:lstStyle/>
          <a:p>
            <a:pPr algn="ctr"/>
            <a:r>
              <a:rPr lang="fr-FR" sz="1200" b="1">
                <a:latin typeface="Myriad Pro" panose="020B0503030403020204" pitchFamily="34" charset="0"/>
              </a:rPr>
              <a:t>Niveau 1</a:t>
            </a:r>
          </a:p>
          <a:p>
            <a:pPr algn="ctr"/>
            <a:endParaRPr lang="fr-FR" sz="1200">
              <a:latin typeface="Myriad Pro" panose="020B0503030403020204" pitchFamily="34" charset="0"/>
            </a:endParaRPr>
          </a:p>
          <a:p>
            <a:pPr algn="ctr"/>
            <a:endParaRPr lang="fr-FR" sz="1200">
              <a:latin typeface="Myriad Pro" panose="020B0503030403020204" pitchFamily="34" charset="0"/>
            </a:endParaRPr>
          </a:p>
        </p:txBody>
      </p:sp>
      <p:sp>
        <p:nvSpPr>
          <p:cNvPr id="15" name="ZoneTexte 14">
            <a:extLst>
              <a:ext uri="{FF2B5EF4-FFF2-40B4-BE49-F238E27FC236}">
                <a16:creationId xmlns:a16="http://schemas.microsoft.com/office/drawing/2014/main" id="{E92A6767-BEC8-73FB-0CBD-5BC233E484A5}"/>
              </a:ext>
            </a:extLst>
          </p:cNvPr>
          <p:cNvSpPr txBox="1"/>
          <p:nvPr/>
        </p:nvSpPr>
        <p:spPr>
          <a:xfrm>
            <a:off x="115171" y="5153040"/>
            <a:ext cx="1850572" cy="646331"/>
          </a:xfrm>
          <a:prstGeom prst="rect">
            <a:avLst/>
          </a:prstGeom>
          <a:noFill/>
        </p:spPr>
        <p:txBody>
          <a:bodyPr wrap="square" rtlCol="0">
            <a:spAutoFit/>
          </a:bodyPr>
          <a:lstStyle/>
          <a:p>
            <a:pPr algn="ctr"/>
            <a:r>
              <a:rPr lang="fr-FR" sz="1200" b="1">
                <a:latin typeface="Myriad Pro" panose="020B0503030403020204" pitchFamily="34" charset="0"/>
              </a:rPr>
              <a:t>Niveau 2</a:t>
            </a:r>
          </a:p>
          <a:p>
            <a:pPr algn="ctr"/>
            <a:endParaRPr lang="fr-FR" sz="1200">
              <a:latin typeface="Myriad Pro" panose="020B0503030403020204" pitchFamily="34" charset="0"/>
            </a:endParaRPr>
          </a:p>
          <a:p>
            <a:pPr algn="ctr"/>
            <a:endParaRPr lang="fr-FR" sz="1200">
              <a:latin typeface="Myriad Pro" panose="020B0503030403020204" pitchFamily="34" charset="0"/>
            </a:endParaRPr>
          </a:p>
        </p:txBody>
      </p:sp>
      <p:sp>
        <p:nvSpPr>
          <p:cNvPr id="16" name="ZoneTexte 15">
            <a:extLst>
              <a:ext uri="{FF2B5EF4-FFF2-40B4-BE49-F238E27FC236}">
                <a16:creationId xmlns:a16="http://schemas.microsoft.com/office/drawing/2014/main" id="{5A8468A6-FBAF-9CD0-C2AD-314A992AC17A}"/>
              </a:ext>
            </a:extLst>
          </p:cNvPr>
          <p:cNvSpPr txBox="1"/>
          <p:nvPr/>
        </p:nvSpPr>
        <p:spPr>
          <a:xfrm>
            <a:off x="102358" y="6429491"/>
            <a:ext cx="1850572" cy="646331"/>
          </a:xfrm>
          <a:prstGeom prst="rect">
            <a:avLst/>
          </a:prstGeom>
          <a:noFill/>
        </p:spPr>
        <p:txBody>
          <a:bodyPr wrap="square" rtlCol="0">
            <a:spAutoFit/>
          </a:bodyPr>
          <a:lstStyle/>
          <a:p>
            <a:pPr algn="ctr"/>
            <a:r>
              <a:rPr lang="fr-FR" sz="1200" b="1">
                <a:latin typeface="Myriad Pro" panose="020B0503030403020204" pitchFamily="34" charset="0"/>
              </a:rPr>
              <a:t>Niveau 3</a:t>
            </a:r>
          </a:p>
          <a:p>
            <a:pPr algn="ctr"/>
            <a:endParaRPr lang="fr-FR" sz="1200">
              <a:latin typeface="Myriad Pro" panose="020B0503030403020204" pitchFamily="34" charset="0"/>
            </a:endParaRPr>
          </a:p>
          <a:p>
            <a:pPr algn="ctr"/>
            <a:endParaRPr lang="fr-FR" sz="1200">
              <a:latin typeface="Myriad Pro" panose="020B0503030403020204" pitchFamily="34" charset="0"/>
            </a:endParaRPr>
          </a:p>
        </p:txBody>
      </p:sp>
      <p:sp>
        <p:nvSpPr>
          <p:cNvPr id="3" name="ZoneTexte 2">
            <a:extLst>
              <a:ext uri="{FF2B5EF4-FFF2-40B4-BE49-F238E27FC236}">
                <a16:creationId xmlns:a16="http://schemas.microsoft.com/office/drawing/2014/main" id="{C05BC66E-038E-6729-98EE-570916A290C1}"/>
              </a:ext>
            </a:extLst>
          </p:cNvPr>
          <p:cNvSpPr txBox="1"/>
          <p:nvPr/>
        </p:nvSpPr>
        <p:spPr>
          <a:xfrm>
            <a:off x="1965743" y="3384089"/>
            <a:ext cx="3657506" cy="338554"/>
          </a:xfrm>
          <a:prstGeom prst="rect">
            <a:avLst/>
          </a:prstGeom>
          <a:noFill/>
        </p:spPr>
        <p:txBody>
          <a:bodyPr wrap="square">
            <a:spAutoFit/>
          </a:bodyPr>
          <a:lstStyle/>
          <a:p>
            <a:pPr lvl="0"/>
            <a:r>
              <a:rPr lang="fr-FR" sz="1600" b="1" i="1"/>
              <a:t>Apprentissages critiques</a:t>
            </a:r>
          </a:p>
        </p:txBody>
      </p:sp>
      <p:sp>
        <p:nvSpPr>
          <p:cNvPr id="2" name="Rectangle 1">
            <a:extLst>
              <a:ext uri="{FF2B5EF4-FFF2-40B4-BE49-F238E27FC236}">
                <a16:creationId xmlns:a16="http://schemas.microsoft.com/office/drawing/2014/main" id="{120BE6C5-C445-D8AB-4C49-F06327F3D35A}"/>
              </a:ext>
            </a:extLst>
          </p:cNvPr>
          <p:cNvSpPr/>
          <p:nvPr/>
        </p:nvSpPr>
        <p:spPr>
          <a:xfrm>
            <a:off x="115172" y="561160"/>
            <a:ext cx="1850571" cy="1328057"/>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spcAft>
                <a:spcPts val="600"/>
              </a:spcAft>
            </a:pPr>
            <a:r>
              <a:rPr lang="fr-FR" sz="1200" b="1" cap="all" err="1">
                <a:latin typeface="Myriad Pro"/>
              </a:rPr>
              <a:t>CoNCEVOIr</a:t>
            </a:r>
            <a:r>
              <a:rPr lang="fr-FR" sz="1200" b="1" cap="all">
                <a:latin typeface="Myriad Pro"/>
              </a:rPr>
              <a:t> des systèmes constructifs</a:t>
            </a:r>
            <a:endParaRPr lang="fr-FR" sz="1200" cap="all">
              <a:latin typeface="Myriad Pro"/>
            </a:endParaRPr>
          </a:p>
          <a:p>
            <a:pPr algn="ctr">
              <a:spcAft>
                <a:spcPts val="600"/>
              </a:spcAft>
            </a:pPr>
            <a:r>
              <a:rPr lang="fr-FR" sz="1200" cap="all" err="1">
                <a:latin typeface="Myriad Pro"/>
              </a:rPr>
              <a:t>Ref</a:t>
            </a:r>
            <a:r>
              <a:rPr lang="fr-FR" sz="1200" cap="all">
                <a:latin typeface="Myriad Pro"/>
              </a:rPr>
              <a:t> RNCP</a:t>
            </a:r>
            <a:endParaRPr lang="fr-FR" sz="1200">
              <a:latin typeface="Myriad Pro"/>
            </a:endParaRPr>
          </a:p>
        </p:txBody>
      </p:sp>
      <p:sp>
        <p:nvSpPr>
          <p:cNvPr id="7" name="Rectangle 6">
            <a:extLst>
              <a:ext uri="{FF2B5EF4-FFF2-40B4-BE49-F238E27FC236}">
                <a16:creationId xmlns:a16="http://schemas.microsoft.com/office/drawing/2014/main" id="{C7304A67-8B2E-B3E3-31CF-722C5F9D66A3}"/>
              </a:ext>
            </a:extLst>
          </p:cNvPr>
          <p:cNvSpPr/>
          <p:nvPr/>
        </p:nvSpPr>
        <p:spPr>
          <a:xfrm>
            <a:off x="2066564" y="542521"/>
            <a:ext cx="4689078" cy="169187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r>
              <a:rPr lang="fr-FR" sz="1200" dirty="0">
                <a:solidFill>
                  <a:schemeClr val="tx1"/>
                </a:solidFill>
                <a:latin typeface="Myriad Pro"/>
              </a:rPr>
              <a:t>Composantes essentielles</a:t>
            </a:r>
          </a:p>
          <a:p>
            <a:r>
              <a:rPr lang="fr-FR" sz="900" dirty="0">
                <a:solidFill>
                  <a:schemeClr val="tx1"/>
                </a:solidFill>
              </a:rPr>
              <a:t>…    En adoptant une démarche scientifique rigoureuse à toutes les étapes</a:t>
            </a:r>
            <a:endParaRPr lang="en-US" sz="900" dirty="0">
              <a:solidFill>
                <a:schemeClr val="tx1"/>
              </a:solidFill>
              <a:ea typeface="Calibri" panose="020F0502020204030204"/>
              <a:cs typeface="Calibri" panose="020F0502020204030204"/>
            </a:endParaRPr>
          </a:p>
          <a:p>
            <a:r>
              <a:rPr lang="fr-FR" sz="900" dirty="0">
                <a:solidFill>
                  <a:schemeClr val="tx1"/>
                </a:solidFill>
                <a:ea typeface="Calibri"/>
                <a:cs typeface="Calibri"/>
              </a:rPr>
              <a:t>…    En utilisant des outils et des méthodes de manière adaptée </a:t>
            </a:r>
            <a:endParaRPr lang="fr-FR" sz="900" dirty="0">
              <a:solidFill>
                <a:schemeClr val="tx1"/>
              </a:solidFill>
            </a:endParaRPr>
          </a:p>
          <a:p>
            <a:pPr marL="171450" indent="-171450">
              <a:buFontTx/>
              <a:buChar char="…"/>
            </a:pPr>
            <a:r>
              <a:rPr lang="fr-FR" sz="900" i="1" dirty="0">
                <a:solidFill>
                  <a:schemeClr val="tx1"/>
                </a:solidFill>
              </a:rPr>
              <a:t>En respectant les normes en vigueur (DTU, Eurocodes, réglementation incendie, norme PMR, RE2020</a:t>
            </a:r>
            <a:r>
              <a:rPr lang="fr-FR" sz="900" dirty="0">
                <a:solidFill>
                  <a:schemeClr val="tx1"/>
                </a:solidFill>
              </a:rPr>
              <a:t>);</a:t>
            </a:r>
            <a:endParaRPr lang="fr-FR" sz="900" dirty="0">
              <a:solidFill>
                <a:schemeClr val="tx1"/>
              </a:solidFill>
              <a:ea typeface="Calibri"/>
              <a:cs typeface="Calibri"/>
            </a:endParaRPr>
          </a:p>
          <a:p>
            <a:pPr marL="171450" indent="-171450">
              <a:buFontTx/>
              <a:buChar char="…"/>
            </a:pPr>
            <a:r>
              <a:rPr lang="fr-FR" sz="900" i="1" dirty="0">
                <a:solidFill>
                  <a:schemeClr val="tx1"/>
                </a:solidFill>
              </a:rPr>
              <a:t>En tenant compte des contraintes liées au budget, aux délais, aux impacts environnemental et sanitaire, aux usages </a:t>
            </a:r>
            <a:r>
              <a:rPr lang="fr-FR" sz="900" dirty="0">
                <a:solidFill>
                  <a:schemeClr val="tx1"/>
                </a:solidFill>
              </a:rPr>
              <a:t>;</a:t>
            </a:r>
            <a:endParaRPr lang="fr-FR" sz="900" dirty="0">
              <a:solidFill>
                <a:schemeClr val="tx1"/>
              </a:solidFill>
              <a:ea typeface="Calibri"/>
              <a:cs typeface="Calibri"/>
            </a:endParaRPr>
          </a:p>
          <a:p>
            <a:pPr marL="171450" indent="-171450">
              <a:buFontTx/>
              <a:buChar char="…"/>
            </a:pPr>
            <a:r>
              <a:rPr lang="fr-FR" sz="900" i="1" dirty="0">
                <a:solidFill>
                  <a:schemeClr val="tx1"/>
                </a:solidFill>
                <a:ea typeface="Calibri"/>
                <a:cs typeface="Calibri"/>
              </a:rPr>
              <a:t>En</a:t>
            </a:r>
            <a:r>
              <a:rPr lang="fr-FR" sz="900" i="1" dirty="0">
                <a:solidFill>
                  <a:schemeClr val="tx1"/>
                </a:solidFill>
              </a:rPr>
              <a:t> coordonnant efficacement la conception du gros œuvre avec le second œuvre</a:t>
            </a:r>
            <a:r>
              <a:rPr lang="fr-FR" sz="900" dirty="0">
                <a:solidFill>
                  <a:schemeClr val="tx1"/>
                </a:solidFill>
              </a:rPr>
              <a:t>; </a:t>
            </a:r>
            <a:endParaRPr lang="fr-FR" sz="900" dirty="0">
              <a:solidFill>
                <a:schemeClr val="tx1"/>
              </a:solidFill>
              <a:ea typeface="Calibri"/>
              <a:cs typeface="Calibri"/>
            </a:endParaRPr>
          </a:p>
          <a:p>
            <a:pPr marL="171450" indent="-171450">
              <a:buFontTx/>
              <a:buChar char="…"/>
            </a:pPr>
            <a:r>
              <a:rPr lang="fr-FR" sz="900" i="1" dirty="0">
                <a:solidFill>
                  <a:schemeClr val="tx1"/>
                </a:solidFill>
              </a:rPr>
              <a:t>En communiquant à l'oral et à l'écrit avec des publics divers (spécialistes et non spécialistes) dans un contexte pluriculturel et/ou international</a:t>
            </a:r>
            <a:r>
              <a:rPr lang="fr-FR" sz="900" dirty="0">
                <a:solidFill>
                  <a:schemeClr val="tx1"/>
                </a:solidFill>
              </a:rPr>
              <a:t>;</a:t>
            </a:r>
            <a:endParaRPr lang="fr-FR" sz="900" dirty="0">
              <a:solidFill>
                <a:schemeClr val="tx1"/>
              </a:solidFill>
              <a:ea typeface="Calibri"/>
              <a:cs typeface="Calibri"/>
            </a:endParaRPr>
          </a:p>
        </p:txBody>
      </p:sp>
      <p:sp>
        <p:nvSpPr>
          <p:cNvPr id="5" name="ZoneTexte 4">
            <a:extLst>
              <a:ext uri="{FF2B5EF4-FFF2-40B4-BE49-F238E27FC236}">
                <a16:creationId xmlns:a16="http://schemas.microsoft.com/office/drawing/2014/main" id="{0CED638E-77BB-6094-3D47-DE2204755F37}"/>
              </a:ext>
            </a:extLst>
          </p:cNvPr>
          <p:cNvSpPr txBox="1"/>
          <p:nvPr/>
        </p:nvSpPr>
        <p:spPr>
          <a:xfrm>
            <a:off x="2066495" y="3683446"/>
            <a:ext cx="4676264" cy="707886"/>
          </a:xfrm>
          <a:prstGeom prst="rect">
            <a:avLst/>
          </a:prstGeom>
          <a:noFill/>
        </p:spPr>
        <p:txBody>
          <a:bodyPr wrap="square" lIns="91440" tIns="45720" rIns="91440" bIns="45720" rtlCol="0" anchor="t">
            <a:spAutoFit/>
          </a:bodyPr>
          <a:lstStyle/>
          <a:p>
            <a:r>
              <a:rPr lang="fr-FR" sz="1000" dirty="0">
                <a:latin typeface="Aptos"/>
                <a:cs typeface="Times New Roman"/>
              </a:rPr>
              <a:t>Calculer analytiquement  une structure en élasticité (TP </a:t>
            </a:r>
            <a:r>
              <a:rPr lang="fr-FR" sz="1000" dirty="0" err="1">
                <a:latin typeface="Aptos"/>
                <a:cs typeface="Times New Roman"/>
              </a:rPr>
              <a:t>méca</a:t>
            </a:r>
            <a:r>
              <a:rPr lang="fr-FR" sz="1000" dirty="0">
                <a:latin typeface="Aptos"/>
                <a:cs typeface="Times New Roman"/>
              </a:rPr>
              <a:t>)</a:t>
            </a:r>
          </a:p>
          <a:p>
            <a:r>
              <a:rPr lang="fr-FR" sz="1000" dirty="0">
                <a:latin typeface="Aptos"/>
                <a:cs typeface="Times New Roman"/>
              </a:rPr>
              <a:t>Produire une maquette numérique de bâtiment à partir des plans</a:t>
            </a:r>
          </a:p>
          <a:p>
            <a:r>
              <a:rPr lang="fr-FR" sz="1000" dirty="0">
                <a:latin typeface="Aptos"/>
                <a:cs typeface="Times New Roman"/>
              </a:rPr>
              <a:t>Attribuer les fonctions aux différents éléments d'un bâtiment</a:t>
            </a:r>
            <a:endParaRPr lang="fr-FR" dirty="0" err="1">
              <a:latin typeface="Calibri" panose="020F0502020204030204"/>
              <a:ea typeface="Calibri" panose="020F0502020204030204"/>
              <a:cs typeface="Calibri" panose="020F0502020204030204"/>
            </a:endParaRPr>
          </a:p>
          <a:p>
            <a:r>
              <a:rPr lang="fr-FR" sz="1000" dirty="0">
                <a:latin typeface="Aptos"/>
                <a:cs typeface="Times New Roman"/>
              </a:rPr>
              <a:t>Identifier les éléments constructifs de base d'un plan</a:t>
            </a:r>
            <a:endParaRPr lang="fr-FR" dirty="0">
              <a:ea typeface="Calibri" panose="020F0502020204030204"/>
              <a:cs typeface="Calibri" panose="020F0502020204030204"/>
            </a:endParaRPr>
          </a:p>
        </p:txBody>
      </p:sp>
      <p:sp>
        <p:nvSpPr>
          <p:cNvPr id="11" name="ZoneTexte 10">
            <a:extLst>
              <a:ext uri="{FF2B5EF4-FFF2-40B4-BE49-F238E27FC236}">
                <a16:creationId xmlns:a16="http://schemas.microsoft.com/office/drawing/2014/main" id="{71D2A9F0-BA91-673E-B7BE-E43D5782CE71}"/>
              </a:ext>
            </a:extLst>
          </p:cNvPr>
          <p:cNvSpPr txBox="1"/>
          <p:nvPr/>
        </p:nvSpPr>
        <p:spPr>
          <a:xfrm>
            <a:off x="2069858" y="6112405"/>
            <a:ext cx="467415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000" dirty="0">
                <a:cs typeface="Segoe UI"/>
              </a:rPr>
              <a:t>​</a:t>
            </a:r>
            <a:r>
              <a:rPr lang="fr-FR" sz="1000" dirty="0">
                <a:latin typeface="Aptos"/>
                <a:cs typeface="Segoe UI"/>
              </a:rPr>
              <a:t>Concevoir en multi matériaux / multi systèmes constructifs (APP  projet tech)​</a:t>
            </a:r>
            <a:endParaRPr lang="fr-FR" sz="1000" dirty="0">
              <a:latin typeface="Calibri"/>
              <a:ea typeface="Calibri"/>
              <a:cs typeface="Calibri"/>
            </a:endParaRPr>
          </a:p>
          <a:p>
            <a:r>
              <a:rPr lang="fr-FR" sz="1000" dirty="0">
                <a:latin typeface="Aptos"/>
                <a:cs typeface="Segoe UI"/>
              </a:rPr>
              <a:t>Dimensionner un bâtiment vis-à-vis du risque sismique (</a:t>
            </a:r>
            <a:r>
              <a:rPr lang="fr-FR" sz="1000" dirty="0" err="1">
                <a:latin typeface="Aptos"/>
                <a:cs typeface="Segoe UI"/>
              </a:rPr>
              <a:t>Réhab</a:t>
            </a:r>
            <a:r>
              <a:rPr lang="fr-FR" sz="1000" dirty="0">
                <a:latin typeface="Aptos"/>
                <a:cs typeface="Segoe UI"/>
              </a:rPr>
              <a:t>)</a:t>
            </a:r>
          </a:p>
          <a:p>
            <a:r>
              <a:rPr lang="fr-FR" sz="1000" dirty="0">
                <a:latin typeface="Aptos"/>
                <a:cs typeface="Segoe UI"/>
              </a:rPr>
              <a:t>​Concevoir une réhabilitation structurelle</a:t>
            </a:r>
          </a:p>
          <a:p>
            <a:r>
              <a:rPr lang="fr-FR" sz="1000" dirty="0">
                <a:latin typeface="Aptos"/>
                <a:cs typeface="Segoe UI"/>
              </a:rPr>
              <a:t>Choisir un système constructif dans un contexte défini (projet tech)</a:t>
            </a:r>
          </a:p>
        </p:txBody>
      </p:sp>
      <p:sp>
        <p:nvSpPr>
          <p:cNvPr id="17" name="ZoneTexte 16">
            <a:extLst>
              <a:ext uri="{FF2B5EF4-FFF2-40B4-BE49-F238E27FC236}">
                <a16:creationId xmlns:a16="http://schemas.microsoft.com/office/drawing/2014/main" id="{4B3CE6F6-0542-B21A-7C9D-8D759A65F89F}"/>
              </a:ext>
            </a:extLst>
          </p:cNvPr>
          <p:cNvSpPr txBox="1"/>
          <p:nvPr/>
        </p:nvSpPr>
        <p:spPr>
          <a:xfrm>
            <a:off x="2063629" y="4854170"/>
            <a:ext cx="468038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000" dirty="0">
                <a:latin typeface="Aptos"/>
                <a:cs typeface="Segoe UI"/>
              </a:rPr>
              <a:t>Modéliser la structure du bâtiment (APP BIM S7, robot)</a:t>
            </a:r>
          </a:p>
          <a:p>
            <a:r>
              <a:rPr lang="fr-FR" sz="1000" dirty="0">
                <a:latin typeface="Aptos"/>
                <a:cs typeface="Segoe UI"/>
              </a:rPr>
              <a:t>Réaliser une descente de charges (APP BIM S7)</a:t>
            </a:r>
            <a:endParaRPr lang="fr-FR" dirty="0">
              <a:ea typeface="Calibri"/>
              <a:cs typeface="Calibri"/>
            </a:endParaRPr>
          </a:p>
          <a:p>
            <a:r>
              <a:rPr lang="en-US" sz="1000" dirty="0" err="1">
                <a:latin typeface="Aptos"/>
                <a:cs typeface="Segoe UI"/>
              </a:rPr>
              <a:t>Choisir</a:t>
            </a:r>
            <a:r>
              <a:rPr lang="en-US" sz="1000" dirty="0">
                <a:latin typeface="Aptos"/>
                <a:cs typeface="Segoe UI"/>
              </a:rPr>
              <a:t> un </a:t>
            </a:r>
            <a:r>
              <a:rPr lang="en-US" sz="1000" dirty="0" err="1">
                <a:latin typeface="Aptos"/>
                <a:cs typeface="Segoe UI"/>
              </a:rPr>
              <a:t>élément</a:t>
            </a:r>
            <a:r>
              <a:rPr lang="en-US" sz="1000" dirty="0">
                <a:latin typeface="Aptos"/>
                <a:cs typeface="Segoe UI"/>
              </a:rPr>
              <a:t> </a:t>
            </a:r>
            <a:r>
              <a:rPr lang="en-US" sz="1000" dirty="0" err="1">
                <a:latin typeface="Aptos"/>
                <a:cs typeface="Segoe UI"/>
              </a:rPr>
              <a:t>structurel</a:t>
            </a:r>
            <a:r>
              <a:rPr lang="en-US" sz="1000" dirty="0">
                <a:latin typeface="Aptos"/>
                <a:cs typeface="Segoe UI"/>
              </a:rPr>
              <a:t> </a:t>
            </a:r>
            <a:r>
              <a:rPr lang="en-US" sz="1000" dirty="0" err="1">
                <a:latin typeface="Aptos"/>
                <a:cs typeface="Segoe UI"/>
              </a:rPr>
              <a:t>en</a:t>
            </a:r>
            <a:r>
              <a:rPr lang="en-US" sz="1000" dirty="0">
                <a:latin typeface="Aptos"/>
                <a:cs typeface="Segoe UI"/>
              </a:rPr>
              <a:t> </a:t>
            </a:r>
            <a:r>
              <a:rPr lang="en-US" sz="1000" dirty="0" err="1">
                <a:latin typeface="Aptos"/>
                <a:cs typeface="Segoe UI"/>
              </a:rPr>
              <a:t>fonction</a:t>
            </a:r>
            <a:r>
              <a:rPr lang="en-US" sz="1000" dirty="0">
                <a:latin typeface="Aptos"/>
                <a:cs typeface="Segoe UI"/>
              </a:rPr>
              <a:t> d'un </a:t>
            </a:r>
            <a:r>
              <a:rPr lang="en-US" sz="1000" dirty="0" err="1">
                <a:latin typeface="Aptos"/>
                <a:cs typeface="Segoe UI"/>
              </a:rPr>
              <a:t>contexte</a:t>
            </a:r>
            <a:r>
              <a:rPr lang="en-US" sz="1000" dirty="0">
                <a:latin typeface="Aptos"/>
                <a:cs typeface="Segoe UI"/>
              </a:rPr>
              <a:t> </a:t>
            </a:r>
            <a:endParaRPr lang="fr-FR" sz="1000" dirty="0">
              <a:latin typeface="Aptos"/>
              <a:cs typeface="Segoe UI"/>
            </a:endParaRPr>
          </a:p>
          <a:p>
            <a:r>
              <a:rPr lang="fr-FR" sz="1000" dirty="0">
                <a:latin typeface="Aptos"/>
                <a:cs typeface="Segoe UI"/>
              </a:rPr>
              <a:t>Dimensionner un bâtiment  (APP S8, ou Projet béton)</a:t>
            </a:r>
          </a:p>
          <a:p>
            <a:r>
              <a:rPr lang="fr-FR" sz="1000" dirty="0">
                <a:latin typeface="Aptos"/>
                <a:cs typeface="Segoe UI"/>
              </a:rPr>
              <a:t>Caractériser des matériaux géo-sourcés (</a:t>
            </a:r>
            <a:r>
              <a:rPr lang="fr-FR" sz="1000" dirty="0" err="1">
                <a:latin typeface="Aptos"/>
                <a:cs typeface="Segoe UI"/>
              </a:rPr>
              <a:t>géotec</a:t>
            </a:r>
            <a:r>
              <a:rPr lang="fr-FR" sz="1000" dirty="0">
                <a:latin typeface="Aptos"/>
                <a:cs typeface="Segoe UI"/>
              </a:rPr>
              <a:t> II, partie non conventionnelle)</a:t>
            </a:r>
            <a:endParaRPr lang="en-US" sz="1000" dirty="0">
              <a:latin typeface="Aptos"/>
              <a:cs typeface="Segoe UI"/>
            </a:endParaRPr>
          </a:p>
        </p:txBody>
      </p:sp>
    </p:spTree>
    <p:extLst>
      <p:ext uri="{BB962C8B-B14F-4D97-AF65-F5344CB8AC3E}">
        <p14:creationId xmlns:p14="http://schemas.microsoft.com/office/powerpoint/2010/main" val="26809251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07C2E-25C5-7103-B26E-F2CF56CBDB9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B39C6AD-AF35-BE97-714E-47D414B85D41}"/>
              </a:ext>
            </a:extLst>
          </p:cNvPr>
          <p:cNvSpPr/>
          <p:nvPr/>
        </p:nvSpPr>
        <p:spPr>
          <a:xfrm>
            <a:off x="115172" y="113568"/>
            <a:ext cx="6640470" cy="319051"/>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800" b="1" cap="all">
                <a:solidFill>
                  <a:schemeClr val="bg1"/>
                </a:solidFill>
                <a:latin typeface="Myriad Pro" panose="020B0503030403020204" pitchFamily="34" charset="0"/>
              </a:rPr>
              <a:t>		 Bâtiment, écoconstruction, énergie 		Polytech XXX</a:t>
            </a:r>
          </a:p>
        </p:txBody>
      </p:sp>
      <p:sp>
        <p:nvSpPr>
          <p:cNvPr id="9" name="Rectangle 8">
            <a:extLst>
              <a:ext uri="{FF2B5EF4-FFF2-40B4-BE49-F238E27FC236}">
                <a16:creationId xmlns:a16="http://schemas.microsoft.com/office/drawing/2014/main" id="{3FD9CD12-2037-DE8F-6A9E-95825825CA7C}"/>
              </a:ext>
            </a:extLst>
          </p:cNvPr>
          <p:cNvSpPr/>
          <p:nvPr/>
        </p:nvSpPr>
        <p:spPr>
          <a:xfrm>
            <a:off x="2066564" y="1980480"/>
            <a:ext cx="4689078" cy="1103683"/>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fr-FR" sz="900">
              <a:solidFill>
                <a:schemeClr val="tx1"/>
              </a:solidFill>
              <a:latin typeface="Myriad Pro" panose="020B0503030403020204" pitchFamily="34" charset="0"/>
            </a:endParaRPr>
          </a:p>
        </p:txBody>
      </p:sp>
      <p:sp>
        <p:nvSpPr>
          <p:cNvPr id="12" name="ZoneTexte 11">
            <a:extLst>
              <a:ext uri="{FF2B5EF4-FFF2-40B4-BE49-F238E27FC236}">
                <a16:creationId xmlns:a16="http://schemas.microsoft.com/office/drawing/2014/main" id="{EA0BF5BA-02F0-CAEF-B55D-D10743D07B41}"/>
              </a:ext>
            </a:extLst>
          </p:cNvPr>
          <p:cNvSpPr txBox="1"/>
          <p:nvPr/>
        </p:nvSpPr>
        <p:spPr>
          <a:xfrm>
            <a:off x="115171" y="1980480"/>
            <a:ext cx="1880643" cy="253916"/>
          </a:xfrm>
          <a:prstGeom prst="rect">
            <a:avLst/>
          </a:prstGeom>
          <a:noFill/>
        </p:spPr>
        <p:txBody>
          <a:bodyPr wrap="none" rtlCol="0">
            <a:spAutoFit/>
          </a:bodyPr>
          <a:lstStyle/>
          <a:p>
            <a:r>
              <a:rPr lang="fr-FR" sz="1050" b="1">
                <a:latin typeface="Myriad Pro" panose="020B0503030403020204" pitchFamily="34" charset="0"/>
              </a:rPr>
              <a:t>Situations professionnelles</a:t>
            </a:r>
          </a:p>
        </p:txBody>
      </p:sp>
      <p:sp>
        <p:nvSpPr>
          <p:cNvPr id="27" name="Rectangle 26">
            <a:extLst>
              <a:ext uri="{FF2B5EF4-FFF2-40B4-BE49-F238E27FC236}">
                <a16:creationId xmlns:a16="http://schemas.microsoft.com/office/drawing/2014/main" id="{AB8DDAEA-5EAB-8B33-030A-71CEA82ABC09}"/>
              </a:ext>
            </a:extLst>
          </p:cNvPr>
          <p:cNvSpPr/>
          <p:nvPr/>
        </p:nvSpPr>
        <p:spPr>
          <a:xfrm>
            <a:off x="2066564" y="3709551"/>
            <a:ext cx="4689078" cy="1078725"/>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fr-FR" sz="900">
              <a:solidFill>
                <a:schemeClr val="tx1"/>
              </a:solidFill>
              <a:latin typeface="Myriad Pro" panose="020B0503030403020204" pitchFamily="34" charset="0"/>
            </a:endParaRPr>
          </a:p>
        </p:txBody>
      </p:sp>
      <p:sp>
        <p:nvSpPr>
          <p:cNvPr id="28" name="Rectangle 27">
            <a:extLst>
              <a:ext uri="{FF2B5EF4-FFF2-40B4-BE49-F238E27FC236}">
                <a16:creationId xmlns:a16="http://schemas.microsoft.com/office/drawing/2014/main" id="{CDB6D710-E0A0-E469-2EC9-0C7D72E6CC9D}"/>
              </a:ext>
            </a:extLst>
          </p:cNvPr>
          <p:cNvSpPr/>
          <p:nvPr/>
        </p:nvSpPr>
        <p:spPr>
          <a:xfrm>
            <a:off x="2066564" y="4843696"/>
            <a:ext cx="4689078" cy="1207691"/>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fr-FR" sz="900">
              <a:solidFill>
                <a:schemeClr val="tx1"/>
              </a:solidFill>
              <a:latin typeface="Myriad Pro" panose="020B0503030403020204" pitchFamily="34" charset="0"/>
            </a:endParaRPr>
          </a:p>
        </p:txBody>
      </p:sp>
      <p:sp>
        <p:nvSpPr>
          <p:cNvPr id="29" name="Rectangle 28">
            <a:extLst>
              <a:ext uri="{FF2B5EF4-FFF2-40B4-BE49-F238E27FC236}">
                <a16:creationId xmlns:a16="http://schemas.microsoft.com/office/drawing/2014/main" id="{5471F8F7-3B12-EC8D-4424-D149104818B2}"/>
              </a:ext>
            </a:extLst>
          </p:cNvPr>
          <p:cNvSpPr/>
          <p:nvPr/>
        </p:nvSpPr>
        <p:spPr>
          <a:xfrm>
            <a:off x="2066564" y="6079265"/>
            <a:ext cx="4689078" cy="1441799"/>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fr-FR" sz="900">
              <a:solidFill>
                <a:schemeClr val="tx1"/>
              </a:solidFill>
              <a:latin typeface="Myriad Pro" panose="020B0503030403020204" pitchFamily="34" charset="0"/>
            </a:endParaRPr>
          </a:p>
        </p:txBody>
      </p:sp>
      <p:grpSp>
        <p:nvGrpSpPr>
          <p:cNvPr id="6" name="Groupe 5">
            <a:extLst>
              <a:ext uri="{FF2B5EF4-FFF2-40B4-BE49-F238E27FC236}">
                <a16:creationId xmlns:a16="http://schemas.microsoft.com/office/drawing/2014/main" id="{2BA9DC19-8C43-2F07-D6C3-D9FBD553DB6B}"/>
              </a:ext>
            </a:extLst>
          </p:cNvPr>
          <p:cNvGrpSpPr/>
          <p:nvPr/>
        </p:nvGrpSpPr>
        <p:grpSpPr>
          <a:xfrm>
            <a:off x="115171" y="3709551"/>
            <a:ext cx="1850572" cy="3955093"/>
            <a:chOff x="2638730" y="3612188"/>
            <a:chExt cx="1850572" cy="3955093"/>
          </a:xfrm>
        </p:grpSpPr>
        <p:sp>
          <p:nvSpPr>
            <p:cNvPr id="8" name="Chevron 7">
              <a:extLst>
                <a:ext uri="{FF2B5EF4-FFF2-40B4-BE49-F238E27FC236}">
                  <a16:creationId xmlns:a16="http://schemas.microsoft.com/office/drawing/2014/main" id="{77AB3678-109B-F125-2779-B4B152E962B3}"/>
                </a:ext>
              </a:extLst>
            </p:cNvPr>
            <p:cNvSpPr/>
            <p:nvPr/>
          </p:nvSpPr>
          <p:spPr>
            <a:xfrm rot="5400000">
              <a:off x="2788216" y="4596848"/>
              <a:ext cx="1551600" cy="1850571"/>
            </a:xfrm>
            <a:prstGeom prst="chevron">
              <a:avLst>
                <a:gd name="adj" fmla="val 21677"/>
              </a:avLst>
            </a:prstGeom>
            <a:solidFill>
              <a:schemeClr val="accent4">
                <a:lumMod val="40000"/>
                <a:lumOff val="6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0" name="Chevron 9">
              <a:extLst>
                <a:ext uri="{FF2B5EF4-FFF2-40B4-BE49-F238E27FC236}">
                  <a16:creationId xmlns:a16="http://schemas.microsoft.com/office/drawing/2014/main" id="{C545B399-7E15-DA81-2411-FD1AF0EFFFCD}"/>
                </a:ext>
              </a:extLst>
            </p:cNvPr>
            <p:cNvSpPr/>
            <p:nvPr/>
          </p:nvSpPr>
          <p:spPr>
            <a:xfrm rot="5400000">
              <a:off x="2788216" y="5866195"/>
              <a:ext cx="1551600" cy="1850571"/>
            </a:xfrm>
            <a:prstGeom prst="chevron">
              <a:avLst>
                <a:gd name="adj" fmla="val 21677"/>
              </a:avLst>
            </a:prstGeom>
            <a:solidFill>
              <a:schemeClr val="accent4">
                <a:lumMod val="60000"/>
                <a:lumOff val="4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3" name="Signalisation droite 12">
              <a:extLst>
                <a:ext uri="{FF2B5EF4-FFF2-40B4-BE49-F238E27FC236}">
                  <a16:creationId xmlns:a16="http://schemas.microsoft.com/office/drawing/2014/main" id="{869B42AE-192E-30A2-CA01-FAE5B6ED176C}"/>
                </a:ext>
              </a:extLst>
            </p:cNvPr>
            <p:cNvSpPr/>
            <p:nvPr/>
          </p:nvSpPr>
          <p:spPr>
            <a:xfrm rot="5400000">
              <a:off x="2855409" y="3395510"/>
              <a:ext cx="1417215" cy="1850571"/>
            </a:xfrm>
            <a:prstGeom prst="homePlate">
              <a:avLst>
                <a:gd name="adj" fmla="val 23531"/>
              </a:avLst>
            </a:prstGeom>
            <a:solidFill>
              <a:schemeClr val="accent4">
                <a:lumMod val="20000"/>
                <a:lumOff val="8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200">
                <a:latin typeface="Myriad Pro" panose="020B0503030403020204" pitchFamily="34" charset="0"/>
              </a:endParaRPr>
            </a:p>
          </p:txBody>
        </p:sp>
      </p:grpSp>
      <p:sp>
        <p:nvSpPr>
          <p:cNvPr id="14" name="ZoneTexte 13">
            <a:extLst>
              <a:ext uri="{FF2B5EF4-FFF2-40B4-BE49-F238E27FC236}">
                <a16:creationId xmlns:a16="http://schemas.microsoft.com/office/drawing/2014/main" id="{A9010F20-576C-4615-CAFD-D7C2E038ABC5}"/>
              </a:ext>
            </a:extLst>
          </p:cNvPr>
          <p:cNvSpPr txBox="1"/>
          <p:nvPr/>
        </p:nvSpPr>
        <p:spPr>
          <a:xfrm>
            <a:off x="115171" y="3692721"/>
            <a:ext cx="1850572" cy="646331"/>
          </a:xfrm>
          <a:prstGeom prst="rect">
            <a:avLst/>
          </a:prstGeom>
          <a:noFill/>
        </p:spPr>
        <p:txBody>
          <a:bodyPr wrap="square" lIns="91440" tIns="45720" rIns="91440" bIns="45720" rtlCol="0" anchor="t">
            <a:spAutoFit/>
          </a:bodyPr>
          <a:lstStyle/>
          <a:p>
            <a:pPr algn="ctr"/>
            <a:r>
              <a:rPr lang="fr-FR" sz="1200" b="1" dirty="0">
                <a:latin typeface="Myriad Pro"/>
              </a:rPr>
              <a:t>Niveau 1</a:t>
            </a:r>
          </a:p>
          <a:p>
            <a:pPr algn="ctr"/>
            <a:r>
              <a:rPr lang="fr-FR" sz="1200" dirty="0">
                <a:latin typeface="Myriad Pro"/>
              </a:rPr>
              <a:t>Évaluation</a:t>
            </a:r>
          </a:p>
          <a:p>
            <a:pPr algn="ctr"/>
            <a:endParaRPr lang="fr-FR" sz="1200">
              <a:latin typeface="Myriad Pro" panose="020B0503030403020204" pitchFamily="34" charset="0"/>
            </a:endParaRPr>
          </a:p>
        </p:txBody>
      </p:sp>
      <p:sp>
        <p:nvSpPr>
          <p:cNvPr id="15" name="ZoneTexte 14">
            <a:extLst>
              <a:ext uri="{FF2B5EF4-FFF2-40B4-BE49-F238E27FC236}">
                <a16:creationId xmlns:a16="http://schemas.microsoft.com/office/drawing/2014/main" id="{E92A6767-BEC8-73FB-0CBD-5BC233E484A5}"/>
              </a:ext>
            </a:extLst>
          </p:cNvPr>
          <p:cNvSpPr txBox="1"/>
          <p:nvPr/>
        </p:nvSpPr>
        <p:spPr>
          <a:xfrm>
            <a:off x="115171" y="5153040"/>
            <a:ext cx="1850572" cy="461665"/>
          </a:xfrm>
          <a:prstGeom prst="rect">
            <a:avLst/>
          </a:prstGeom>
          <a:noFill/>
        </p:spPr>
        <p:txBody>
          <a:bodyPr wrap="square" lIns="91440" tIns="45720" rIns="91440" bIns="45720" rtlCol="0" anchor="t">
            <a:spAutoFit/>
          </a:bodyPr>
          <a:lstStyle/>
          <a:p>
            <a:pPr algn="ctr"/>
            <a:r>
              <a:rPr lang="fr-FR" sz="1200" b="1" dirty="0">
                <a:latin typeface="Myriad Pro"/>
              </a:rPr>
              <a:t>Niveau 2</a:t>
            </a:r>
          </a:p>
          <a:p>
            <a:pPr algn="ctr"/>
            <a:r>
              <a:rPr lang="fr-FR" sz="1200" dirty="0">
                <a:latin typeface="Calibri"/>
                <a:ea typeface="Calibri"/>
                <a:cs typeface="Calibri"/>
              </a:rPr>
              <a:t>Conception</a:t>
            </a:r>
            <a:endParaRPr lang="fr-FR" dirty="0"/>
          </a:p>
        </p:txBody>
      </p:sp>
      <p:sp>
        <p:nvSpPr>
          <p:cNvPr id="16" name="ZoneTexte 15">
            <a:extLst>
              <a:ext uri="{FF2B5EF4-FFF2-40B4-BE49-F238E27FC236}">
                <a16:creationId xmlns:a16="http://schemas.microsoft.com/office/drawing/2014/main" id="{5A8468A6-FBAF-9CD0-C2AD-314A992AC17A}"/>
              </a:ext>
            </a:extLst>
          </p:cNvPr>
          <p:cNvSpPr txBox="1"/>
          <p:nvPr/>
        </p:nvSpPr>
        <p:spPr>
          <a:xfrm>
            <a:off x="102358" y="6429491"/>
            <a:ext cx="1850572" cy="1015663"/>
          </a:xfrm>
          <a:prstGeom prst="rect">
            <a:avLst/>
          </a:prstGeom>
          <a:noFill/>
        </p:spPr>
        <p:txBody>
          <a:bodyPr wrap="square" lIns="91440" tIns="45720" rIns="91440" bIns="45720" rtlCol="0" anchor="t">
            <a:spAutoFit/>
          </a:bodyPr>
          <a:lstStyle/>
          <a:p>
            <a:pPr algn="ctr"/>
            <a:r>
              <a:rPr lang="fr-FR" sz="1200" b="1" dirty="0">
                <a:latin typeface="Myriad Pro"/>
              </a:rPr>
              <a:t>Niveau 3</a:t>
            </a:r>
          </a:p>
          <a:p>
            <a:pPr algn="ctr"/>
            <a:r>
              <a:rPr lang="fr-FR" sz="1200" dirty="0">
                <a:ea typeface="+mn-lt"/>
                <a:cs typeface="+mn-lt"/>
              </a:rPr>
              <a:t>Amélioration et intégration</a:t>
            </a:r>
          </a:p>
          <a:p>
            <a:pPr algn="ctr"/>
            <a:endParaRPr lang="fr-FR" sz="1200" dirty="0">
              <a:ea typeface="+mn-lt"/>
              <a:cs typeface="+mn-lt"/>
            </a:endParaRPr>
          </a:p>
          <a:p>
            <a:pPr algn="ctr"/>
            <a:endParaRPr lang="fr-FR" sz="1200" dirty="0">
              <a:latin typeface="Myriad Pro" panose="020B0503030403020204" pitchFamily="34" charset="0"/>
            </a:endParaRPr>
          </a:p>
        </p:txBody>
      </p:sp>
      <p:sp>
        <p:nvSpPr>
          <p:cNvPr id="3" name="ZoneTexte 2">
            <a:extLst>
              <a:ext uri="{FF2B5EF4-FFF2-40B4-BE49-F238E27FC236}">
                <a16:creationId xmlns:a16="http://schemas.microsoft.com/office/drawing/2014/main" id="{C05BC66E-038E-6729-98EE-570916A290C1}"/>
              </a:ext>
            </a:extLst>
          </p:cNvPr>
          <p:cNvSpPr txBox="1"/>
          <p:nvPr/>
        </p:nvSpPr>
        <p:spPr>
          <a:xfrm>
            <a:off x="1965743" y="3384089"/>
            <a:ext cx="3657506" cy="338554"/>
          </a:xfrm>
          <a:prstGeom prst="rect">
            <a:avLst/>
          </a:prstGeom>
          <a:noFill/>
        </p:spPr>
        <p:txBody>
          <a:bodyPr wrap="square">
            <a:spAutoFit/>
          </a:bodyPr>
          <a:lstStyle/>
          <a:p>
            <a:pPr lvl="0"/>
            <a:r>
              <a:rPr lang="fr-FR" sz="1600" b="1" i="1"/>
              <a:t>Apprentissages critiques</a:t>
            </a:r>
          </a:p>
        </p:txBody>
      </p:sp>
      <p:sp>
        <p:nvSpPr>
          <p:cNvPr id="2" name="Rectangle 1">
            <a:extLst>
              <a:ext uri="{FF2B5EF4-FFF2-40B4-BE49-F238E27FC236}">
                <a16:creationId xmlns:a16="http://schemas.microsoft.com/office/drawing/2014/main" id="{120BE6C5-C445-D8AB-4C49-F06327F3D35A}"/>
              </a:ext>
            </a:extLst>
          </p:cNvPr>
          <p:cNvSpPr/>
          <p:nvPr/>
        </p:nvSpPr>
        <p:spPr>
          <a:xfrm>
            <a:off x="115172" y="561160"/>
            <a:ext cx="1850571" cy="1328057"/>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spcAft>
                <a:spcPts val="600"/>
              </a:spcAft>
            </a:pPr>
            <a:r>
              <a:rPr lang="fr-FR" sz="1200" b="1" cap="all">
                <a:latin typeface="Myriad Pro"/>
              </a:rPr>
              <a:t>Garantir la performance</a:t>
            </a:r>
          </a:p>
        </p:txBody>
      </p:sp>
      <p:sp>
        <p:nvSpPr>
          <p:cNvPr id="7" name="Rectangle 6">
            <a:extLst>
              <a:ext uri="{FF2B5EF4-FFF2-40B4-BE49-F238E27FC236}">
                <a16:creationId xmlns:a16="http://schemas.microsoft.com/office/drawing/2014/main" id="{C7304A67-8B2E-B3E3-31CF-722C5F9D66A3}"/>
              </a:ext>
            </a:extLst>
          </p:cNvPr>
          <p:cNvSpPr/>
          <p:nvPr/>
        </p:nvSpPr>
        <p:spPr>
          <a:xfrm>
            <a:off x="2066564" y="542522"/>
            <a:ext cx="4689078" cy="1328058"/>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r>
              <a:rPr lang="fr-FR" sz="1200">
                <a:solidFill>
                  <a:schemeClr val="tx1"/>
                </a:solidFill>
                <a:latin typeface="Myriad Pro"/>
              </a:rPr>
              <a:t>Composantes essentielles</a:t>
            </a:r>
          </a:p>
          <a:p>
            <a:pPr marL="171450" indent="-171450">
              <a:buFontTx/>
              <a:buChar char="…"/>
            </a:pPr>
            <a:r>
              <a:rPr lang="fr-FR" sz="900">
                <a:solidFill>
                  <a:schemeClr val="tx1"/>
                </a:solidFill>
              </a:rPr>
              <a:t>En prenant en compte les contraintes existantes (techniques, économiques, environnementales)</a:t>
            </a:r>
            <a:endParaRPr lang="fr-FR" sz="900">
              <a:solidFill>
                <a:schemeClr val="tx1"/>
              </a:solidFill>
              <a:ea typeface="Calibri"/>
              <a:cs typeface="Calibri"/>
            </a:endParaRPr>
          </a:p>
          <a:p>
            <a:pPr marR="0" lvl="0" algn="l" defTabSz="685800" eaLnBrk="1" fontAlgn="auto" latinLnBrk="0" hangingPunct="1">
              <a:lnSpc>
                <a:spcPct val="100000"/>
              </a:lnSpc>
              <a:spcBef>
                <a:spcPts val="0"/>
              </a:spcBef>
              <a:spcAft>
                <a:spcPts val="0"/>
              </a:spcAft>
              <a:buClrTx/>
              <a:buSzTx/>
              <a:tabLst/>
              <a:defRPr/>
            </a:pPr>
            <a:r>
              <a:rPr lang="fr-FR" sz="900">
                <a:solidFill>
                  <a:schemeClr val="tx1"/>
                </a:solidFill>
              </a:rPr>
              <a:t>…   </a:t>
            </a:r>
            <a:r>
              <a:rPr lang="fr-FR" sz="900" i="1">
                <a:solidFill>
                  <a:schemeClr val="tx1"/>
                </a:solidFill>
                <a:latin typeface="+mn-lt"/>
              </a:rPr>
              <a:t>En collaborant efficacement dans un processus multi-acteurs</a:t>
            </a:r>
            <a:endParaRPr lang="fr-FR" sz="900" i="1">
              <a:solidFill>
                <a:schemeClr val="tx1"/>
              </a:solidFill>
              <a:latin typeface="+mn-lt"/>
              <a:ea typeface="Calibri"/>
              <a:cs typeface="Calibri"/>
            </a:endParaRPr>
          </a:p>
          <a:p>
            <a:pPr marL="171450" indent="-171450">
              <a:buFontTx/>
              <a:buChar char="…"/>
            </a:pPr>
            <a:r>
              <a:rPr lang="fr-FR" sz="900">
                <a:solidFill>
                  <a:schemeClr val="tx1"/>
                </a:solidFill>
              </a:rPr>
              <a:t>En sélectionnant la source énergétique et les systèmes appropriés de manière argumentée;</a:t>
            </a:r>
            <a:endParaRPr lang="fr-FR" sz="900">
              <a:solidFill>
                <a:schemeClr val="tx1"/>
              </a:solidFill>
              <a:ea typeface="Calibri"/>
              <a:cs typeface="Calibri"/>
            </a:endParaRPr>
          </a:p>
          <a:p>
            <a:pPr marL="171450" indent="-171450">
              <a:buFontTx/>
              <a:buChar char="…"/>
            </a:pPr>
            <a:r>
              <a:rPr lang="fr-FR" sz="900">
                <a:solidFill>
                  <a:schemeClr val="tx1"/>
                </a:solidFill>
              </a:rPr>
              <a:t>En utilisant de manière pertinente</a:t>
            </a:r>
            <a:r>
              <a:rPr lang="fr-FR" sz="900" i="1">
                <a:solidFill>
                  <a:schemeClr val="tx1"/>
                </a:solidFill>
              </a:rPr>
              <a:t> les méthodes et les outils de calculs énergétiques du bâtiment et de ses équipements </a:t>
            </a:r>
            <a:r>
              <a:rPr lang="fr-FR" sz="900">
                <a:solidFill>
                  <a:schemeClr val="tx1"/>
                </a:solidFill>
              </a:rPr>
              <a:t>;</a:t>
            </a:r>
            <a:endParaRPr lang="fr-FR" sz="900">
              <a:solidFill>
                <a:schemeClr val="tx1"/>
              </a:solidFill>
              <a:ea typeface="Calibri"/>
              <a:cs typeface="Calibri"/>
            </a:endParaRPr>
          </a:p>
          <a:p>
            <a:pPr marL="171450" indent="-171450">
              <a:buFontTx/>
              <a:buChar char="…"/>
            </a:pPr>
            <a:r>
              <a:rPr lang="fr-FR" sz="900" i="1">
                <a:solidFill>
                  <a:schemeClr val="tx1"/>
                </a:solidFill>
              </a:rPr>
              <a:t>En respectant les normes et les réglementations spécifiques à la construction</a:t>
            </a:r>
            <a:endParaRPr lang="fr-FR" sz="900" i="1">
              <a:solidFill>
                <a:schemeClr val="tx1"/>
              </a:solidFill>
              <a:ea typeface="Calibri"/>
              <a:cs typeface="Calibri"/>
            </a:endParaRPr>
          </a:p>
        </p:txBody>
      </p:sp>
      <p:sp>
        <p:nvSpPr>
          <p:cNvPr id="5" name="ZoneTexte 4">
            <a:extLst>
              <a:ext uri="{FF2B5EF4-FFF2-40B4-BE49-F238E27FC236}">
                <a16:creationId xmlns:a16="http://schemas.microsoft.com/office/drawing/2014/main" id="{FE936070-1F6E-84E2-F31C-DC78B6DF78CB}"/>
              </a:ext>
            </a:extLst>
          </p:cNvPr>
          <p:cNvSpPr txBox="1"/>
          <p:nvPr/>
        </p:nvSpPr>
        <p:spPr>
          <a:xfrm>
            <a:off x="2071171" y="3709930"/>
            <a:ext cx="4671151"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100">
                <a:ea typeface="Calibri"/>
                <a:cs typeface="Calibri"/>
              </a:rPr>
              <a:t>Représenter les écoulements des fluides (pertes de charges, Bernoulli)</a:t>
            </a:r>
            <a:endParaRPr lang="fr-FR" sz="1100"/>
          </a:p>
          <a:p>
            <a:r>
              <a:rPr lang="fr-FR" sz="1100"/>
              <a:t>Représenter un bâtiment avec un logiciel DAO</a:t>
            </a:r>
            <a:endParaRPr lang="fr-FR" sz="1100">
              <a:ea typeface="Calibri"/>
              <a:cs typeface="Calibri"/>
            </a:endParaRPr>
          </a:p>
          <a:p>
            <a:r>
              <a:rPr lang="fr-FR" sz="1100">
                <a:solidFill>
                  <a:srgbClr val="242424"/>
                </a:solidFill>
                <a:latin typeface="Calibri"/>
                <a:ea typeface="Calibri"/>
                <a:cs typeface="Calibri"/>
              </a:rPr>
              <a:t>Réaliser un bilan (énergétique, masse …)</a:t>
            </a:r>
          </a:p>
          <a:p>
            <a:r>
              <a:rPr lang="fr-FR" sz="1100">
                <a:solidFill>
                  <a:srgbClr val="242424"/>
                </a:solidFill>
                <a:latin typeface="Calibri"/>
                <a:ea typeface="Calibri"/>
                <a:cs typeface="Calibri"/>
              </a:rPr>
              <a:t>Evaluer les besoins (énergétiques, acoustiques, éclairage, maintenance  …)</a:t>
            </a:r>
          </a:p>
          <a:p>
            <a:r>
              <a:rPr lang="fr-FR" sz="1000">
                <a:solidFill>
                  <a:srgbClr val="000000"/>
                </a:solidFill>
                <a:ea typeface="Calibri"/>
                <a:cs typeface="Calibri"/>
              </a:rPr>
              <a:t>Comparer des dispositifs d'un point de vue performances et d'un point de vue fonctions</a:t>
            </a:r>
          </a:p>
        </p:txBody>
      </p:sp>
      <p:sp>
        <p:nvSpPr>
          <p:cNvPr id="11" name="ZoneTexte 10">
            <a:extLst>
              <a:ext uri="{FF2B5EF4-FFF2-40B4-BE49-F238E27FC236}">
                <a16:creationId xmlns:a16="http://schemas.microsoft.com/office/drawing/2014/main" id="{7A6F8113-951B-4E60-85A3-E9DE825E8DF1}"/>
              </a:ext>
            </a:extLst>
          </p:cNvPr>
          <p:cNvSpPr txBox="1"/>
          <p:nvPr/>
        </p:nvSpPr>
        <p:spPr>
          <a:xfrm>
            <a:off x="2071171" y="4839159"/>
            <a:ext cx="4684922"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000" dirty="0">
                <a:latin typeface="Calibri"/>
                <a:ea typeface="Calibri"/>
                <a:cs typeface="Calibri"/>
              </a:rPr>
              <a:t>Concevoir l'enveloppe (THB, humidité, étanchéité, STD) en vue d'une bonne gestion thermique / énergétique du bâtiment</a:t>
            </a:r>
            <a:endParaRPr lang="fr-FR" dirty="0">
              <a:ea typeface="Calibri"/>
              <a:cs typeface="Calibri"/>
            </a:endParaRPr>
          </a:p>
          <a:p>
            <a:r>
              <a:rPr lang="fr-FR" sz="1000" dirty="0">
                <a:latin typeface="Calibri"/>
                <a:ea typeface="Calibri"/>
                <a:cs typeface="Calibri"/>
              </a:rPr>
              <a:t>Rendre un bâtiment conforme aux règlementations en vigueur (RE2020 énergie, code du travail, …)</a:t>
            </a:r>
          </a:p>
          <a:p>
            <a:r>
              <a:rPr lang="fr-FR" sz="1000" dirty="0">
                <a:latin typeface="Calibri"/>
                <a:ea typeface="Calibri"/>
                <a:cs typeface="Calibri"/>
              </a:rPr>
              <a:t>Concevoir les réseaux de CVC</a:t>
            </a:r>
          </a:p>
          <a:p>
            <a:r>
              <a:rPr lang="fr-FR" sz="1000" dirty="0">
                <a:latin typeface="Calibri"/>
                <a:ea typeface="Calibri"/>
                <a:cs typeface="Calibri"/>
              </a:rPr>
              <a:t>Améliorer la qualité des ambiances (confort d’été, acoustique, éclairage)</a:t>
            </a:r>
          </a:p>
        </p:txBody>
      </p:sp>
      <p:sp>
        <p:nvSpPr>
          <p:cNvPr id="17" name="ZoneTexte 16">
            <a:extLst>
              <a:ext uri="{FF2B5EF4-FFF2-40B4-BE49-F238E27FC236}">
                <a16:creationId xmlns:a16="http://schemas.microsoft.com/office/drawing/2014/main" id="{5C975040-760A-249A-EC74-CAD15C1A0F95}"/>
              </a:ext>
            </a:extLst>
          </p:cNvPr>
          <p:cNvSpPr txBox="1"/>
          <p:nvPr/>
        </p:nvSpPr>
        <p:spPr>
          <a:xfrm>
            <a:off x="2071171" y="6064786"/>
            <a:ext cx="4657380"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100" dirty="0">
                <a:solidFill>
                  <a:srgbClr val="242424"/>
                </a:solidFill>
                <a:latin typeface="Aptos Narrow"/>
                <a:ea typeface="Calibri"/>
                <a:cs typeface="Calibri"/>
              </a:rPr>
              <a:t>Evaluer le potentiel d’intégration des </a:t>
            </a:r>
            <a:r>
              <a:rPr lang="fr-FR" sz="1100" dirty="0" err="1">
                <a:solidFill>
                  <a:srgbClr val="242424"/>
                </a:solidFill>
                <a:latin typeface="Aptos Narrow"/>
                <a:ea typeface="Calibri"/>
                <a:cs typeface="Calibri"/>
              </a:rPr>
              <a:t>EnR</a:t>
            </a:r>
            <a:endParaRPr lang="fr-FR" sz="1100">
              <a:solidFill>
                <a:srgbClr val="242424"/>
              </a:solidFill>
              <a:latin typeface="Aptos Narrow"/>
              <a:ea typeface="Calibri"/>
              <a:cs typeface="Calibri"/>
            </a:endParaRPr>
          </a:p>
          <a:p>
            <a:r>
              <a:rPr lang="fr-FR" sz="1100" dirty="0">
                <a:solidFill>
                  <a:srgbClr val="242424"/>
                </a:solidFill>
                <a:latin typeface="Aptos Narrow"/>
                <a:ea typeface="Calibri"/>
                <a:cs typeface="Calibri"/>
              </a:rPr>
              <a:t>Dimensionner les systèmes énergétiques (installations solaires photovoltaïques, couplage réseau, autoconsommation)</a:t>
            </a:r>
            <a:endParaRPr lang="fr-FR">
              <a:ea typeface="Calibri" panose="020F0502020204030204"/>
              <a:cs typeface="Calibri" panose="020F0502020204030204"/>
            </a:endParaRPr>
          </a:p>
          <a:p>
            <a:r>
              <a:rPr lang="fr-FR" sz="1100" dirty="0">
                <a:solidFill>
                  <a:srgbClr val="242424"/>
                </a:solidFill>
                <a:latin typeface="Aptos Narrow"/>
                <a:ea typeface="Calibri"/>
                <a:cs typeface="Calibri"/>
              </a:rPr>
              <a:t>Réaliser un audit</a:t>
            </a:r>
          </a:p>
          <a:p>
            <a:r>
              <a:rPr lang="fr-FR" sz="1100" dirty="0">
                <a:solidFill>
                  <a:srgbClr val="242424"/>
                </a:solidFill>
                <a:latin typeface="Aptos Narrow"/>
              </a:rPr>
              <a:t>Rédiger une note technique</a:t>
            </a:r>
          </a:p>
          <a:p>
            <a:endParaRPr lang="fr-FR" sz="1100">
              <a:solidFill>
                <a:srgbClr val="242424"/>
              </a:solidFill>
              <a:latin typeface="Aptos Narrow"/>
            </a:endParaRPr>
          </a:p>
        </p:txBody>
      </p:sp>
    </p:spTree>
    <p:extLst>
      <p:ext uri="{BB962C8B-B14F-4D97-AF65-F5344CB8AC3E}">
        <p14:creationId xmlns:p14="http://schemas.microsoft.com/office/powerpoint/2010/main" val="2481894725"/>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07C2E-25C5-7103-B26E-F2CF56CBDB9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B39C6AD-AF35-BE97-714E-47D414B85D41}"/>
              </a:ext>
            </a:extLst>
          </p:cNvPr>
          <p:cNvSpPr/>
          <p:nvPr/>
        </p:nvSpPr>
        <p:spPr>
          <a:xfrm>
            <a:off x="115172" y="113568"/>
            <a:ext cx="6640470" cy="319051"/>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800" b="1" cap="all">
                <a:solidFill>
                  <a:schemeClr val="bg1"/>
                </a:solidFill>
                <a:latin typeface="Myriad Pro" panose="020B0503030403020204" pitchFamily="34" charset="0"/>
              </a:rPr>
              <a:t>		 Bâtiment, écoconstruction, énergie 		Polytech XXX</a:t>
            </a:r>
          </a:p>
        </p:txBody>
      </p:sp>
      <p:sp>
        <p:nvSpPr>
          <p:cNvPr id="9" name="Rectangle 8">
            <a:extLst>
              <a:ext uri="{FF2B5EF4-FFF2-40B4-BE49-F238E27FC236}">
                <a16:creationId xmlns:a16="http://schemas.microsoft.com/office/drawing/2014/main" id="{3FD9CD12-2037-DE8F-6A9E-95825825CA7C}"/>
              </a:ext>
            </a:extLst>
          </p:cNvPr>
          <p:cNvSpPr/>
          <p:nvPr/>
        </p:nvSpPr>
        <p:spPr>
          <a:xfrm>
            <a:off x="2066564" y="1980480"/>
            <a:ext cx="4689078" cy="1103683"/>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r>
              <a:rPr lang="fr-FR" sz="900">
                <a:solidFill>
                  <a:schemeClr val="tx1"/>
                </a:solidFill>
                <a:latin typeface="Myriad Pro"/>
              </a:rPr>
              <a:t>Conducteur de travaux</a:t>
            </a:r>
            <a:endParaRPr lang="fr-FR" sz="900">
              <a:solidFill>
                <a:schemeClr val="tx1"/>
              </a:solidFill>
              <a:latin typeface="Myriad Pro" panose="020B0503030403020204" pitchFamily="34" charset="0"/>
            </a:endParaRPr>
          </a:p>
          <a:p>
            <a:r>
              <a:rPr lang="fr-FR" sz="900">
                <a:solidFill>
                  <a:schemeClr val="tx1"/>
                </a:solidFill>
                <a:latin typeface="Myriad Pro"/>
              </a:rPr>
              <a:t>Assistance à maitrise d'ouvrage</a:t>
            </a:r>
            <a:endParaRPr lang="fr-FR" sz="900">
              <a:solidFill>
                <a:schemeClr val="tx1"/>
              </a:solidFill>
              <a:latin typeface="Myriad Pro" panose="020B0503030403020204" pitchFamily="34" charset="0"/>
            </a:endParaRPr>
          </a:p>
          <a:p>
            <a:r>
              <a:rPr lang="fr-FR" sz="900">
                <a:solidFill>
                  <a:schemeClr val="tx1"/>
                </a:solidFill>
                <a:latin typeface="Myriad Pro"/>
              </a:rPr>
              <a:t>OPC</a:t>
            </a:r>
          </a:p>
          <a:p>
            <a:r>
              <a:rPr lang="fr-FR" sz="900">
                <a:solidFill>
                  <a:schemeClr val="tx1"/>
                </a:solidFill>
                <a:latin typeface="Myriad Pro"/>
              </a:rPr>
              <a:t>BE</a:t>
            </a:r>
            <a:endParaRPr lang="fr-FR" sz="900">
              <a:solidFill>
                <a:schemeClr val="tx1"/>
              </a:solidFill>
              <a:latin typeface="Myriad Pro" panose="020B0503030403020204" pitchFamily="34" charset="0"/>
            </a:endParaRPr>
          </a:p>
          <a:p>
            <a:r>
              <a:rPr lang="fr-FR" sz="900">
                <a:solidFill>
                  <a:schemeClr val="tx1"/>
                </a:solidFill>
                <a:latin typeface="Myriad Pro"/>
              </a:rPr>
              <a:t>Maitrise d'œuvre</a:t>
            </a:r>
            <a:endParaRPr lang="fr-FR" sz="900">
              <a:solidFill>
                <a:schemeClr val="tx1"/>
              </a:solidFill>
              <a:latin typeface="Myriad Pro" panose="020B0503030403020204" pitchFamily="34" charset="0"/>
            </a:endParaRPr>
          </a:p>
          <a:p>
            <a:endParaRPr lang="fr-FR" sz="900">
              <a:solidFill>
                <a:schemeClr val="tx1"/>
              </a:solidFill>
              <a:latin typeface="Myriad Pro" panose="020B0503030403020204" pitchFamily="34" charset="0"/>
            </a:endParaRPr>
          </a:p>
        </p:txBody>
      </p:sp>
      <p:sp>
        <p:nvSpPr>
          <p:cNvPr id="12" name="ZoneTexte 11">
            <a:extLst>
              <a:ext uri="{FF2B5EF4-FFF2-40B4-BE49-F238E27FC236}">
                <a16:creationId xmlns:a16="http://schemas.microsoft.com/office/drawing/2014/main" id="{EA0BF5BA-02F0-CAEF-B55D-D10743D07B41}"/>
              </a:ext>
            </a:extLst>
          </p:cNvPr>
          <p:cNvSpPr txBox="1"/>
          <p:nvPr/>
        </p:nvSpPr>
        <p:spPr>
          <a:xfrm>
            <a:off x="115171" y="1980480"/>
            <a:ext cx="1880643" cy="253916"/>
          </a:xfrm>
          <a:prstGeom prst="rect">
            <a:avLst/>
          </a:prstGeom>
          <a:noFill/>
        </p:spPr>
        <p:txBody>
          <a:bodyPr wrap="none" rtlCol="0">
            <a:spAutoFit/>
          </a:bodyPr>
          <a:lstStyle/>
          <a:p>
            <a:r>
              <a:rPr lang="fr-FR" sz="1050" b="1">
                <a:latin typeface="Myriad Pro" panose="020B0503030403020204" pitchFamily="34" charset="0"/>
              </a:rPr>
              <a:t>Situations professionnelles</a:t>
            </a:r>
          </a:p>
        </p:txBody>
      </p:sp>
      <p:sp>
        <p:nvSpPr>
          <p:cNvPr id="27" name="Rectangle 26">
            <a:extLst>
              <a:ext uri="{FF2B5EF4-FFF2-40B4-BE49-F238E27FC236}">
                <a16:creationId xmlns:a16="http://schemas.microsoft.com/office/drawing/2014/main" id="{AB8DDAEA-5EAB-8B33-030A-71CEA82ABC09}"/>
              </a:ext>
            </a:extLst>
          </p:cNvPr>
          <p:cNvSpPr/>
          <p:nvPr/>
        </p:nvSpPr>
        <p:spPr>
          <a:xfrm>
            <a:off x="2066564" y="3709551"/>
            <a:ext cx="4689078" cy="1078725"/>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fr-FR" sz="900">
              <a:solidFill>
                <a:schemeClr val="tx1"/>
              </a:solidFill>
              <a:latin typeface="Myriad Pro" panose="020B0503030403020204" pitchFamily="34" charset="0"/>
            </a:endParaRPr>
          </a:p>
        </p:txBody>
      </p:sp>
      <p:sp>
        <p:nvSpPr>
          <p:cNvPr id="28" name="Rectangle 27">
            <a:extLst>
              <a:ext uri="{FF2B5EF4-FFF2-40B4-BE49-F238E27FC236}">
                <a16:creationId xmlns:a16="http://schemas.microsoft.com/office/drawing/2014/main" id="{CDB6D710-E0A0-E469-2EC9-0C7D72E6CC9D}"/>
              </a:ext>
            </a:extLst>
          </p:cNvPr>
          <p:cNvSpPr/>
          <p:nvPr/>
        </p:nvSpPr>
        <p:spPr>
          <a:xfrm>
            <a:off x="2066564" y="4843696"/>
            <a:ext cx="4689078" cy="1207691"/>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fr-FR" sz="900">
              <a:solidFill>
                <a:schemeClr val="tx1"/>
              </a:solidFill>
              <a:latin typeface="Myriad Pro" panose="020B0503030403020204" pitchFamily="34" charset="0"/>
            </a:endParaRPr>
          </a:p>
        </p:txBody>
      </p:sp>
      <p:sp>
        <p:nvSpPr>
          <p:cNvPr id="29" name="Rectangle 28">
            <a:extLst>
              <a:ext uri="{FF2B5EF4-FFF2-40B4-BE49-F238E27FC236}">
                <a16:creationId xmlns:a16="http://schemas.microsoft.com/office/drawing/2014/main" id="{5471F8F7-3B12-EC8D-4424-D149104818B2}"/>
              </a:ext>
            </a:extLst>
          </p:cNvPr>
          <p:cNvSpPr/>
          <p:nvPr/>
        </p:nvSpPr>
        <p:spPr>
          <a:xfrm>
            <a:off x="2066564" y="6106807"/>
            <a:ext cx="4689078" cy="1207691"/>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fr-FR" sz="900">
              <a:solidFill>
                <a:schemeClr val="tx1"/>
              </a:solidFill>
              <a:latin typeface="Myriad Pro" panose="020B0503030403020204" pitchFamily="34" charset="0"/>
            </a:endParaRPr>
          </a:p>
        </p:txBody>
      </p:sp>
      <p:grpSp>
        <p:nvGrpSpPr>
          <p:cNvPr id="6" name="Groupe 5">
            <a:extLst>
              <a:ext uri="{FF2B5EF4-FFF2-40B4-BE49-F238E27FC236}">
                <a16:creationId xmlns:a16="http://schemas.microsoft.com/office/drawing/2014/main" id="{2BA9DC19-8C43-2F07-D6C3-D9FBD553DB6B}"/>
              </a:ext>
            </a:extLst>
          </p:cNvPr>
          <p:cNvGrpSpPr/>
          <p:nvPr/>
        </p:nvGrpSpPr>
        <p:grpSpPr>
          <a:xfrm>
            <a:off x="115171" y="3709551"/>
            <a:ext cx="1850572" cy="3955093"/>
            <a:chOff x="2638730" y="3612188"/>
            <a:chExt cx="1850572" cy="3955093"/>
          </a:xfrm>
        </p:grpSpPr>
        <p:sp>
          <p:nvSpPr>
            <p:cNvPr id="8" name="Chevron 7">
              <a:extLst>
                <a:ext uri="{FF2B5EF4-FFF2-40B4-BE49-F238E27FC236}">
                  <a16:creationId xmlns:a16="http://schemas.microsoft.com/office/drawing/2014/main" id="{77AB3678-109B-F125-2779-B4B152E962B3}"/>
                </a:ext>
              </a:extLst>
            </p:cNvPr>
            <p:cNvSpPr/>
            <p:nvPr/>
          </p:nvSpPr>
          <p:spPr>
            <a:xfrm rot="5400000">
              <a:off x="2788216" y="4596848"/>
              <a:ext cx="1551600" cy="1850571"/>
            </a:xfrm>
            <a:prstGeom prst="chevron">
              <a:avLst>
                <a:gd name="adj" fmla="val 21677"/>
              </a:avLst>
            </a:prstGeom>
            <a:solidFill>
              <a:schemeClr val="accent4">
                <a:lumMod val="40000"/>
                <a:lumOff val="6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0" name="Chevron 9">
              <a:extLst>
                <a:ext uri="{FF2B5EF4-FFF2-40B4-BE49-F238E27FC236}">
                  <a16:creationId xmlns:a16="http://schemas.microsoft.com/office/drawing/2014/main" id="{C545B399-7E15-DA81-2411-FD1AF0EFFFCD}"/>
                </a:ext>
              </a:extLst>
            </p:cNvPr>
            <p:cNvSpPr/>
            <p:nvPr/>
          </p:nvSpPr>
          <p:spPr>
            <a:xfrm rot="5400000">
              <a:off x="2788216" y="5866195"/>
              <a:ext cx="1551600" cy="1850571"/>
            </a:xfrm>
            <a:prstGeom prst="chevron">
              <a:avLst>
                <a:gd name="adj" fmla="val 21677"/>
              </a:avLst>
            </a:prstGeom>
            <a:solidFill>
              <a:schemeClr val="accent4">
                <a:lumMod val="60000"/>
                <a:lumOff val="4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3" name="Signalisation droite 12">
              <a:extLst>
                <a:ext uri="{FF2B5EF4-FFF2-40B4-BE49-F238E27FC236}">
                  <a16:creationId xmlns:a16="http://schemas.microsoft.com/office/drawing/2014/main" id="{869B42AE-192E-30A2-CA01-FAE5B6ED176C}"/>
                </a:ext>
              </a:extLst>
            </p:cNvPr>
            <p:cNvSpPr/>
            <p:nvPr/>
          </p:nvSpPr>
          <p:spPr>
            <a:xfrm rot="5400000">
              <a:off x="2855409" y="3395510"/>
              <a:ext cx="1417215" cy="1850571"/>
            </a:xfrm>
            <a:prstGeom prst="homePlate">
              <a:avLst>
                <a:gd name="adj" fmla="val 23531"/>
              </a:avLst>
            </a:prstGeom>
            <a:solidFill>
              <a:schemeClr val="accent4">
                <a:lumMod val="20000"/>
                <a:lumOff val="8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200">
                <a:latin typeface="Myriad Pro" panose="020B0503030403020204" pitchFamily="34" charset="0"/>
              </a:endParaRPr>
            </a:p>
          </p:txBody>
        </p:sp>
      </p:grpSp>
      <p:sp>
        <p:nvSpPr>
          <p:cNvPr id="14" name="ZoneTexte 13">
            <a:extLst>
              <a:ext uri="{FF2B5EF4-FFF2-40B4-BE49-F238E27FC236}">
                <a16:creationId xmlns:a16="http://schemas.microsoft.com/office/drawing/2014/main" id="{A9010F20-576C-4615-CAFD-D7C2E038ABC5}"/>
              </a:ext>
            </a:extLst>
          </p:cNvPr>
          <p:cNvSpPr txBox="1"/>
          <p:nvPr/>
        </p:nvSpPr>
        <p:spPr>
          <a:xfrm>
            <a:off x="115171" y="3692721"/>
            <a:ext cx="1850572" cy="830997"/>
          </a:xfrm>
          <a:prstGeom prst="rect">
            <a:avLst/>
          </a:prstGeom>
          <a:noFill/>
        </p:spPr>
        <p:txBody>
          <a:bodyPr wrap="square" lIns="91440" tIns="45720" rIns="91440" bIns="45720" rtlCol="0" anchor="t">
            <a:spAutoFit/>
          </a:bodyPr>
          <a:lstStyle/>
          <a:p>
            <a:pPr algn="ctr"/>
            <a:r>
              <a:rPr lang="fr-FR" sz="1200" b="1">
                <a:latin typeface="Myriad Pro"/>
              </a:rPr>
              <a:t>Niveau 1</a:t>
            </a:r>
          </a:p>
          <a:p>
            <a:pPr algn="ctr"/>
            <a:r>
              <a:rPr lang="fr-FR" sz="1200" b="1">
                <a:latin typeface="Myriad Pro"/>
              </a:rPr>
              <a:t>Immersion</a:t>
            </a:r>
            <a:endParaRPr lang="fr-FR"/>
          </a:p>
          <a:p>
            <a:pPr algn="ctr"/>
            <a:endParaRPr lang="fr-FR" sz="1200">
              <a:latin typeface="Myriad Pro" panose="020B0503030403020204" pitchFamily="34" charset="0"/>
            </a:endParaRPr>
          </a:p>
          <a:p>
            <a:pPr algn="ctr"/>
            <a:endParaRPr lang="fr-FR" sz="1200">
              <a:latin typeface="Myriad Pro" panose="020B0503030403020204" pitchFamily="34" charset="0"/>
            </a:endParaRPr>
          </a:p>
        </p:txBody>
      </p:sp>
      <p:sp>
        <p:nvSpPr>
          <p:cNvPr id="15" name="ZoneTexte 14">
            <a:extLst>
              <a:ext uri="{FF2B5EF4-FFF2-40B4-BE49-F238E27FC236}">
                <a16:creationId xmlns:a16="http://schemas.microsoft.com/office/drawing/2014/main" id="{E92A6767-BEC8-73FB-0CBD-5BC233E484A5}"/>
              </a:ext>
            </a:extLst>
          </p:cNvPr>
          <p:cNvSpPr txBox="1"/>
          <p:nvPr/>
        </p:nvSpPr>
        <p:spPr>
          <a:xfrm>
            <a:off x="115171" y="5153040"/>
            <a:ext cx="1850572" cy="830997"/>
          </a:xfrm>
          <a:prstGeom prst="rect">
            <a:avLst/>
          </a:prstGeom>
          <a:noFill/>
        </p:spPr>
        <p:txBody>
          <a:bodyPr wrap="square" rtlCol="0">
            <a:spAutoFit/>
          </a:bodyPr>
          <a:lstStyle/>
          <a:p>
            <a:pPr algn="ctr"/>
            <a:r>
              <a:rPr lang="fr-FR" sz="1200" b="1">
                <a:latin typeface="Myriad Pro" panose="020B0503030403020204" pitchFamily="34" charset="0"/>
              </a:rPr>
              <a:t>Niveau 2</a:t>
            </a:r>
          </a:p>
          <a:p>
            <a:pPr algn="ctr"/>
            <a:r>
              <a:rPr lang="fr-FR" sz="1200" b="1">
                <a:latin typeface="Myriad Pro" panose="020B0503030403020204" pitchFamily="34" charset="0"/>
              </a:rPr>
              <a:t>Collaboration</a:t>
            </a:r>
          </a:p>
          <a:p>
            <a:pPr algn="ctr"/>
            <a:endParaRPr lang="fr-FR" sz="1200">
              <a:latin typeface="Myriad Pro" panose="020B0503030403020204" pitchFamily="34" charset="0"/>
            </a:endParaRPr>
          </a:p>
          <a:p>
            <a:pPr algn="ctr"/>
            <a:endParaRPr lang="fr-FR" sz="1200">
              <a:latin typeface="Myriad Pro" panose="020B0503030403020204" pitchFamily="34" charset="0"/>
            </a:endParaRPr>
          </a:p>
        </p:txBody>
      </p:sp>
      <p:sp>
        <p:nvSpPr>
          <p:cNvPr id="16" name="ZoneTexte 15">
            <a:extLst>
              <a:ext uri="{FF2B5EF4-FFF2-40B4-BE49-F238E27FC236}">
                <a16:creationId xmlns:a16="http://schemas.microsoft.com/office/drawing/2014/main" id="{5A8468A6-FBAF-9CD0-C2AD-314A992AC17A}"/>
              </a:ext>
            </a:extLst>
          </p:cNvPr>
          <p:cNvSpPr txBox="1"/>
          <p:nvPr/>
        </p:nvSpPr>
        <p:spPr>
          <a:xfrm>
            <a:off x="102358" y="6429491"/>
            <a:ext cx="1850572" cy="830997"/>
          </a:xfrm>
          <a:prstGeom prst="rect">
            <a:avLst/>
          </a:prstGeom>
          <a:noFill/>
        </p:spPr>
        <p:txBody>
          <a:bodyPr wrap="square" rtlCol="0">
            <a:spAutoFit/>
          </a:bodyPr>
          <a:lstStyle/>
          <a:p>
            <a:pPr algn="ctr"/>
            <a:r>
              <a:rPr lang="fr-FR" sz="1200" b="1">
                <a:latin typeface="Myriad Pro" panose="020B0503030403020204" pitchFamily="34" charset="0"/>
              </a:rPr>
              <a:t>Niveau 3</a:t>
            </a:r>
          </a:p>
          <a:p>
            <a:pPr algn="ctr"/>
            <a:r>
              <a:rPr lang="fr-FR" sz="1200" b="1">
                <a:latin typeface="Myriad Pro" panose="020B0503030403020204" pitchFamily="34" charset="0"/>
              </a:rPr>
              <a:t>Pilotage</a:t>
            </a:r>
          </a:p>
          <a:p>
            <a:pPr algn="ctr"/>
            <a:endParaRPr lang="fr-FR" sz="1200">
              <a:latin typeface="Myriad Pro" panose="020B0503030403020204" pitchFamily="34" charset="0"/>
            </a:endParaRPr>
          </a:p>
          <a:p>
            <a:pPr algn="ctr"/>
            <a:endParaRPr lang="fr-FR" sz="1200">
              <a:latin typeface="Myriad Pro" panose="020B0503030403020204" pitchFamily="34" charset="0"/>
            </a:endParaRPr>
          </a:p>
        </p:txBody>
      </p:sp>
      <p:sp>
        <p:nvSpPr>
          <p:cNvPr id="3" name="ZoneTexte 2">
            <a:extLst>
              <a:ext uri="{FF2B5EF4-FFF2-40B4-BE49-F238E27FC236}">
                <a16:creationId xmlns:a16="http://schemas.microsoft.com/office/drawing/2014/main" id="{C05BC66E-038E-6729-98EE-570916A290C1}"/>
              </a:ext>
            </a:extLst>
          </p:cNvPr>
          <p:cNvSpPr txBox="1"/>
          <p:nvPr/>
        </p:nvSpPr>
        <p:spPr>
          <a:xfrm>
            <a:off x="1965743" y="3384089"/>
            <a:ext cx="3657506" cy="338554"/>
          </a:xfrm>
          <a:prstGeom prst="rect">
            <a:avLst/>
          </a:prstGeom>
          <a:noFill/>
        </p:spPr>
        <p:txBody>
          <a:bodyPr wrap="square">
            <a:spAutoFit/>
          </a:bodyPr>
          <a:lstStyle/>
          <a:p>
            <a:pPr lvl="0"/>
            <a:r>
              <a:rPr lang="fr-FR" sz="1600" b="1" i="1"/>
              <a:t>Apprentissages critiques</a:t>
            </a:r>
          </a:p>
        </p:txBody>
      </p:sp>
      <p:sp>
        <p:nvSpPr>
          <p:cNvPr id="2" name="Rectangle 1">
            <a:extLst>
              <a:ext uri="{FF2B5EF4-FFF2-40B4-BE49-F238E27FC236}">
                <a16:creationId xmlns:a16="http://schemas.microsoft.com/office/drawing/2014/main" id="{120BE6C5-C445-D8AB-4C49-F06327F3D35A}"/>
              </a:ext>
            </a:extLst>
          </p:cNvPr>
          <p:cNvSpPr/>
          <p:nvPr/>
        </p:nvSpPr>
        <p:spPr>
          <a:xfrm>
            <a:off x="115172" y="561160"/>
            <a:ext cx="1850571" cy="1328057"/>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fr-FR" sz="1200" b="1" cap="all">
                <a:latin typeface="Myriad Pro" panose="020B0503030403020204" pitchFamily="34" charset="0"/>
              </a:rPr>
              <a:t>Piloter un projet de bâtiment</a:t>
            </a:r>
            <a:endParaRPr lang="fr-FR" sz="1200" cap="all">
              <a:latin typeface="Myriad Pro" panose="020B0503030403020204" pitchFamily="34" charset="0"/>
            </a:endParaRPr>
          </a:p>
          <a:p>
            <a:pPr algn="ctr">
              <a:spcAft>
                <a:spcPts val="600"/>
              </a:spcAft>
            </a:pPr>
            <a:r>
              <a:rPr lang="fr-FR" sz="1200" cap="all" err="1">
                <a:latin typeface="Myriad Pro" panose="020B0503030403020204" pitchFamily="34" charset="0"/>
              </a:rPr>
              <a:t>Ref</a:t>
            </a:r>
            <a:r>
              <a:rPr lang="fr-FR" sz="1200" cap="all">
                <a:latin typeface="Myriad Pro" panose="020B0503030403020204" pitchFamily="34" charset="0"/>
              </a:rPr>
              <a:t> RNCP</a:t>
            </a:r>
            <a:endParaRPr lang="fr-FR" sz="1200">
              <a:latin typeface="Myriad Pro" panose="020B0503030403020204" pitchFamily="34" charset="0"/>
            </a:endParaRPr>
          </a:p>
        </p:txBody>
      </p:sp>
      <p:sp>
        <p:nvSpPr>
          <p:cNvPr id="7" name="Rectangle 6">
            <a:extLst>
              <a:ext uri="{FF2B5EF4-FFF2-40B4-BE49-F238E27FC236}">
                <a16:creationId xmlns:a16="http://schemas.microsoft.com/office/drawing/2014/main" id="{C7304A67-8B2E-B3E3-31CF-722C5F9D66A3}"/>
              </a:ext>
            </a:extLst>
          </p:cNvPr>
          <p:cNvSpPr/>
          <p:nvPr/>
        </p:nvSpPr>
        <p:spPr>
          <a:xfrm>
            <a:off x="2066564" y="555292"/>
            <a:ext cx="4676308" cy="1346696"/>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r>
              <a:rPr lang="fr-FR" sz="1200" dirty="0">
                <a:solidFill>
                  <a:schemeClr val="tx1"/>
                </a:solidFill>
                <a:latin typeface="Myriad Pro"/>
              </a:rPr>
              <a:t>Composantes essentielles</a:t>
            </a:r>
          </a:p>
          <a:p>
            <a:r>
              <a:rPr lang="fr-FR" sz="900" dirty="0">
                <a:solidFill>
                  <a:schemeClr val="tx1"/>
                </a:solidFill>
              </a:rPr>
              <a:t>…    En tenant compte des besoins</a:t>
            </a:r>
            <a:endParaRPr lang="en-US" sz="900" dirty="0">
              <a:solidFill>
                <a:schemeClr val="tx1"/>
              </a:solidFill>
              <a:ea typeface="Calibri"/>
              <a:cs typeface="Calibri"/>
            </a:endParaRPr>
          </a:p>
          <a:p>
            <a:pPr marL="171450" indent="-171450">
              <a:buFontTx/>
              <a:buChar char="…"/>
            </a:pPr>
            <a:r>
              <a:rPr lang="fr-FR" sz="900" dirty="0">
                <a:solidFill>
                  <a:schemeClr val="tx1"/>
                </a:solidFill>
              </a:rPr>
              <a:t>En assurant efficacement la coordination des différents corps de métier</a:t>
            </a:r>
            <a:endParaRPr lang="en-US" sz="900" dirty="0">
              <a:solidFill>
                <a:schemeClr val="tx1"/>
              </a:solidFill>
              <a:ea typeface="Calibri" panose="020F0502020204030204"/>
              <a:cs typeface="Calibri" panose="020F0502020204030204"/>
            </a:endParaRPr>
          </a:p>
          <a:p>
            <a:pPr marL="171450" indent="-171450">
              <a:buFontTx/>
              <a:buChar char="…"/>
            </a:pPr>
            <a:r>
              <a:rPr lang="fr-FR" sz="900" dirty="0">
                <a:solidFill>
                  <a:schemeClr val="tx1"/>
                </a:solidFill>
              </a:rPr>
              <a:t>En sélectionnant les méthodes et outils de management et de pilotage appropriés à chaque étape du projet de construction ;</a:t>
            </a:r>
            <a:endParaRPr lang="fr-FR" sz="900" dirty="0">
              <a:solidFill>
                <a:schemeClr val="tx1"/>
              </a:solidFill>
              <a:ea typeface="Calibri"/>
              <a:cs typeface="Calibri"/>
            </a:endParaRPr>
          </a:p>
          <a:p>
            <a:pPr marL="171450" indent="-171450">
              <a:buFontTx/>
              <a:buChar char="…"/>
            </a:pPr>
            <a:r>
              <a:rPr lang="fr-FR" sz="900" dirty="0">
                <a:solidFill>
                  <a:schemeClr val="tx1"/>
                </a:solidFill>
              </a:rPr>
              <a:t>En tenant compte des procédures liées à la qualité, sécurité, santé, environnement…;</a:t>
            </a:r>
            <a:endParaRPr lang="fr-FR" sz="900">
              <a:solidFill>
                <a:schemeClr val="tx1"/>
              </a:solidFill>
              <a:ea typeface="Calibri"/>
              <a:cs typeface="Calibri"/>
            </a:endParaRPr>
          </a:p>
          <a:p>
            <a:pPr marL="171450" indent="-171450">
              <a:buFontTx/>
              <a:buChar char="…"/>
            </a:pPr>
            <a:r>
              <a:rPr lang="fr-FR" sz="900" dirty="0">
                <a:solidFill>
                  <a:schemeClr val="tx1"/>
                </a:solidFill>
                <a:ea typeface="Calibri"/>
                <a:cs typeface="Calibri"/>
              </a:rPr>
              <a:t>En respectant le fonctionnement interne à l'entreprise</a:t>
            </a:r>
            <a:endParaRPr lang="fr-FR" sz="900" dirty="0">
              <a:solidFill>
                <a:schemeClr val="tx1"/>
              </a:solidFill>
            </a:endParaRPr>
          </a:p>
          <a:p>
            <a:pPr marL="171450" indent="-171450">
              <a:buFontTx/>
              <a:buChar char="…"/>
            </a:pPr>
            <a:r>
              <a:rPr lang="fr-FR" sz="900" dirty="0">
                <a:solidFill>
                  <a:schemeClr val="tx1"/>
                </a:solidFill>
              </a:rPr>
              <a:t>En communiquant de manière adaptée avec un public varié;</a:t>
            </a:r>
            <a:endParaRPr lang="fr-FR" sz="900">
              <a:solidFill>
                <a:schemeClr val="tx1"/>
              </a:solidFill>
              <a:ea typeface="Calibri"/>
              <a:cs typeface="Calibri"/>
            </a:endParaRPr>
          </a:p>
          <a:p>
            <a:pPr marL="171450" indent="-171450">
              <a:buFontTx/>
              <a:buChar char="…"/>
            </a:pPr>
            <a:endParaRPr lang="fr-FR" sz="900">
              <a:solidFill>
                <a:schemeClr val="tx1"/>
              </a:solidFill>
            </a:endParaRPr>
          </a:p>
        </p:txBody>
      </p:sp>
      <p:sp>
        <p:nvSpPr>
          <p:cNvPr id="5" name="ZoneTexte 4">
            <a:extLst>
              <a:ext uri="{FF2B5EF4-FFF2-40B4-BE49-F238E27FC236}">
                <a16:creationId xmlns:a16="http://schemas.microsoft.com/office/drawing/2014/main" id="{947EEC07-A0D5-3096-B839-0DE3BFE32827}"/>
              </a:ext>
            </a:extLst>
          </p:cNvPr>
          <p:cNvSpPr txBox="1"/>
          <p:nvPr/>
        </p:nvSpPr>
        <p:spPr>
          <a:xfrm>
            <a:off x="2071171" y="3709930"/>
            <a:ext cx="4671151"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000" dirty="0">
                <a:ea typeface="Calibri"/>
                <a:cs typeface="Calibri"/>
              </a:rPr>
              <a:t>Identifier les attendus du projet à travers les documents contractuels (</a:t>
            </a:r>
            <a:r>
              <a:rPr lang="en-US" sz="1000" dirty="0">
                <a:latin typeface="Aptos"/>
                <a:ea typeface="Calibri"/>
                <a:cs typeface="Calibri"/>
              </a:rPr>
              <a:t>DPGF, CCTP, …)</a:t>
            </a:r>
            <a:endParaRPr lang="en-US" dirty="0"/>
          </a:p>
          <a:p>
            <a:r>
              <a:rPr lang="fr-FR" sz="1000" dirty="0">
                <a:ea typeface="Calibri"/>
                <a:cs typeface="Calibri"/>
              </a:rPr>
              <a:t>Identifier le rôle des différents acteurs du bâtiment</a:t>
            </a:r>
          </a:p>
          <a:p>
            <a:r>
              <a:rPr lang="fr-FR" sz="1000" dirty="0">
                <a:ea typeface="Calibri"/>
                <a:cs typeface="Calibri"/>
              </a:rPr>
              <a:t>Identifier le fonctionnement d'une entreprise (organisation du travail, sécurité, DDRS)</a:t>
            </a:r>
          </a:p>
          <a:p>
            <a:r>
              <a:rPr lang="fr-FR" sz="1000" dirty="0">
                <a:ea typeface="Calibri"/>
                <a:cs typeface="Calibri"/>
              </a:rPr>
              <a:t>Rendre compte de l’avancement </a:t>
            </a:r>
          </a:p>
        </p:txBody>
      </p:sp>
      <p:sp>
        <p:nvSpPr>
          <p:cNvPr id="11" name="ZoneTexte 10">
            <a:extLst>
              <a:ext uri="{FF2B5EF4-FFF2-40B4-BE49-F238E27FC236}">
                <a16:creationId xmlns:a16="http://schemas.microsoft.com/office/drawing/2014/main" id="{655E2819-9AD6-CA92-5127-143E00010859}"/>
              </a:ext>
            </a:extLst>
          </p:cNvPr>
          <p:cNvSpPr txBox="1"/>
          <p:nvPr/>
        </p:nvSpPr>
        <p:spPr>
          <a:xfrm>
            <a:off x="2071171" y="4839159"/>
            <a:ext cx="4671151"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err="1">
                <a:latin typeface="Aptos"/>
                <a:ea typeface="Calibri"/>
                <a:cs typeface="Calibri"/>
              </a:rPr>
              <a:t>Travailler</a:t>
            </a:r>
            <a:r>
              <a:rPr lang="en-US" sz="1000" dirty="0">
                <a:latin typeface="Aptos"/>
                <a:ea typeface="Calibri"/>
                <a:cs typeface="Calibri"/>
              </a:rPr>
              <a:t> </a:t>
            </a:r>
            <a:r>
              <a:rPr lang="en-US" sz="1000" dirty="0" err="1">
                <a:latin typeface="Aptos"/>
                <a:ea typeface="Calibri"/>
                <a:cs typeface="Calibri"/>
              </a:rPr>
              <a:t>en</a:t>
            </a:r>
            <a:r>
              <a:rPr lang="en-US" sz="1000" dirty="0">
                <a:latin typeface="Aptos"/>
                <a:ea typeface="Calibri"/>
                <a:cs typeface="Calibri"/>
              </a:rPr>
              <a:t> mode </a:t>
            </a:r>
            <a:r>
              <a:rPr lang="en-US" sz="1000" dirty="0" err="1">
                <a:latin typeface="Aptos"/>
                <a:ea typeface="Calibri"/>
                <a:cs typeface="Calibri"/>
              </a:rPr>
              <a:t>collaboratif</a:t>
            </a:r>
            <a:r>
              <a:rPr lang="en-US" sz="1000" dirty="0">
                <a:latin typeface="Aptos"/>
                <a:ea typeface="Calibri"/>
                <a:cs typeface="Calibri"/>
              </a:rPr>
              <a:t> (APP BIM S7)</a:t>
            </a:r>
            <a:endParaRPr lang="fr-FR" sz="1000" dirty="0">
              <a:latin typeface="Aptos"/>
              <a:ea typeface="Calibri"/>
              <a:cs typeface="Calibri"/>
            </a:endParaRPr>
          </a:p>
          <a:p>
            <a:r>
              <a:rPr lang="en-US" sz="1000" dirty="0" err="1">
                <a:latin typeface="Aptos"/>
                <a:ea typeface="Calibri"/>
                <a:cs typeface="Calibri"/>
              </a:rPr>
              <a:t>Planifier</a:t>
            </a:r>
            <a:r>
              <a:rPr lang="en-US" sz="1000" dirty="0">
                <a:latin typeface="Aptos"/>
                <a:ea typeface="Calibri"/>
                <a:cs typeface="Calibri"/>
              </a:rPr>
              <a:t> les </a:t>
            </a:r>
            <a:r>
              <a:rPr lang="en-US" sz="1000" dirty="0" err="1">
                <a:latin typeface="Aptos"/>
                <a:ea typeface="Calibri"/>
                <a:cs typeface="Calibri"/>
              </a:rPr>
              <a:t>différentes</a:t>
            </a:r>
            <a:r>
              <a:rPr lang="en-US" sz="1000" dirty="0">
                <a:latin typeface="Aptos"/>
                <a:ea typeface="Calibri"/>
                <a:cs typeface="Calibri"/>
              </a:rPr>
              <a:t> </a:t>
            </a:r>
            <a:r>
              <a:rPr lang="en-US" sz="1000" dirty="0" err="1">
                <a:latin typeface="Aptos"/>
                <a:ea typeface="Calibri"/>
                <a:cs typeface="Calibri"/>
              </a:rPr>
              <a:t>tâches</a:t>
            </a:r>
            <a:r>
              <a:rPr lang="en-US" sz="1000" dirty="0">
                <a:latin typeface="Aptos"/>
                <a:ea typeface="Calibri"/>
                <a:cs typeface="Calibri"/>
              </a:rPr>
              <a:t> d'un </a:t>
            </a:r>
            <a:r>
              <a:rPr lang="en-US" sz="1000" dirty="0" err="1">
                <a:latin typeface="Aptos"/>
                <a:ea typeface="Calibri"/>
                <a:cs typeface="Calibri"/>
              </a:rPr>
              <a:t>projet</a:t>
            </a:r>
            <a:endParaRPr lang="en-US" sz="1000" dirty="0">
              <a:latin typeface="Aptos"/>
              <a:ea typeface="Calibri"/>
              <a:cs typeface="Calibri"/>
            </a:endParaRPr>
          </a:p>
          <a:p>
            <a:r>
              <a:rPr lang="en-US" sz="1000" dirty="0">
                <a:latin typeface="Aptos"/>
                <a:ea typeface="Calibri"/>
                <a:cs typeface="Calibri"/>
              </a:rPr>
              <a:t>Faire </a:t>
            </a:r>
            <a:r>
              <a:rPr lang="en-US" sz="1000" dirty="0" err="1">
                <a:latin typeface="Aptos"/>
                <a:ea typeface="Calibri"/>
                <a:cs typeface="Calibri"/>
              </a:rPr>
              <a:t>une</a:t>
            </a:r>
            <a:r>
              <a:rPr lang="en-US" sz="1000" dirty="0">
                <a:latin typeface="Aptos"/>
                <a:ea typeface="Calibri"/>
                <a:cs typeface="Calibri"/>
              </a:rPr>
              <a:t> </a:t>
            </a:r>
            <a:r>
              <a:rPr lang="en-US" sz="1000" dirty="0" err="1">
                <a:latin typeface="Aptos"/>
                <a:ea typeface="Calibri"/>
                <a:cs typeface="Calibri"/>
              </a:rPr>
              <a:t>analyse</a:t>
            </a:r>
            <a:r>
              <a:rPr lang="en-US" sz="1000" dirty="0">
                <a:latin typeface="Aptos"/>
                <a:ea typeface="Calibri"/>
                <a:cs typeface="Calibri"/>
              </a:rPr>
              <a:t> critique des </a:t>
            </a:r>
            <a:r>
              <a:rPr lang="fr-FR" sz="1000" dirty="0">
                <a:latin typeface="Calibri"/>
                <a:ea typeface="Calibri"/>
                <a:cs typeface="Calibri"/>
              </a:rPr>
              <a:t>documents contractuels</a:t>
            </a:r>
            <a:r>
              <a:rPr lang="en-US" sz="1000" dirty="0">
                <a:latin typeface="Aptos"/>
                <a:ea typeface="Calibri"/>
                <a:cs typeface="Calibri"/>
              </a:rPr>
              <a:t> (DPGF, CCTP, …)</a:t>
            </a:r>
          </a:p>
          <a:p>
            <a:r>
              <a:rPr lang="en-US" sz="1000" dirty="0" err="1">
                <a:latin typeface="Aptos"/>
                <a:ea typeface="Calibri"/>
                <a:cs typeface="Calibri"/>
              </a:rPr>
              <a:t>Vérifier</a:t>
            </a:r>
            <a:r>
              <a:rPr lang="en-US" sz="1000" dirty="0">
                <a:latin typeface="Aptos"/>
                <a:ea typeface="Calibri"/>
                <a:cs typeface="Calibri"/>
              </a:rPr>
              <a:t> la </a:t>
            </a:r>
            <a:r>
              <a:rPr lang="en-US" sz="1000" dirty="0" err="1">
                <a:latin typeface="Aptos"/>
                <a:ea typeface="Calibri"/>
                <a:cs typeface="Calibri"/>
              </a:rPr>
              <a:t>conformité</a:t>
            </a:r>
            <a:r>
              <a:rPr lang="en-US" sz="1000" dirty="0">
                <a:latin typeface="Aptos"/>
                <a:ea typeface="Calibri"/>
                <a:cs typeface="Calibri"/>
              </a:rPr>
              <a:t> des </a:t>
            </a:r>
            <a:r>
              <a:rPr lang="en-US" sz="1000" dirty="0" err="1">
                <a:latin typeface="Aptos"/>
                <a:ea typeface="Calibri"/>
                <a:cs typeface="Calibri"/>
              </a:rPr>
              <a:t>bonnes</a:t>
            </a:r>
            <a:r>
              <a:rPr lang="en-US" sz="1000" dirty="0">
                <a:latin typeface="Aptos"/>
                <a:ea typeface="Calibri"/>
                <a:cs typeface="Calibri"/>
              </a:rPr>
              <a:t> dispositions </a:t>
            </a:r>
            <a:r>
              <a:rPr lang="en-US" sz="1000" dirty="0" err="1">
                <a:latin typeface="Aptos"/>
                <a:ea typeface="Calibri"/>
                <a:cs typeface="Calibri"/>
              </a:rPr>
              <a:t>constructives</a:t>
            </a:r>
            <a:endParaRPr lang="en-US" sz="1000" dirty="0">
              <a:latin typeface="Aptos"/>
              <a:ea typeface="Calibri"/>
              <a:cs typeface="Calibri"/>
            </a:endParaRPr>
          </a:p>
          <a:p>
            <a:r>
              <a:rPr lang="en-US" sz="1000" dirty="0" err="1">
                <a:latin typeface="Aptos"/>
                <a:ea typeface="Calibri"/>
                <a:cs typeface="Calibri"/>
              </a:rPr>
              <a:t>Analyser</a:t>
            </a:r>
            <a:r>
              <a:rPr lang="en-US" sz="1000" dirty="0">
                <a:latin typeface="Aptos"/>
                <a:ea typeface="Calibri"/>
                <a:cs typeface="Calibri"/>
              </a:rPr>
              <a:t> les </a:t>
            </a:r>
            <a:r>
              <a:rPr lang="en-US" sz="1000" dirty="0" err="1">
                <a:latin typeface="Aptos"/>
                <a:ea typeface="Calibri"/>
                <a:cs typeface="Calibri"/>
              </a:rPr>
              <a:t>risques</a:t>
            </a:r>
            <a:r>
              <a:rPr lang="en-US" sz="1000" dirty="0">
                <a:latin typeface="Aptos"/>
                <a:ea typeface="Calibri"/>
                <a:cs typeface="Calibri"/>
              </a:rPr>
              <a:t> </a:t>
            </a:r>
            <a:r>
              <a:rPr lang="en-US" sz="1000" dirty="0" err="1">
                <a:latin typeface="Aptos"/>
                <a:ea typeface="Calibri"/>
                <a:cs typeface="Calibri"/>
              </a:rPr>
              <a:t>liés</a:t>
            </a:r>
            <a:r>
              <a:rPr lang="en-US" sz="1000" dirty="0">
                <a:latin typeface="Aptos"/>
                <a:ea typeface="Calibri"/>
                <a:cs typeface="Calibri"/>
              </a:rPr>
              <a:t> au </a:t>
            </a:r>
            <a:r>
              <a:rPr lang="en-US" sz="1000" dirty="0" err="1">
                <a:latin typeface="Aptos"/>
                <a:ea typeface="Calibri"/>
                <a:cs typeface="Calibri"/>
              </a:rPr>
              <a:t>projet</a:t>
            </a:r>
            <a:endParaRPr lang="en-US" sz="1000" dirty="0">
              <a:latin typeface="Aptos"/>
              <a:ea typeface="Calibri"/>
              <a:cs typeface="Calibri"/>
            </a:endParaRPr>
          </a:p>
          <a:p>
            <a:endParaRPr lang="en-US" sz="1000" dirty="0">
              <a:latin typeface="Aptos"/>
              <a:ea typeface="Calibri"/>
              <a:cs typeface="Calibri"/>
            </a:endParaRPr>
          </a:p>
          <a:p>
            <a:endParaRPr lang="fr-FR" sz="1000" dirty="0">
              <a:latin typeface="Calibri" panose="020F0502020204030204"/>
              <a:ea typeface="Calibri"/>
              <a:cs typeface="Calibri"/>
            </a:endParaRPr>
          </a:p>
        </p:txBody>
      </p:sp>
      <p:sp>
        <p:nvSpPr>
          <p:cNvPr id="19" name="ZoneTexte 10">
            <a:extLst>
              <a:ext uri="{FF2B5EF4-FFF2-40B4-BE49-F238E27FC236}">
                <a16:creationId xmlns:a16="http://schemas.microsoft.com/office/drawing/2014/main" id="{A71027F0-8240-F08D-72D3-1E5D2E53BA1B}"/>
              </a:ext>
            </a:extLst>
          </p:cNvPr>
          <p:cNvSpPr txBox="1"/>
          <p:nvPr/>
        </p:nvSpPr>
        <p:spPr>
          <a:xfrm>
            <a:off x="2083941" y="6154566"/>
            <a:ext cx="4671151"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err="1">
                <a:latin typeface="Aptos"/>
                <a:ea typeface="Calibri"/>
                <a:cs typeface="Calibri"/>
              </a:rPr>
              <a:t>Gérer</a:t>
            </a:r>
            <a:r>
              <a:rPr lang="en-US" sz="1000" dirty="0">
                <a:latin typeface="Aptos"/>
                <a:ea typeface="Calibri"/>
                <a:cs typeface="Calibri"/>
              </a:rPr>
              <a:t> les </a:t>
            </a:r>
            <a:r>
              <a:rPr lang="en-US" sz="1000" dirty="0" err="1">
                <a:latin typeface="Aptos"/>
                <a:ea typeface="Calibri"/>
                <a:cs typeface="Calibri"/>
              </a:rPr>
              <a:t>ressources</a:t>
            </a:r>
            <a:r>
              <a:rPr lang="en-US" sz="1000" dirty="0">
                <a:latin typeface="Aptos"/>
                <a:ea typeface="Calibri"/>
                <a:cs typeface="Calibri"/>
              </a:rPr>
              <a:t> (</a:t>
            </a:r>
            <a:r>
              <a:rPr lang="en-US" sz="1000" dirty="0" err="1">
                <a:latin typeface="Aptos"/>
                <a:ea typeface="Calibri"/>
                <a:cs typeface="Calibri"/>
              </a:rPr>
              <a:t>humaines</a:t>
            </a:r>
            <a:r>
              <a:rPr lang="en-US" sz="1000" dirty="0">
                <a:latin typeface="Aptos"/>
                <a:ea typeface="Calibri"/>
                <a:cs typeface="Calibri"/>
              </a:rPr>
              <a:t>, materiel, </a:t>
            </a:r>
            <a:r>
              <a:rPr lang="en-US" sz="1000" dirty="0" err="1">
                <a:latin typeface="Aptos"/>
                <a:ea typeface="Calibri"/>
                <a:cs typeface="Calibri"/>
              </a:rPr>
              <a:t>financières</a:t>
            </a:r>
            <a:r>
              <a:rPr lang="en-US" sz="1000" dirty="0">
                <a:latin typeface="Aptos"/>
                <a:ea typeface="Calibri"/>
                <a:cs typeface="Calibri"/>
              </a:rPr>
              <a:t>...)</a:t>
            </a:r>
            <a:endParaRPr lang="en-US" dirty="0"/>
          </a:p>
          <a:p>
            <a:r>
              <a:rPr lang="en-US" sz="1000" dirty="0">
                <a:latin typeface="Aptos"/>
                <a:ea typeface="Calibri"/>
                <a:cs typeface="Calibri"/>
              </a:rPr>
              <a:t>Identifier des solutions aux </a:t>
            </a:r>
            <a:r>
              <a:rPr lang="en-US" sz="1000" dirty="0" err="1">
                <a:latin typeface="Aptos"/>
                <a:ea typeface="Calibri"/>
                <a:cs typeface="Calibri"/>
              </a:rPr>
              <a:t>problèmes</a:t>
            </a:r>
            <a:r>
              <a:rPr lang="en-US" sz="1000" dirty="0">
                <a:latin typeface="Aptos"/>
                <a:ea typeface="Calibri"/>
                <a:cs typeface="Calibri"/>
              </a:rPr>
              <a:t> </a:t>
            </a:r>
            <a:r>
              <a:rPr lang="en-US" sz="1000" dirty="0" err="1">
                <a:latin typeface="Aptos"/>
                <a:ea typeface="Calibri"/>
                <a:cs typeface="Calibri"/>
              </a:rPr>
              <a:t>rencontrés</a:t>
            </a:r>
            <a:endParaRPr lang="en-US" sz="1000" dirty="0">
              <a:latin typeface="Aptos"/>
              <a:ea typeface="Calibri"/>
              <a:cs typeface="Calibri"/>
            </a:endParaRPr>
          </a:p>
          <a:p>
            <a:r>
              <a:rPr lang="en-US" sz="1000" dirty="0">
                <a:latin typeface="Aptos"/>
                <a:ea typeface="Calibri"/>
                <a:cs typeface="Calibri"/>
              </a:rPr>
              <a:t>Assurer le </a:t>
            </a:r>
            <a:r>
              <a:rPr lang="en-US" sz="1000" dirty="0" err="1">
                <a:latin typeface="Aptos"/>
                <a:ea typeface="Calibri"/>
                <a:cs typeface="Calibri"/>
              </a:rPr>
              <a:t>suivi</a:t>
            </a:r>
            <a:r>
              <a:rPr lang="en-US" sz="1000" dirty="0">
                <a:latin typeface="Aptos"/>
                <a:ea typeface="Calibri"/>
                <a:cs typeface="Calibri"/>
              </a:rPr>
              <a:t> d'un </a:t>
            </a:r>
            <a:r>
              <a:rPr lang="en-US" sz="1000" dirty="0" err="1">
                <a:latin typeface="Aptos"/>
                <a:ea typeface="Calibri"/>
                <a:cs typeface="Calibri"/>
              </a:rPr>
              <a:t>projet</a:t>
            </a:r>
            <a:endParaRPr lang="en-US" sz="1000" dirty="0">
              <a:latin typeface="Aptos"/>
              <a:ea typeface="Calibri"/>
              <a:cs typeface="Calibri"/>
            </a:endParaRPr>
          </a:p>
          <a:p>
            <a:r>
              <a:rPr lang="en-US" sz="1000" dirty="0" err="1">
                <a:latin typeface="Aptos"/>
                <a:ea typeface="Calibri"/>
                <a:cs typeface="Calibri"/>
              </a:rPr>
              <a:t>Rédiger</a:t>
            </a:r>
            <a:r>
              <a:rPr lang="en-US" sz="1000" dirty="0">
                <a:latin typeface="Aptos"/>
                <a:ea typeface="Calibri"/>
                <a:cs typeface="Calibri"/>
              </a:rPr>
              <a:t> des </a:t>
            </a:r>
            <a:r>
              <a:rPr lang="en-US" sz="1000" dirty="0" err="1">
                <a:latin typeface="Aptos"/>
                <a:ea typeface="Calibri"/>
                <a:cs typeface="Calibri"/>
              </a:rPr>
              <a:t>pièces</a:t>
            </a:r>
            <a:r>
              <a:rPr lang="en-US" sz="1000" dirty="0">
                <a:latin typeface="Aptos"/>
                <a:ea typeface="Calibri"/>
                <a:cs typeface="Calibri"/>
              </a:rPr>
              <a:t> </a:t>
            </a:r>
            <a:r>
              <a:rPr lang="en-US" sz="1000" dirty="0" err="1">
                <a:latin typeface="Aptos"/>
                <a:ea typeface="Calibri"/>
                <a:cs typeface="Calibri"/>
              </a:rPr>
              <a:t>écrites</a:t>
            </a:r>
            <a:r>
              <a:rPr lang="en-US" sz="1000" dirty="0">
                <a:latin typeface="Aptos"/>
                <a:ea typeface="Calibri"/>
                <a:cs typeface="Calibri"/>
              </a:rPr>
              <a:t> dans un </a:t>
            </a:r>
            <a:r>
              <a:rPr lang="en-US" sz="1000" dirty="0" err="1">
                <a:latin typeface="Aptos"/>
                <a:ea typeface="Calibri"/>
                <a:cs typeface="Calibri"/>
              </a:rPr>
              <a:t>contexte</a:t>
            </a:r>
            <a:r>
              <a:rPr lang="en-US" sz="1000" dirty="0">
                <a:latin typeface="Aptos"/>
                <a:ea typeface="Calibri"/>
                <a:cs typeface="Calibri"/>
              </a:rPr>
              <a:t> </a:t>
            </a:r>
            <a:r>
              <a:rPr lang="en-US" sz="1000" dirty="0" err="1">
                <a:latin typeface="Aptos"/>
                <a:ea typeface="Calibri"/>
                <a:cs typeface="Calibri"/>
              </a:rPr>
              <a:t>professionnel</a:t>
            </a:r>
          </a:p>
          <a:p>
            <a:r>
              <a:rPr lang="fr-FR" sz="1000" i="1" dirty="0">
                <a:latin typeface="Aptos"/>
                <a:ea typeface="Calibri"/>
                <a:cs typeface="Calibri"/>
              </a:rPr>
              <a:t>Rédiger une recherche bibliographique ou réglementaire (PRD, différence FISE/FISA)</a:t>
            </a:r>
            <a:endParaRPr lang="en-US" dirty="0"/>
          </a:p>
        </p:txBody>
      </p:sp>
    </p:spTree>
    <p:extLst>
      <p:ext uri="{BB962C8B-B14F-4D97-AF65-F5344CB8AC3E}">
        <p14:creationId xmlns:p14="http://schemas.microsoft.com/office/powerpoint/2010/main" val="15205299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07C2E-25C5-7103-B26E-F2CF56CBDB9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B39C6AD-AF35-BE97-714E-47D414B85D41}"/>
              </a:ext>
            </a:extLst>
          </p:cNvPr>
          <p:cNvSpPr/>
          <p:nvPr/>
        </p:nvSpPr>
        <p:spPr>
          <a:xfrm>
            <a:off x="115172" y="113568"/>
            <a:ext cx="6640470" cy="319051"/>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800" b="1" cap="all">
                <a:solidFill>
                  <a:schemeClr val="bg1"/>
                </a:solidFill>
                <a:latin typeface="Myriad Pro" panose="020B0503030403020204" pitchFamily="34" charset="0"/>
              </a:rPr>
              <a:t>		 Bâtiment, écoconstruction, énergie 		Polytech XXX</a:t>
            </a:r>
          </a:p>
        </p:txBody>
      </p:sp>
      <p:sp>
        <p:nvSpPr>
          <p:cNvPr id="9" name="Rectangle 8">
            <a:extLst>
              <a:ext uri="{FF2B5EF4-FFF2-40B4-BE49-F238E27FC236}">
                <a16:creationId xmlns:a16="http://schemas.microsoft.com/office/drawing/2014/main" id="{3FD9CD12-2037-DE8F-6A9E-95825825CA7C}"/>
              </a:ext>
            </a:extLst>
          </p:cNvPr>
          <p:cNvSpPr/>
          <p:nvPr/>
        </p:nvSpPr>
        <p:spPr>
          <a:xfrm>
            <a:off x="2066564" y="2295356"/>
            <a:ext cx="4689078" cy="108479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r>
              <a:rPr lang="fr-FR" sz="900">
                <a:solidFill>
                  <a:schemeClr val="tx1"/>
                </a:solidFill>
                <a:latin typeface="Myriad Pro"/>
              </a:rPr>
              <a:t>Bureau d'études - </a:t>
            </a:r>
            <a:r>
              <a:rPr lang="fr-FR" sz="900" err="1">
                <a:solidFill>
                  <a:schemeClr val="tx1"/>
                </a:solidFill>
                <a:latin typeface="Myriad Pro"/>
              </a:rPr>
              <a:t>MOe</a:t>
            </a:r>
            <a:r>
              <a:rPr lang="fr-FR" sz="900">
                <a:solidFill>
                  <a:schemeClr val="tx1"/>
                </a:solidFill>
                <a:latin typeface="Myriad Pro"/>
              </a:rPr>
              <a:t> – Proposition de solutions – Conseil </a:t>
            </a:r>
          </a:p>
          <a:p>
            <a:r>
              <a:rPr lang="fr-FR" sz="900">
                <a:solidFill>
                  <a:schemeClr val="tx1"/>
                </a:solidFill>
                <a:latin typeface="Myriad Pro"/>
              </a:rPr>
              <a:t>Gestion de patrimoine – </a:t>
            </a:r>
            <a:r>
              <a:rPr lang="fr-FR" sz="900" err="1">
                <a:solidFill>
                  <a:schemeClr val="tx1"/>
                </a:solidFill>
                <a:latin typeface="Myriad Pro"/>
              </a:rPr>
              <a:t>MOu</a:t>
            </a:r>
            <a:endParaRPr lang="fr-FR" sz="900" err="1">
              <a:solidFill>
                <a:schemeClr val="tx1"/>
              </a:solidFill>
              <a:latin typeface="Myriad Pro" panose="020B0503030403020204" pitchFamily="34" charset="0"/>
            </a:endParaRPr>
          </a:p>
          <a:p>
            <a:endParaRPr lang="fr-FR" sz="900">
              <a:solidFill>
                <a:schemeClr val="tx1"/>
              </a:solidFill>
              <a:latin typeface="Myriad Pro" panose="020B0503030403020204" pitchFamily="34" charset="0"/>
            </a:endParaRPr>
          </a:p>
          <a:p>
            <a:endParaRPr lang="fr-FR" sz="900">
              <a:solidFill>
                <a:schemeClr val="tx1"/>
              </a:solidFill>
              <a:latin typeface="Myriad Pro" panose="020B0503030403020204" pitchFamily="34" charset="0"/>
            </a:endParaRPr>
          </a:p>
        </p:txBody>
      </p:sp>
      <p:sp>
        <p:nvSpPr>
          <p:cNvPr id="12" name="ZoneTexte 11">
            <a:extLst>
              <a:ext uri="{FF2B5EF4-FFF2-40B4-BE49-F238E27FC236}">
                <a16:creationId xmlns:a16="http://schemas.microsoft.com/office/drawing/2014/main" id="{EA0BF5BA-02F0-CAEF-B55D-D10743D07B41}"/>
              </a:ext>
            </a:extLst>
          </p:cNvPr>
          <p:cNvSpPr txBox="1"/>
          <p:nvPr/>
        </p:nvSpPr>
        <p:spPr>
          <a:xfrm>
            <a:off x="115171" y="1980480"/>
            <a:ext cx="1880643" cy="253916"/>
          </a:xfrm>
          <a:prstGeom prst="rect">
            <a:avLst/>
          </a:prstGeom>
          <a:noFill/>
        </p:spPr>
        <p:txBody>
          <a:bodyPr wrap="none" rtlCol="0">
            <a:spAutoFit/>
          </a:bodyPr>
          <a:lstStyle/>
          <a:p>
            <a:r>
              <a:rPr lang="fr-FR" sz="1050" b="1">
                <a:latin typeface="Myriad Pro" panose="020B0503030403020204" pitchFamily="34" charset="0"/>
              </a:rPr>
              <a:t>Situations professionnelles</a:t>
            </a:r>
          </a:p>
        </p:txBody>
      </p:sp>
      <p:sp>
        <p:nvSpPr>
          <p:cNvPr id="27" name="Rectangle 26">
            <a:extLst>
              <a:ext uri="{FF2B5EF4-FFF2-40B4-BE49-F238E27FC236}">
                <a16:creationId xmlns:a16="http://schemas.microsoft.com/office/drawing/2014/main" id="{AB8DDAEA-5EAB-8B33-030A-71CEA82ABC09}"/>
              </a:ext>
            </a:extLst>
          </p:cNvPr>
          <p:cNvSpPr/>
          <p:nvPr/>
        </p:nvSpPr>
        <p:spPr>
          <a:xfrm>
            <a:off x="2066564" y="3709551"/>
            <a:ext cx="4689078" cy="1078725"/>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fr-FR" sz="900">
              <a:solidFill>
                <a:schemeClr val="tx1"/>
              </a:solidFill>
              <a:latin typeface="Myriad Pro" panose="020B0503030403020204" pitchFamily="34" charset="0"/>
            </a:endParaRPr>
          </a:p>
        </p:txBody>
      </p:sp>
      <p:sp>
        <p:nvSpPr>
          <p:cNvPr id="28" name="Rectangle 27">
            <a:extLst>
              <a:ext uri="{FF2B5EF4-FFF2-40B4-BE49-F238E27FC236}">
                <a16:creationId xmlns:a16="http://schemas.microsoft.com/office/drawing/2014/main" id="{CDB6D710-E0A0-E469-2EC9-0C7D72E6CC9D}"/>
              </a:ext>
            </a:extLst>
          </p:cNvPr>
          <p:cNvSpPr/>
          <p:nvPr/>
        </p:nvSpPr>
        <p:spPr>
          <a:xfrm>
            <a:off x="2066564" y="4843696"/>
            <a:ext cx="4689078" cy="1207691"/>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fr-FR" sz="900">
              <a:solidFill>
                <a:schemeClr val="tx1"/>
              </a:solidFill>
              <a:latin typeface="Myriad Pro" panose="020B0503030403020204" pitchFamily="34" charset="0"/>
            </a:endParaRPr>
          </a:p>
        </p:txBody>
      </p:sp>
      <p:sp>
        <p:nvSpPr>
          <p:cNvPr id="29" name="Rectangle 28">
            <a:extLst>
              <a:ext uri="{FF2B5EF4-FFF2-40B4-BE49-F238E27FC236}">
                <a16:creationId xmlns:a16="http://schemas.microsoft.com/office/drawing/2014/main" id="{5471F8F7-3B12-EC8D-4424-D149104818B2}"/>
              </a:ext>
            </a:extLst>
          </p:cNvPr>
          <p:cNvSpPr/>
          <p:nvPr/>
        </p:nvSpPr>
        <p:spPr>
          <a:xfrm>
            <a:off x="2066564" y="6106807"/>
            <a:ext cx="4689078" cy="1207691"/>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fr-FR" sz="900">
              <a:solidFill>
                <a:schemeClr val="tx1"/>
              </a:solidFill>
              <a:latin typeface="Myriad Pro" panose="020B0503030403020204" pitchFamily="34" charset="0"/>
            </a:endParaRPr>
          </a:p>
        </p:txBody>
      </p:sp>
      <p:grpSp>
        <p:nvGrpSpPr>
          <p:cNvPr id="6" name="Groupe 5">
            <a:extLst>
              <a:ext uri="{FF2B5EF4-FFF2-40B4-BE49-F238E27FC236}">
                <a16:creationId xmlns:a16="http://schemas.microsoft.com/office/drawing/2014/main" id="{2BA9DC19-8C43-2F07-D6C3-D9FBD553DB6B}"/>
              </a:ext>
            </a:extLst>
          </p:cNvPr>
          <p:cNvGrpSpPr/>
          <p:nvPr/>
        </p:nvGrpSpPr>
        <p:grpSpPr>
          <a:xfrm>
            <a:off x="115171" y="3709551"/>
            <a:ext cx="1850572" cy="3955093"/>
            <a:chOff x="2638730" y="3612188"/>
            <a:chExt cx="1850572" cy="3955093"/>
          </a:xfrm>
        </p:grpSpPr>
        <p:sp>
          <p:nvSpPr>
            <p:cNvPr id="8" name="Chevron 7">
              <a:extLst>
                <a:ext uri="{FF2B5EF4-FFF2-40B4-BE49-F238E27FC236}">
                  <a16:creationId xmlns:a16="http://schemas.microsoft.com/office/drawing/2014/main" id="{77AB3678-109B-F125-2779-B4B152E962B3}"/>
                </a:ext>
              </a:extLst>
            </p:cNvPr>
            <p:cNvSpPr/>
            <p:nvPr/>
          </p:nvSpPr>
          <p:spPr>
            <a:xfrm rot="5400000">
              <a:off x="2788216" y="4596848"/>
              <a:ext cx="1551600" cy="1850571"/>
            </a:xfrm>
            <a:prstGeom prst="chevron">
              <a:avLst>
                <a:gd name="adj" fmla="val 21677"/>
              </a:avLst>
            </a:prstGeom>
            <a:solidFill>
              <a:schemeClr val="accent4">
                <a:lumMod val="40000"/>
                <a:lumOff val="6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0" name="Chevron 9">
              <a:extLst>
                <a:ext uri="{FF2B5EF4-FFF2-40B4-BE49-F238E27FC236}">
                  <a16:creationId xmlns:a16="http://schemas.microsoft.com/office/drawing/2014/main" id="{C545B399-7E15-DA81-2411-FD1AF0EFFFCD}"/>
                </a:ext>
              </a:extLst>
            </p:cNvPr>
            <p:cNvSpPr/>
            <p:nvPr/>
          </p:nvSpPr>
          <p:spPr>
            <a:xfrm rot="5400000">
              <a:off x="2788216" y="5866195"/>
              <a:ext cx="1551600" cy="1850571"/>
            </a:xfrm>
            <a:prstGeom prst="chevron">
              <a:avLst>
                <a:gd name="adj" fmla="val 21677"/>
              </a:avLst>
            </a:prstGeom>
            <a:solidFill>
              <a:schemeClr val="accent4">
                <a:lumMod val="60000"/>
                <a:lumOff val="4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3" name="Signalisation droite 12">
              <a:extLst>
                <a:ext uri="{FF2B5EF4-FFF2-40B4-BE49-F238E27FC236}">
                  <a16:creationId xmlns:a16="http://schemas.microsoft.com/office/drawing/2014/main" id="{869B42AE-192E-30A2-CA01-FAE5B6ED176C}"/>
                </a:ext>
              </a:extLst>
            </p:cNvPr>
            <p:cNvSpPr/>
            <p:nvPr/>
          </p:nvSpPr>
          <p:spPr>
            <a:xfrm rot="5400000">
              <a:off x="2855409" y="3395510"/>
              <a:ext cx="1417215" cy="1850571"/>
            </a:xfrm>
            <a:prstGeom prst="homePlate">
              <a:avLst>
                <a:gd name="adj" fmla="val 23531"/>
              </a:avLst>
            </a:prstGeom>
            <a:solidFill>
              <a:schemeClr val="accent4">
                <a:lumMod val="20000"/>
                <a:lumOff val="8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200">
                <a:latin typeface="Myriad Pro" panose="020B0503030403020204" pitchFamily="34" charset="0"/>
              </a:endParaRPr>
            </a:p>
          </p:txBody>
        </p:sp>
      </p:grpSp>
      <p:sp>
        <p:nvSpPr>
          <p:cNvPr id="14" name="ZoneTexte 13">
            <a:extLst>
              <a:ext uri="{FF2B5EF4-FFF2-40B4-BE49-F238E27FC236}">
                <a16:creationId xmlns:a16="http://schemas.microsoft.com/office/drawing/2014/main" id="{A9010F20-576C-4615-CAFD-D7C2E038ABC5}"/>
              </a:ext>
            </a:extLst>
          </p:cNvPr>
          <p:cNvSpPr txBox="1"/>
          <p:nvPr/>
        </p:nvSpPr>
        <p:spPr>
          <a:xfrm>
            <a:off x="115171" y="3692721"/>
            <a:ext cx="1850572" cy="646331"/>
          </a:xfrm>
          <a:prstGeom prst="rect">
            <a:avLst/>
          </a:prstGeom>
          <a:noFill/>
        </p:spPr>
        <p:txBody>
          <a:bodyPr wrap="square" lIns="91440" tIns="45720" rIns="91440" bIns="45720" rtlCol="0" anchor="t">
            <a:spAutoFit/>
          </a:bodyPr>
          <a:lstStyle/>
          <a:p>
            <a:pPr algn="ctr"/>
            <a:r>
              <a:rPr lang="fr-FR" sz="1200" b="1" dirty="0">
                <a:latin typeface="Myriad Pro"/>
              </a:rPr>
              <a:t>Niveau 1</a:t>
            </a:r>
          </a:p>
          <a:p>
            <a:pPr algn="ctr"/>
            <a:endParaRPr lang="fr-FR" sz="1200">
              <a:latin typeface="Myriad Pro" panose="020B0503030403020204" pitchFamily="34" charset="0"/>
            </a:endParaRPr>
          </a:p>
          <a:p>
            <a:pPr algn="ctr"/>
            <a:r>
              <a:rPr lang="fr-FR" sz="1200" dirty="0">
                <a:latin typeface="Myriad Pro"/>
              </a:rPr>
              <a:t>Évaluation</a:t>
            </a:r>
            <a:endParaRPr lang="fr-FR" sz="1200" dirty="0">
              <a:latin typeface="Myriad Pro" panose="020B0503030403020204" pitchFamily="34" charset="0"/>
            </a:endParaRPr>
          </a:p>
        </p:txBody>
      </p:sp>
      <p:sp>
        <p:nvSpPr>
          <p:cNvPr id="15" name="ZoneTexte 14">
            <a:extLst>
              <a:ext uri="{FF2B5EF4-FFF2-40B4-BE49-F238E27FC236}">
                <a16:creationId xmlns:a16="http://schemas.microsoft.com/office/drawing/2014/main" id="{E92A6767-BEC8-73FB-0CBD-5BC233E484A5}"/>
              </a:ext>
            </a:extLst>
          </p:cNvPr>
          <p:cNvSpPr txBox="1"/>
          <p:nvPr/>
        </p:nvSpPr>
        <p:spPr>
          <a:xfrm>
            <a:off x="115171" y="5153040"/>
            <a:ext cx="1850572" cy="646331"/>
          </a:xfrm>
          <a:prstGeom prst="rect">
            <a:avLst/>
          </a:prstGeom>
          <a:noFill/>
        </p:spPr>
        <p:txBody>
          <a:bodyPr wrap="square" lIns="91440" tIns="45720" rIns="91440" bIns="45720" rtlCol="0" anchor="t">
            <a:spAutoFit/>
          </a:bodyPr>
          <a:lstStyle/>
          <a:p>
            <a:pPr algn="ctr"/>
            <a:r>
              <a:rPr lang="fr-FR" sz="1200" b="1" dirty="0">
                <a:latin typeface="Myriad Pro"/>
              </a:rPr>
              <a:t>Niveau 2</a:t>
            </a:r>
          </a:p>
          <a:p>
            <a:pPr algn="ctr"/>
            <a:endParaRPr lang="fr-FR" sz="1200">
              <a:latin typeface="Myriad Pro" panose="020B0503030403020204" pitchFamily="34" charset="0"/>
            </a:endParaRPr>
          </a:p>
          <a:p>
            <a:pPr algn="ctr"/>
            <a:r>
              <a:rPr lang="fr-FR" sz="1200" dirty="0">
                <a:latin typeface="Myriad Pro"/>
              </a:rPr>
              <a:t>Conception</a:t>
            </a:r>
            <a:endParaRPr lang="fr-FR" sz="1200" dirty="0">
              <a:latin typeface="Myriad Pro" panose="020B0503030403020204" pitchFamily="34" charset="0"/>
            </a:endParaRPr>
          </a:p>
        </p:txBody>
      </p:sp>
      <p:sp>
        <p:nvSpPr>
          <p:cNvPr id="16" name="ZoneTexte 15">
            <a:extLst>
              <a:ext uri="{FF2B5EF4-FFF2-40B4-BE49-F238E27FC236}">
                <a16:creationId xmlns:a16="http://schemas.microsoft.com/office/drawing/2014/main" id="{5A8468A6-FBAF-9CD0-C2AD-314A992AC17A}"/>
              </a:ext>
            </a:extLst>
          </p:cNvPr>
          <p:cNvSpPr txBox="1"/>
          <p:nvPr/>
        </p:nvSpPr>
        <p:spPr>
          <a:xfrm>
            <a:off x="102358" y="6429491"/>
            <a:ext cx="1850572" cy="830997"/>
          </a:xfrm>
          <a:prstGeom prst="rect">
            <a:avLst/>
          </a:prstGeom>
          <a:noFill/>
        </p:spPr>
        <p:txBody>
          <a:bodyPr wrap="square" lIns="91440" tIns="45720" rIns="91440" bIns="45720" rtlCol="0" anchor="t">
            <a:spAutoFit/>
          </a:bodyPr>
          <a:lstStyle/>
          <a:p>
            <a:pPr algn="ctr"/>
            <a:r>
              <a:rPr lang="fr-FR" sz="1200" b="1" dirty="0">
                <a:latin typeface="Myriad Pro"/>
              </a:rPr>
              <a:t>Niveau 3</a:t>
            </a:r>
          </a:p>
          <a:p>
            <a:pPr algn="ctr"/>
            <a:endParaRPr lang="fr-FR" sz="1200">
              <a:latin typeface="Myriad Pro" panose="020B0503030403020204" pitchFamily="34" charset="0"/>
            </a:endParaRPr>
          </a:p>
          <a:p>
            <a:pPr algn="ctr"/>
            <a:r>
              <a:rPr lang="fr-FR" sz="1200" dirty="0">
                <a:latin typeface="Myriad Pro"/>
              </a:rPr>
              <a:t>Amélioration et maintenance</a:t>
            </a:r>
            <a:endParaRPr lang="fr-FR" sz="1200" dirty="0">
              <a:latin typeface="Myriad Pro" panose="020B0503030403020204" pitchFamily="34" charset="0"/>
            </a:endParaRPr>
          </a:p>
        </p:txBody>
      </p:sp>
      <p:sp>
        <p:nvSpPr>
          <p:cNvPr id="3" name="ZoneTexte 2">
            <a:extLst>
              <a:ext uri="{FF2B5EF4-FFF2-40B4-BE49-F238E27FC236}">
                <a16:creationId xmlns:a16="http://schemas.microsoft.com/office/drawing/2014/main" id="{C05BC66E-038E-6729-98EE-570916A290C1}"/>
              </a:ext>
            </a:extLst>
          </p:cNvPr>
          <p:cNvSpPr txBox="1"/>
          <p:nvPr/>
        </p:nvSpPr>
        <p:spPr>
          <a:xfrm>
            <a:off x="1965743" y="3384089"/>
            <a:ext cx="3657506" cy="338554"/>
          </a:xfrm>
          <a:prstGeom prst="rect">
            <a:avLst/>
          </a:prstGeom>
          <a:noFill/>
        </p:spPr>
        <p:txBody>
          <a:bodyPr wrap="square">
            <a:spAutoFit/>
          </a:bodyPr>
          <a:lstStyle/>
          <a:p>
            <a:pPr lvl="0"/>
            <a:r>
              <a:rPr lang="fr-FR" sz="1600" b="1" i="1"/>
              <a:t>Apprentissages critiques</a:t>
            </a:r>
          </a:p>
        </p:txBody>
      </p:sp>
      <p:sp>
        <p:nvSpPr>
          <p:cNvPr id="2" name="Rectangle 1">
            <a:extLst>
              <a:ext uri="{FF2B5EF4-FFF2-40B4-BE49-F238E27FC236}">
                <a16:creationId xmlns:a16="http://schemas.microsoft.com/office/drawing/2014/main" id="{120BE6C5-C445-D8AB-4C49-F06327F3D35A}"/>
              </a:ext>
            </a:extLst>
          </p:cNvPr>
          <p:cNvSpPr/>
          <p:nvPr/>
        </p:nvSpPr>
        <p:spPr>
          <a:xfrm>
            <a:off x="115172" y="561160"/>
            <a:ext cx="1850571" cy="1328057"/>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150000"/>
              </a:lnSpc>
              <a:spcAft>
                <a:spcPts val="600"/>
              </a:spcAft>
            </a:pPr>
            <a:r>
              <a:rPr lang="fr-FR" sz="900" b="1" cap="all" dirty="0">
                <a:solidFill>
                  <a:schemeClr val="bg1"/>
                </a:solidFill>
                <a:latin typeface="Myriad Pro"/>
                <a:cs typeface="Segoe UI"/>
              </a:rPr>
              <a:t>Intégrer des solutions durables adaptées au cycle de vie du bâtiment</a:t>
            </a:r>
            <a:endParaRPr lang="fr-FR" b="1" dirty="0">
              <a:solidFill>
                <a:schemeClr val="bg1"/>
              </a:solidFill>
              <a:latin typeface="Myriad Pro"/>
            </a:endParaRPr>
          </a:p>
          <a:p>
            <a:pPr algn="ctr">
              <a:spcAft>
                <a:spcPts val="600"/>
              </a:spcAft>
            </a:pPr>
            <a:r>
              <a:rPr lang="fr-FR" sz="1200" cap="all" dirty="0" err="1">
                <a:latin typeface="Myriad Pro"/>
              </a:rPr>
              <a:t>Ref</a:t>
            </a:r>
            <a:r>
              <a:rPr lang="fr-FR" sz="1200" cap="all" dirty="0">
                <a:latin typeface="Myriad Pro"/>
              </a:rPr>
              <a:t> RNCP</a:t>
            </a:r>
            <a:endParaRPr lang="fr-FR" sz="1200" dirty="0">
              <a:latin typeface="Myriad Pro"/>
            </a:endParaRPr>
          </a:p>
        </p:txBody>
      </p:sp>
      <p:sp>
        <p:nvSpPr>
          <p:cNvPr id="7" name="Rectangle 6">
            <a:extLst>
              <a:ext uri="{FF2B5EF4-FFF2-40B4-BE49-F238E27FC236}">
                <a16:creationId xmlns:a16="http://schemas.microsoft.com/office/drawing/2014/main" id="{C7304A67-8B2E-B3E3-31CF-722C5F9D66A3}"/>
              </a:ext>
            </a:extLst>
          </p:cNvPr>
          <p:cNvSpPr/>
          <p:nvPr/>
        </p:nvSpPr>
        <p:spPr>
          <a:xfrm>
            <a:off x="2066564" y="555115"/>
            <a:ext cx="4682781" cy="1551476"/>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r>
              <a:rPr lang="fr-FR" sz="1200">
                <a:solidFill>
                  <a:schemeClr val="tx1"/>
                </a:solidFill>
                <a:latin typeface="Myriad Pro"/>
              </a:rPr>
              <a:t>Composantes essentielles</a:t>
            </a:r>
          </a:p>
          <a:p>
            <a:r>
              <a:rPr lang="fr-FR" sz="900">
                <a:solidFill>
                  <a:schemeClr val="tx1"/>
                </a:solidFill>
                <a:ea typeface="Calibri"/>
                <a:cs typeface="Calibri"/>
              </a:rPr>
              <a:t>…    En prenant en compte les aspects écologiques, sociétaux et économiques</a:t>
            </a:r>
          </a:p>
          <a:p>
            <a:pPr marL="171450" indent="-171450">
              <a:buChar char="…"/>
            </a:pPr>
            <a:r>
              <a:rPr lang="fr-FR" sz="900">
                <a:solidFill>
                  <a:schemeClr val="tx1"/>
                </a:solidFill>
                <a:ea typeface="Calibri"/>
                <a:cs typeface="Calibri"/>
              </a:rPr>
              <a:t>En</a:t>
            </a:r>
            <a:r>
              <a:rPr lang="fr-FR" sz="900">
                <a:solidFill>
                  <a:schemeClr val="tx1"/>
                </a:solidFill>
              </a:rPr>
              <a:t> utilisant les outils numériques et les bases de données (CSTB, </a:t>
            </a:r>
            <a:r>
              <a:rPr lang="fr-FR" sz="900" err="1">
                <a:solidFill>
                  <a:schemeClr val="tx1"/>
                </a:solidFill>
              </a:rPr>
              <a:t>Copernicus</a:t>
            </a:r>
            <a:r>
              <a:rPr lang="fr-FR" sz="900">
                <a:solidFill>
                  <a:schemeClr val="tx1"/>
                </a:solidFill>
              </a:rPr>
              <a:t>, etc.) adaptés</a:t>
            </a:r>
            <a:endParaRPr lang="fr-FR" sz="900">
              <a:solidFill>
                <a:schemeClr val="tx1"/>
              </a:solidFill>
              <a:ea typeface="Calibri"/>
              <a:cs typeface="Calibri"/>
            </a:endParaRPr>
          </a:p>
          <a:p>
            <a:pPr marL="171450" indent="-171450">
              <a:buFontTx/>
              <a:buChar char="…"/>
            </a:pPr>
            <a:r>
              <a:rPr lang="fr-FR" sz="900">
                <a:solidFill>
                  <a:schemeClr val="tx1"/>
                </a:solidFill>
                <a:ea typeface="Calibri"/>
                <a:cs typeface="Calibri"/>
              </a:rPr>
              <a:t>En justifiant les hypothèses du périmètre d'étude de manière pertinente</a:t>
            </a:r>
          </a:p>
          <a:p>
            <a:pPr marL="171450" indent="-171450">
              <a:buFontTx/>
              <a:buChar char="…"/>
            </a:pPr>
            <a:r>
              <a:rPr lang="fr-FR" sz="900">
                <a:solidFill>
                  <a:schemeClr val="tx1"/>
                </a:solidFill>
                <a:ea typeface="Calibri"/>
                <a:cs typeface="Calibri"/>
              </a:rPr>
              <a:t>En</a:t>
            </a:r>
            <a:r>
              <a:rPr lang="fr-FR" sz="900">
                <a:solidFill>
                  <a:schemeClr val="tx1"/>
                </a:solidFill>
              </a:rPr>
              <a:t> proposant des solutions pertinentes visant à réduire l’impact environnemental</a:t>
            </a:r>
          </a:p>
          <a:p>
            <a:pPr marL="171450" indent="-171450">
              <a:buFontTx/>
              <a:buChar char="…"/>
            </a:pPr>
            <a:r>
              <a:rPr lang="fr-FR" sz="900">
                <a:solidFill>
                  <a:schemeClr val="tx1"/>
                </a:solidFill>
              </a:rPr>
              <a:t>En</a:t>
            </a:r>
            <a:r>
              <a:rPr lang="fr-FR" sz="900">
                <a:solidFill>
                  <a:schemeClr val="tx1"/>
                </a:solidFill>
                <a:ea typeface="Calibri"/>
                <a:cs typeface="Calibri"/>
              </a:rPr>
              <a:t> respectant les normes et les réglementations en vigueur spécifiques au cycle de vie</a:t>
            </a:r>
          </a:p>
          <a:p>
            <a:pPr marL="171450" indent="-171450">
              <a:buFontTx/>
              <a:buChar char="…"/>
            </a:pPr>
            <a:r>
              <a:rPr lang="fr-FR" sz="900">
                <a:solidFill>
                  <a:schemeClr val="tx1"/>
                </a:solidFill>
                <a:ea typeface="Calibri"/>
                <a:cs typeface="Calibri"/>
              </a:rPr>
              <a:t>En adaptant efficacement sa communication aux différentes parties prenantes</a:t>
            </a:r>
            <a:endParaRPr lang="fr-FR">
              <a:solidFill>
                <a:schemeClr val="tx1"/>
              </a:solidFill>
            </a:endParaRPr>
          </a:p>
        </p:txBody>
      </p:sp>
      <p:sp>
        <p:nvSpPr>
          <p:cNvPr id="5" name="ZoneTexte 4">
            <a:extLst>
              <a:ext uri="{FF2B5EF4-FFF2-40B4-BE49-F238E27FC236}">
                <a16:creationId xmlns:a16="http://schemas.microsoft.com/office/drawing/2014/main" id="{F50D7F8F-27FF-C154-418D-1A59893B8DEA}"/>
              </a:ext>
            </a:extLst>
          </p:cNvPr>
          <p:cNvSpPr txBox="1"/>
          <p:nvPr/>
        </p:nvSpPr>
        <p:spPr>
          <a:xfrm>
            <a:off x="2064873" y="3741418"/>
            <a:ext cx="465738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000">
                <a:ea typeface="Calibri"/>
                <a:cs typeface="Calibri"/>
              </a:rPr>
              <a:t>Évaluer l'empreinte environnementale (bilan carbone, ACV)</a:t>
            </a:r>
            <a:endParaRPr lang="en-US">
              <a:ea typeface="Calibri"/>
              <a:cs typeface="Calibri"/>
            </a:endParaRPr>
          </a:p>
          <a:p>
            <a:r>
              <a:rPr lang="fr-FR" sz="1000">
                <a:ea typeface="Calibri"/>
                <a:cs typeface="Calibri"/>
              </a:rPr>
              <a:t>Proposer des actions en vue de répondre aux exigences de stratégies bas carbone</a:t>
            </a:r>
          </a:p>
          <a:p>
            <a:r>
              <a:rPr lang="fr-FR" sz="1000">
                <a:ea typeface="Calibri"/>
                <a:cs typeface="Calibri"/>
              </a:rPr>
              <a:t>Sélectionner des matériaux </a:t>
            </a:r>
            <a:r>
              <a:rPr lang="fr-FR" sz="1000" err="1">
                <a:ea typeface="Calibri"/>
                <a:cs typeface="Calibri"/>
              </a:rPr>
              <a:t>bio-sourcés</a:t>
            </a:r>
            <a:r>
              <a:rPr lang="fr-FR" sz="1000">
                <a:ea typeface="Calibri"/>
                <a:cs typeface="Calibri"/>
              </a:rPr>
              <a:t> et des systèmes performants</a:t>
            </a:r>
            <a:endParaRPr lang="fr-FR">
              <a:ea typeface="Calibri"/>
              <a:cs typeface="Calibri"/>
            </a:endParaRPr>
          </a:p>
          <a:p>
            <a:r>
              <a:rPr lang="fr-FR" sz="1000">
                <a:ea typeface="Calibri"/>
                <a:cs typeface="Calibri"/>
              </a:rPr>
              <a:t>Réaliser une analyse multicritère  </a:t>
            </a:r>
            <a:endParaRPr lang="fr-FR">
              <a:ea typeface="Calibri"/>
              <a:cs typeface="Calibri"/>
            </a:endParaRPr>
          </a:p>
        </p:txBody>
      </p:sp>
      <p:sp>
        <p:nvSpPr>
          <p:cNvPr id="11" name="ZoneTexte 10">
            <a:extLst>
              <a:ext uri="{FF2B5EF4-FFF2-40B4-BE49-F238E27FC236}">
                <a16:creationId xmlns:a16="http://schemas.microsoft.com/office/drawing/2014/main" id="{50FC7A6B-D196-5678-86B9-2058B4B47740}"/>
              </a:ext>
            </a:extLst>
          </p:cNvPr>
          <p:cNvSpPr txBox="1"/>
          <p:nvPr/>
        </p:nvSpPr>
        <p:spPr>
          <a:xfrm>
            <a:off x="2071171" y="4839159"/>
            <a:ext cx="4671151"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000">
                <a:ea typeface="Calibri"/>
                <a:cs typeface="Calibri"/>
              </a:rPr>
              <a:t>Appliquer la règlementation thermique et environnementale pour le neuf (RE2020) et pour la rénovation (</a:t>
            </a:r>
            <a:r>
              <a:rPr lang="fr-FR" sz="1000" err="1">
                <a:ea typeface="Calibri"/>
                <a:cs typeface="Calibri"/>
              </a:rPr>
              <a:t>RTex</a:t>
            </a:r>
            <a:r>
              <a:rPr lang="fr-FR" sz="1000">
                <a:ea typeface="Calibri"/>
                <a:cs typeface="Calibri"/>
              </a:rPr>
              <a:t>)</a:t>
            </a:r>
            <a:endParaRPr lang="fr-FR"/>
          </a:p>
          <a:p>
            <a:r>
              <a:rPr lang="fr-FR" sz="1000" dirty="0">
                <a:ea typeface="Calibri"/>
                <a:cs typeface="Calibri"/>
              </a:rPr>
              <a:t>Évaluer la rentabilité économique de différentes solutions</a:t>
            </a:r>
          </a:p>
          <a:p>
            <a:r>
              <a:rPr lang="fr-FR" sz="1000" dirty="0">
                <a:ea typeface="Calibri"/>
                <a:cs typeface="Calibri"/>
              </a:rPr>
              <a:t>Mettre en œuvre des process de commissionnement pour la gestion durable du bâtiment</a:t>
            </a:r>
            <a:endParaRPr lang="fr-FR" dirty="0">
              <a:ea typeface="Calibri"/>
              <a:cs typeface="Calibri"/>
            </a:endParaRPr>
          </a:p>
        </p:txBody>
      </p:sp>
      <p:sp>
        <p:nvSpPr>
          <p:cNvPr id="17" name="ZoneTexte 16">
            <a:extLst>
              <a:ext uri="{FF2B5EF4-FFF2-40B4-BE49-F238E27FC236}">
                <a16:creationId xmlns:a16="http://schemas.microsoft.com/office/drawing/2014/main" id="{56DC9412-3EC4-1885-2FBB-E5A620AB347B}"/>
              </a:ext>
            </a:extLst>
          </p:cNvPr>
          <p:cNvSpPr txBox="1"/>
          <p:nvPr/>
        </p:nvSpPr>
        <p:spPr>
          <a:xfrm>
            <a:off x="2071171" y="6064786"/>
            <a:ext cx="4657380" cy="17851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000">
                <a:ea typeface="Calibri"/>
                <a:cs typeface="Calibri"/>
              </a:rPr>
              <a:t>Mettre en œuvre des scénarios de gestion durable du bâtiment</a:t>
            </a:r>
          </a:p>
          <a:p>
            <a:r>
              <a:rPr lang="fr-FR" sz="1000">
                <a:ea typeface="Calibri"/>
                <a:cs typeface="Calibri"/>
              </a:rPr>
              <a:t>Comparer l'empreinte environnementale de différentes variantes</a:t>
            </a:r>
          </a:p>
          <a:p>
            <a:r>
              <a:rPr lang="fr-FR" sz="1000">
                <a:ea typeface="Calibri"/>
                <a:cs typeface="Calibri"/>
              </a:rPr>
              <a:t>Participer au montage d'un plan pluriannuel de maintenance </a:t>
            </a:r>
          </a:p>
          <a:p>
            <a:r>
              <a:rPr lang="fr-FR" sz="1000">
                <a:ea typeface="Calibri"/>
                <a:cs typeface="Calibri"/>
              </a:rPr>
              <a:t>(grille de priorisation, listes de vérifications et d'inspection, fiches entretiens préventifs, mise à jour fiches de prévention)</a:t>
            </a:r>
            <a:endParaRPr lang="fr-FR"/>
          </a:p>
          <a:p>
            <a:r>
              <a:rPr lang="fr-FR" sz="1000">
                <a:ea typeface="Calibri"/>
                <a:cs typeface="Calibri"/>
              </a:rPr>
              <a:t>Participer à la rédaction d'un plan de commissionnement </a:t>
            </a:r>
          </a:p>
          <a:p>
            <a:r>
              <a:rPr lang="fr-FR" sz="1000">
                <a:ea typeface="Calibri"/>
                <a:cs typeface="Calibri"/>
              </a:rPr>
              <a:t>(application méthode RACI, plan de documentation, tableau d'analyses et de vérifications)</a:t>
            </a:r>
            <a:endParaRPr lang="fr-FR"/>
          </a:p>
          <a:p>
            <a:endParaRPr lang="fr-FR" sz="1000">
              <a:ea typeface="Calibri"/>
              <a:cs typeface="Calibri"/>
            </a:endParaRPr>
          </a:p>
          <a:p>
            <a:endParaRPr lang="fr-FR" sz="1000">
              <a:ea typeface="Calibri"/>
              <a:cs typeface="Calibri"/>
            </a:endParaRPr>
          </a:p>
          <a:p>
            <a:endParaRPr lang="fr-FR" sz="1000">
              <a:ea typeface="Calibri"/>
              <a:cs typeface="Calibri"/>
            </a:endParaRPr>
          </a:p>
        </p:txBody>
      </p:sp>
    </p:spTree>
    <p:extLst>
      <p:ext uri="{BB962C8B-B14F-4D97-AF65-F5344CB8AC3E}">
        <p14:creationId xmlns:p14="http://schemas.microsoft.com/office/powerpoint/2010/main" val="2782022595"/>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64984f8b-2057-4450-93f2-8aa5e6a062ce" xsi:nil="true"/>
    <lcf76f155ced4ddcb4097134ff3c332f xmlns="5a932de8-014e-4395-a210-acace869bdb6">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7AAB16D528BF942AE30C8F5FA7E5E16" ma:contentTypeVersion="13" ma:contentTypeDescription="Create a new document." ma:contentTypeScope="" ma:versionID="2dfcd33df7f21bc1d96cac68e309c354">
  <xsd:schema xmlns:xsd="http://www.w3.org/2001/XMLSchema" xmlns:xs="http://www.w3.org/2001/XMLSchema" xmlns:p="http://schemas.microsoft.com/office/2006/metadata/properties" xmlns:ns2="5a932de8-014e-4395-a210-acace869bdb6" xmlns:ns3="64984f8b-2057-4450-93f2-8aa5e6a062ce" targetNamespace="http://schemas.microsoft.com/office/2006/metadata/properties" ma:root="true" ma:fieldsID="5e67dd59e0820bf22da62f711b406a14" ns2:_="" ns3:_="">
    <xsd:import namespace="5a932de8-014e-4395-a210-acace869bdb6"/>
    <xsd:import namespace="64984f8b-2057-4450-93f2-8aa5e6a062ce"/>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932de8-014e-4395-a210-acace869bdb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88c3168-a240-49a5-981b-89ab6abaef89"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4984f8b-2057-4450-93f2-8aa5e6a062ce"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554f566a-5540-4206-a119-8720727d0e6a}" ma:internalName="TaxCatchAll" ma:showField="CatchAllData" ma:web="64984f8b-2057-4450-93f2-8aa5e6a062c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43EB76E-1977-4358-9476-A01071CF8D75}">
  <ds:schemaRefs>
    <ds:schemaRef ds:uri="http://schemas.microsoft.com/sharepoint/v3/contenttype/forms"/>
  </ds:schemaRefs>
</ds:datastoreItem>
</file>

<file path=customXml/itemProps2.xml><?xml version="1.0" encoding="utf-8"?>
<ds:datastoreItem xmlns:ds="http://schemas.openxmlformats.org/officeDocument/2006/customXml" ds:itemID="{A72CD76F-F2B9-4EF5-AD99-5CCCFD0C68F4}">
  <ds:schemaRefs>
    <ds:schemaRef ds:uri="5a932de8-014e-4395-a210-acace869bdb6"/>
    <ds:schemaRef ds:uri="64984f8b-2057-4450-93f2-8aa5e6a062ce"/>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DD6BA01C-E581-4F87-A633-7D65138B8536}"/>
</file>

<file path=docProps/app.xml><?xml version="1.0" encoding="utf-8"?>
<Properties xmlns="http://schemas.openxmlformats.org/officeDocument/2006/extended-properties" xmlns:vt="http://schemas.openxmlformats.org/officeDocument/2006/docPropsVTypes">
  <Template>Office 2013 - 2022 Theme</Template>
  <TotalTime>0</TotalTime>
  <Words>1052</Words>
  <Application>Microsoft Macintosh PowerPoint</Application>
  <PresentationFormat>Affichage à l'écran (4:3)</PresentationFormat>
  <Paragraphs>144</Paragraphs>
  <Slides>5</Slides>
  <Notes>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5</vt:i4>
      </vt:variant>
    </vt:vector>
  </HeadingPairs>
  <TitlesOfParts>
    <vt:vector size="13" baseType="lpstr">
      <vt:lpstr>Aptos</vt:lpstr>
      <vt:lpstr>Aptos Narrow</vt:lpstr>
      <vt:lpstr>Arial</vt:lpstr>
      <vt:lpstr>Calibri</vt:lpstr>
      <vt:lpstr>Calibri Light</vt:lpstr>
      <vt:lpstr>Myriad Pro</vt:lpstr>
      <vt:lpstr>Segoe UI</vt:lpstr>
      <vt:lpstr>Thème Office</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Arnaud Stolz</dc:creator>
  <cp:lastModifiedBy>marc skerrett</cp:lastModifiedBy>
  <cp:revision>356</cp:revision>
  <dcterms:created xsi:type="dcterms:W3CDTF">2024-01-30T16:46:58Z</dcterms:created>
  <dcterms:modified xsi:type="dcterms:W3CDTF">2025-06-03T16:45:38Z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0x01010007AAB16D528BF942AE30C8F5FA7E5E16</vt:lpwstr>
  </property>
</Properties>
</file>