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66" r:id="rId2"/>
    <p:sldId id="276" r:id="rId3"/>
    <p:sldId id="274" r:id="rId4"/>
    <p:sldId id="280" r:id="rId5"/>
    <p:sldId id="281" r:id="rId6"/>
    <p:sldId id="278" r:id="rId7"/>
    <p:sldId id="279" r:id="rId8"/>
    <p:sldId id="277" r:id="rId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7ACC"/>
    <a:srgbClr val="369FE3"/>
    <a:srgbClr val="4FA954"/>
    <a:srgbClr val="F49831"/>
    <a:srgbClr val="FEF3C2"/>
    <a:srgbClr val="8C4BE2"/>
    <a:srgbClr val="7F7F7F"/>
    <a:srgbClr val="FAD632"/>
    <a:srgbClr val="FCDF51"/>
    <a:srgbClr val="FFE9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99" autoAdjust="0"/>
    <p:restoredTop sz="94465" autoAdjust="0"/>
  </p:normalViewPr>
  <p:slideViewPr>
    <p:cSldViewPr>
      <p:cViewPr varScale="1">
        <p:scale>
          <a:sx n="89" d="100"/>
          <a:sy n="89" d="100"/>
        </p:scale>
        <p:origin x="1088" y="2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B13E81-940D-4642-9FBB-D58CCA39D57C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12E30C-1A81-0444-AC6E-8E81B7BEE9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7191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3602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8E6A7-5FEA-5F62-A81F-DDEBF7076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1C43377-779A-9315-2637-AE61E5ABFC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411CD94-0027-377C-F473-47F939BDC7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86041E1-3EAC-B2FE-389A-799951C098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5242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35180-E445-9FD7-7D47-83257A406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8AA65FA-0385-4CA0-0415-5370155354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49EB845-D45A-C73F-1EA7-975EEBDDFB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0C2F426-09C2-7EF5-6F30-947EB9603E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8522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BD2D6-D756-EAD1-31EE-A6E1F026B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2F34487-C2EC-DDBD-839C-E954EB0A8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045DE27-C4A1-77F3-DAD0-DD42A1E09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F981CD-90E7-B8F5-4623-CA7CD71180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86682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73038-BE08-1BA8-AF1A-71ECF9614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3D6D2E4-E3FF-23FB-E7F8-F2AA3B0E97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C2B8A0E-40CE-CBCC-A375-329A32B3E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F3075D3-4D98-5275-9FFF-C8A12B101B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0779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78551-9EC9-241E-756E-7E7C5CF7B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43EF346-41CD-A87C-AD6D-EDBFEA37B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3E5EE7D-5BF3-10BA-FF77-6FFEAD58C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54772A-8221-2B7A-3C60-CA8EA0FA8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6222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D05AB-2C4E-4523-8E72-2AF2CAED8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119">
            <a:extLst>
              <a:ext uri="{FF2B5EF4-FFF2-40B4-BE49-F238E27FC236}">
                <a16:creationId xmlns:a16="http://schemas.microsoft.com/office/drawing/2014/main" id="{BAAC267A-D3C0-E23B-35B0-1D28CB942E7C}"/>
              </a:ext>
            </a:extLst>
          </p:cNvPr>
          <p:cNvSpPr/>
          <p:nvPr/>
        </p:nvSpPr>
        <p:spPr>
          <a:xfrm>
            <a:off x="0" y="1866900"/>
            <a:ext cx="18287999" cy="54102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RÉFÉRENTIEL DE COMPÉTENCES</a:t>
            </a:r>
          </a:p>
        </p:txBody>
      </p:sp>
      <p:pic>
        <p:nvPicPr>
          <p:cNvPr id="124" name="Image 123" descr="Une image contenant logo, texte, cercle, Graphique&#10;&#10;Description générée automatiquement">
            <a:extLst>
              <a:ext uri="{FF2B5EF4-FFF2-40B4-BE49-F238E27FC236}">
                <a16:creationId xmlns:a16="http://schemas.microsoft.com/office/drawing/2014/main" id="{9133B9D9-D157-237C-81CB-5FE0ACB7F2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13" t="7143" r="24858" b="5102"/>
          <a:stretch/>
        </p:blipFill>
        <p:spPr>
          <a:xfrm>
            <a:off x="16611600" y="8724900"/>
            <a:ext cx="1254776" cy="1199008"/>
          </a:xfrm>
          <a:prstGeom prst="rect">
            <a:avLst/>
          </a:prstGeom>
        </p:spPr>
      </p:pic>
      <p:pic>
        <p:nvPicPr>
          <p:cNvPr id="126" name="Image 12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F68C9169-AB00-82FC-2A68-6D9DC23FE6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1" t="17086" r="8016" b="17515"/>
          <a:stretch/>
        </p:blipFill>
        <p:spPr>
          <a:xfrm>
            <a:off x="12725400" y="8724900"/>
            <a:ext cx="3508758" cy="1238385"/>
          </a:xfrm>
          <a:prstGeom prst="rect">
            <a:avLst/>
          </a:prstGeom>
        </p:spPr>
      </p:pic>
      <p:pic>
        <p:nvPicPr>
          <p:cNvPr id="1026" name="Picture 2" descr="Réseau Polytech — Wikipédia">
            <a:extLst>
              <a:ext uri="{FF2B5EF4-FFF2-40B4-BE49-F238E27FC236}">
                <a16:creationId xmlns:a16="http://schemas.microsoft.com/office/drawing/2014/main" id="{1200467D-24F8-A237-F85E-0DE8885B3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818" y="8724900"/>
            <a:ext cx="1768140" cy="112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4651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53887-F143-01A2-208D-0B30DFB7F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119">
            <a:extLst>
              <a:ext uri="{FF2B5EF4-FFF2-40B4-BE49-F238E27FC236}">
                <a16:creationId xmlns:a16="http://schemas.microsoft.com/office/drawing/2014/main" id="{85F193DA-4C9B-31CF-9E03-8506104987BB}"/>
              </a:ext>
            </a:extLst>
          </p:cNvPr>
          <p:cNvSpPr/>
          <p:nvPr/>
        </p:nvSpPr>
        <p:spPr>
          <a:xfrm>
            <a:off x="0" y="740576"/>
            <a:ext cx="18287999" cy="196452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0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COMPÉTENCES</a:t>
            </a:r>
          </a:p>
        </p:txBody>
      </p:sp>
      <p:sp>
        <p:nvSpPr>
          <p:cNvPr id="16" name="Freeform 119">
            <a:extLst>
              <a:ext uri="{FF2B5EF4-FFF2-40B4-BE49-F238E27FC236}">
                <a16:creationId xmlns:a16="http://schemas.microsoft.com/office/drawing/2014/main" id="{FCBE14E2-982F-D423-E4F8-756C0F60CBBF}"/>
              </a:ext>
            </a:extLst>
          </p:cNvPr>
          <p:cNvSpPr/>
          <p:nvPr/>
        </p:nvSpPr>
        <p:spPr>
          <a:xfrm>
            <a:off x="1296955" y="32385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Concevoir des produits manufacturés</a:t>
            </a:r>
          </a:p>
          <a:p>
            <a:pPr algn="ctr"/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18" name="Freeform 119">
            <a:extLst>
              <a:ext uri="{FF2B5EF4-FFF2-40B4-BE49-F238E27FC236}">
                <a16:creationId xmlns:a16="http://schemas.microsoft.com/office/drawing/2014/main" id="{745EEB00-7DCF-B779-AE6F-D55C91C3B37B}"/>
              </a:ext>
            </a:extLst>
          </p:cNvPr>
          <p:cNvSpPr/>
          <p:nvPr/>
        </p:nvSpPr>
        <p:spPr>
          <a:xfrm>
            <a:off x="1295400" y="65913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F49831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Optimiser les procédés de fabrication</a:t>
            </a:r>
          </a:p>
          <a:p>
            <a:pPr algn="ctr"/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77209B8F-DF4E-23B6-3477-DF742D32AC25}"/>
              </a:ext>
            </a:extLst>
          </p:cNvPr>
          <p:cNvSpPr/>
          <p:nvPr/>
        </p:nvSpPr>
        <p:spPr>
          <a:xfrm>
            <a:off x="6630955" y="3248608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Industrialiser des produits manufacturés</a:t>
            </a:r>
          </a:p>
          <a:p>
            <a:pPr algn="ctr"/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20" name="Freeform 119">
            <a:extLst>
              <a:ext uri="{FF2B5EF4-FFF2-40B4-BE49-F238E27FC236}">
                <a16:creationId xmlns:a16="http://schemas.microsoft.com/office/drawing/2014/main" id="{BD996EC0-1B09-FED3-EB1D-0B6CCCA129EB}"/>
              </a:ext>
            </a:extLst>
          </p:cNvPr>
          <p:cNvSpPr/>
          <p:nvPr/>
        </p:nvSpPr>
        <p:spPr>
          <a:xfrm>
            <a:off x="6630954" y="65913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Concevoir des systèmes mécatroniques</a:t>
            </a:r>
          </a:p>
          <a:p>
            <a:pPr algn="ctr"/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7A632426-283A-0A9D-7D91-CF237EA4BE14}"/>
              </a:ext>
            </a:extLst>
          </p:cNvPr>
          <p:cNvSpPr/>
          <p:nvPr/>
        </p:nvSpPr>
        <p:spPr>
          <a:xfrm>
            <a:off x="11964954" y="32385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Gérer un projet (dans le domaine industriel ?)</a:t>
            </a:r>
          </a:p>
          <a:p>
            <a:pPr algn="ctr"/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3" name="Freeform 119">
            <a:extLst>
              <a:ext uri="{FF2B5EF4-FFF2-40B4-BE49-F238E27FC236}">
                <a16:creationId xmlns:a16="http://schemas.microsoft.com/office/drawing/2014/main" id="{1E75D9CD-3CBE-B865-AC7C-95FF74A25BAE}"/>
              </a:ext>
            </a:extLst>
          </p:cNvPr>
          <p:cNvSpPr/>
          <p:nvPr/>
        </p:nvSpPr>
        <p:spPr>
          <a:xfrm>
            <a:off x="11964953" y="6581192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4FA954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Concevoir des produits en matériaux composites</a:t>
            </a:r>
          </a:p>
          <a:p>
            <a:pPr algn="ctr"/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6C6097-BBB2-F0D4-52A2-7C67F283FD45}"/>
              </a:ext>
            </a:extLst>
          </p:cNvPr>
          <p:cNvSpPr/>
          <p:nvPr/>
        </p:nvSpPr>
        <p:spPr>
          <a:xfrm>
            <a:off x="15544800" y="800100"/>
            <a:ext cx="2514600" cy="1905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dirty="0">
                <a:highlight>
                  <a:srgbClr val="FFFF00"/>
                </a:highlight>
              </a:rPr>
              <a:t>Faire ressortir la coloration de la spécialité dans l’intitulé de la compétence</a:t>
            </a:r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1E32CD9D-FCBB-CF1A-67B3-6BE5BAA3021E}"/>
              </a:ext>
            </a:extLst>
          </p:cNvPr>
          <p:cNvCxnSpPr>
            <a:stCxn id="4" idx="2"/>
          </p:cNvCxnSpPr>
          <p:nvPr/>
        </p:nvCxnSpPr>
        <p:spPr>
          <a:xfrm flipH="1">
            <a:off x="15468600" y="2705100"/>
            <a:ext cx="1333500" cy="114300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1965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7D3D8-A672-CF34-E468-B4918780C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99D71A2E-D0E6-FFD7-91CE-26F59A31EA15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Concevoir des produits manufacturés</a:t>
            </a:r>
          </a:p>
          <a:p>
            <a:pPr algn="ctr">
              <a:lnSpc>
                <a:spcPct val="150000"/>
              </a:lnSpc>
            </a:pPr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18" name="Freeform 119">
            <a:extLst>
              <a:ext uri="{FF2B5EF4-FFF2-40B4-BE49-F238E27FC236}">
                <a16:creationId xmlns:a16="http://schemas.microsoft.com/office/drawing/2014/main" id="{B302F36A-63B2-5ED3-C2E8-0A6612FC23D9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Situations professionnelles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6C867843-C966-109B-6B01-61ED755F356D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Composantes essentielles :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prenant en compte les besoins du client.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s'appuyant sur l'état de l'art (solutions existantes, normes en vigueur...)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utilisant des méthodes et des outils adaptées (modélisation, logiciels...)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démontrant la pertinence des solutions proposées (fabricabilité...)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prenant en compte tout le cycle de vie du produit.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utilisant une méthode de gestion de projet adaptée (planification et suivi des tâches, analyse  du risque, gestion et suivi des coûts ...).</a:t>
            </a:r>
          </a:p>
        </p:txBody>
      </p:sp>
      <p:sp>
        <p:nvSpPr>
          <p:cNvPr id="20" name="Freeform 119">
            <a:extLst>
              <a:ext uri="{FF2B5EF4-FFF2-40B4-BE49-F238E27FC236}">
                <a16:creationId xmlns:a16="http://schemas.microsoft.com/office/drawing/2014/main" id="{24DB9B11-8866-5757-F64D-700ADA984492}"/>
              </a:ext>
            </a:extLst>
          </p:cNvPr>
          <p:cNvSpPr/>
          <p:nvPr/>
        </p:nvSpPr>
        <p:spPr>
          <a:xfrm>
            <a:off x="1219200" y="4932644"/>
            <a:ext cx="16632861" cy="508848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r>
              <a:rPr lang="fr-FR" sz="1600" dirty="0">
                <a:latin typeface="Calibri" panose="020F0502020204030204" pitchFamily="34" charset="0"/>
                <a:cs typeface="Calibri" panose="020F0502020204030204" pitchFamily="34" charset="0"/>
              </a:rPr>
              <a:t>• modéliser un produit mécanique, électrique, mécatronique : niv3, plus complexe niv4, niv5</a:t>
            </a:r>
          </a:p>
          <a:p>
            <a:endParaRPr lang="fr-F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600" dirty="0">
                <a:latin typeface="Calibri" panose="020F0502020204030204" pitchFamily="34" charset="0"/>
                <a:cs typeface="Calibri" panose="020F0502020204030204" pitchFamily="34" charset="0"/>
              </a:rPr>
              <a:t>• optimiser la conception du produit en utilisant ses modèles.</a:t>
            </a:r>
          </a:p>
          <a:p>
            <a:endParaRPr lang="fr-F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600" dirty="0">
                <a:latin typeface="Calibri" panose="020F0502020204030204" pitchFamily="34" charset="0"/>
                <a:cs typeface="Calibri" panose="020F0502020204030204" pitchFamily="34" charset="0"/>
              </a:rPr>
              <a:t>• étudier la faisabilité technique en phase de préconception (matériaux, tolérancement...)</a:t>
            </a:r>
          </a:p>
          <a:p>
            <a:endParaRPr lang="fr-F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600" dirty="0">
                <a:latin typeface="Calibri" panose="020F0502020204030204" pitchFamily="34" charset="0"/>
                <a:cs typeface="Calibri" panose="020F0502020204030204" pitchFamily="34" charset="0"/>
              </a:rPr>
              <a:t>• vérifier les comportements mécaniques du produit et de ses composants.</a:t>
            </a:r>
          </a:p>
          <a:p>
            <a:endParaRPr lang="fr-F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600" dirty="0">
                <a:latin typeface="Calibri" panose="020F0502020204030204" pitchFamily="34" charset="0"/>
                <a:cs typeface="Calibri" panose="020F0502020204030204" pitchFamily="34" charset="0"/>
              </a:rPr>
              <a:t>• faire un benchmark produit (veille technique règlementaire et fonctionnelle, recherche de principes)​</a:t>
            </a:r>
          </a:p>
          <a:p>
            <a:endParaRPr lang="fr-F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600" dirty="0">
                <a:latin typeface="Calibri" panose="020F0502020204030204" pitchFamily="34" charset="0"/>
                <a:cs typeface="Calibri" panose="020F0502020204030204" pitchFamily="34" charset="0"/>
              </a:rPr>
              <a:t>• analyser un document technique (dessin technique, schémas...)</a:t>
            </a:r>
          </a:p>
          <a:p>
            <a:endParaRPr lang="fr-F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600" dirty="0">
                <a:latin typeface="Calibri" panose="020F0502020204030204" pitchFamily="34" charset="0"/>
                <a:cs typeface="Calibri" panose="020F0502020204030204" pitchFamily="34" charset="0"/>
              </a:rPr>
              <a:t>• analyser un produit existant mécanique, électrique, mécatronique.</a:t>
            </a:r>
          </a:p>
          <a:p>
            <a:endParaRPr lang="fr-F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600" dirty="0">
                <a:latin typeface="Calibri" panose="020F0502020204030204" pitchFamily="34" charset="0"/>
                <a:cs typeface="Calibri" panose="020F0502020204030204" pitchFamily="34" charset="0"/>
              </a:rPr>
              <a:t>• élaborer des documents techniques (AMDEC, fiche de calcul, cahier des charges, notice d'utilisation, schémas, dessins technique, gamme d’assemblage).</a:t>
            </a:r>
          </a:p>
          <a:p>
            <a:endParaRPr lang="fr-F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600" dirty="0">
                <a:latin typeface="Calibri" panose="020F0502020204030204" pitchFamily="34" charset="0"/>
                <a:cs typeface="Calibri" panose="020F0502020204030204" pitchFamily="34" charset="0"/>
              </a:rPr>
              <a:t>• structurer la documentation du produit (PLM).</a:t>
            </a:r>
          </a:p>
        </p:txBody>
      </p:sp>
      <p:sp>
        <p:nvSpPr>
          <p:cNvPr id="5" name="Freeform 119">
            <a:extLst>
              <a:ext uri="{FF2B5EF4-FFF2-40B4-BE49-F238E27FC236}">
                <a16:creationId xmlns:a16="http://schemas.microsoft.com/office/drawing/2014/main" id="{57F3CB7D-4CBC-483F-FCC2-8ABF16AEBBB9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</p:spTree>
    <p:extLst>
      <p:ext uri="{BB962C8B-B14F-4D97-AF65-F5344CB8AC3E}">
        <p14:creationId xmlns:p14="http://schemas.microsoft.com/office/powerpoint/2010/main" val="334647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1E843-CFE6-F54E-2EE1-1371CA450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52B3EB06-CDB2-211E-F587-44C11B567A4E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Industrialiser des produits manufacturés</a:t>
            </a:r>
          </a:p>
          <a:p>
            <a:pPr algn="ctr">
              <a:lnSpc>
                <a:spcPct val="150000"/>
              </a:lnSpc>
            </a:pPr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18" name="Freeform 119">
            <a:extLst>
              <a:ext uri="{FF2B5EF4-FFF2-40B4-BE49-F238E27FC236}">
                <a16:creationId xmlns:a16="http://schemas.microsoft.com/office/drawing/2014/main" id="{B0091FCB-96D0-276E-3BD8-9CD0D9FDA8C7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Situations professionnelles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53B1093F-4FCD-75DC-ED93-DA325CFB45E0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Composantes essentielles :</a:t>
            </a:r>
          </a:p>
          <a:p>
            <a:pPr lvl="1"/>
            <a:r>
              <a:rPr lang="fr-FR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tenant compte des spécifications techniques du produit.</a:t>
            </a:r>
          </a:p>
          <a:p>
            <a:pPr lvl="1"/>
            <a:r>
              <a:rPr lang="fr-FR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tenant compte des exigences de coût, de quantités et de délais.</a:t>
            </a:r>
          </a:p>
          <a:p>
            <a:pPr lvl="1"/>
            <a:r>
              <a:rPr lang="fr-FR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tenant compte des technologies existantes.</a:t>
            </a:r>
          </a:p>
          <a:p>
            <a:pPr lvl="1"/>
            <a:r>
              <a:rPr lang="fr-FR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respectant les règles QHSE.</a:t>
            </a:r>
          </a:p>
          <a:p>
            <a:pPr lvl="1"/>
            <a:r>
              <a:rPr lang="fr-FR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documentant de manière exhaustive le processus de fabrication choisi.	</a:t>
            </a:r>
          </a:p>
        </p:txBody>
      </p:sp>
      <p:sp>
        <p:nvSpPr>
          <p:cNvPr id="5" name="Freeform 119">
            <a:extLst>
              <a:ext uri="{FF2B5EF4-FFF2-40B4-BE49-F238E27FC236}">
                <a16:creationId xmlns:a16="http://schemas.microsoft.com/office/drawing/2014/main" id="{6372E013-0A01-9B65-7F9C-9BAACC8EAB7A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6405D373-2E3C-04F8-1D54-68E2FF553314}"/>
              </a:ext>
            </a:extLst>
          </p:cNvPr>
          <p:cNvSpPr/>
          <p:nvPr/>
        </p:nvSpPr>
        <p:spPr>
          <a:xfrm>
            <a:off x="2743200" y="4932644"/>
            <a:ext cx="15108861" cy="508848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• élaborer les gammes de fabrication (mise en forme, assemblage).</a:t>
            </a:r>
          </a:p>
          <a:p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• concevoir un avant-projet d'étude de fabrication réaliste.</a:t>
            </a:r>
          </a:p>
          <a:p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• choisir les méthodes de fabrication.</a:t>
            </a:r>
          </a:p>
          <a:p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• programmer les machines à commande numérique.</a:t>
            </a:r>
          </a:p>
          <a:p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• définir les méthodes de vérification des pièces fabriquées.</a:t>
            </a:r>
          </a:p>
          <a:p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• planifier la production (calcul des besoins, ordonnancement, calcul des charges...).</a:t>
            </a:r>
          </a:p>
          <a:p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• utiliser les outils de résolution de problème pour les productions</a:t>
            </a:r>
          </a:p>
          <a:p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• utiliser les outils de management des personnels de production.</a:t>
            </a:r>
          </a:p>
          <a:p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• suivre la valeur des indicateurs de performance.</a:t>
            </a:r>
          </a:p>
          <a:p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• synthétiser les résultats de production.</a:t>
            </a:r>
          </a:p>
          <a:p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• évaluer la qualité des produits.</a:t>
            </a:r>
          </a:p>
          <a:p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• organiser les maintenances pour s'assurer de la disponibilité des machines.</a:t>
            </a:r>
          </a:p>
          <a:p>
            <a:endParaRPr lang="fr-F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47306E-A7AF-ED55-5463-EC8B7EBA8342}"/>
              </a:ext>
            </a:extLst>
          </p:cNvPr>
          <p:cNvSpPr/>
          <p:nvPr/>
        </p:nvSpPr>
        <p:spPr>
          <a:xfrm>
            <a:off x="14859000" y="4762"/>
            <a:ext cx="3438525" cy="1905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dirty="0">
                <a:highlight>
                  <a:srgbClr val="FFFF00"/>
                </a:highlight>
              </a:rPr>
              <a:t>Harmoniser les composantes essentielles pour qu’elles correspondent aux apprentissages critiques issus de « Piloter »  </a:t>
            </a:r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1B48F717-402E-1ADC-F513-E738931BFD9D}"/>
              </a:ext>
            </a:extLst>
          </p:cNvPr>
          <p:cNvCxnSpPr>
            <a:cxnSpLocks/>
          </p:cNvCxnSpPr>
          <p:nvPr/>
        </p:nvCxnSpPr>
        <p:spPr>
          <a:xfrm flipH="1" flipV="1">
            <a:off x="9143999" y="2933700"/>
            <a:ext cx="1676401" cy="865759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FCB006DD-57EF-0906-FEB3-49B37DE3FE88}"/>
              </a:ext>
            </a:extLst>
          </p:cNvPr>
          <p:cNvSpPr/>
          <p:nvPr/>
        </p:nvSpPr>
        <p:spPr>
          <a:xfrm>
            <a:off x="9379743" y="3799459"/>
            <a:ext cx="6858000" cy="43053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Composantes essentielles de « Piloter des procédés de fabrication »</a:t>
            </a:r>
          </a:p>
          <a:p>
            <a:endParaRPr lang="fr-FR" dirty="0">
              <a:solidFill>
                <a:srgbClr val="000000"/>
              </a:solidFill>
              <a:highlight>
                <a:srgbClr val="FFFF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Les énoncés barrés sont ceux qui sont communs entre la compétence « Industrialiser » et « Piloter »  </a:t>
            </a:r>
          </a:p>
          <a:p>
            <a:endParaRPr lang="fr-FR" dirty="0">
              <a:solidFill>
                <a:srgbClr val="000000"/>
              </a:solidFill>
              <a:highlight>
                <a:srgbClr val="FFFF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trike="sngStrik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respectant les délais et les quantités demandées.</a:t>
            </a:r>
          </a:p>
          <a:p>
            <a:r>
              <a:rPr lang="fr-FR" strike="sngStrik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garantissant les spécifications techniques du produit</a:t>
            </a:r>
          </a:p>
          <a:p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choisissant des indicateurs pertinents.</a:t>
            </a:r>
          </a:p>
          <a:p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veillant à réduire l'impact environnemental.</a:t>
            </a:r>
          </a:p>
          <a:p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manageant efficacement ses équipes (informer, former, motiver, organiser).</a:t>
            </a:r>
          </a:p>
          <a:p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utilisant efficacement les outils de gestion de production (logiciels, kakémono...).</a:t>
            </a:r>
          </a:p>
          <a:p>
            <a:r>
              <a:rPr lang="fr-FR" strike="sngStrik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respectant les règles HSE.</a:t>
            </a:r>
          </a:p>
        </p:txBody>
      </p:sp>
      <p:sp>
        <p:nvSpPr>
          <p:cNvPr id="11" name="Accolades 10">
            <a:extLst>
              <a:ext uri="{FF2B5EF4-FFF2-40B4-BE49-F238E27FC236}">
                <a16:creationId xmlns:a16="http://schemas.microsoft.com/office/drawing/2014/main" id="{EE1A331D-5CDD-2C0F-9FDD-803AA6FEF7AD}"/>
              </a:ext>
            </a:extLst>
          </p:cNvPr>
          <p:cNvSpPr/>
          <p:nvPr/>
        </p:nvSpPr>
        <p:spPr>
          <a:xfrm>
            <a:off x="2362200" y="4931227"/>
            <a:ext cx="6781800" cy="1964873"/>
          </a:xfrm>
          <a:prstGeom prst="bracePair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Accolades 11">
            <a:extLst>
              <a:ext uri="{FF2B5EF4-FFF2-40B4-BE49-F238E27FC236}">
                <a16:creationId xmlns:a16="http://schemas.microsoft.com/office/drawing/2014/main" id="{EF5D9F83-DB2B-2922-DFE7-ADD3A3487EEA}"/>
              </a:ext>
            </a:extLst>
          </p:cNvPr>
          <p:cNvSpPr/>
          <p:nvPr/>
        </p:nvSpPr>
        <p:spPr>
          <a:xfrm>
            <a:off x="2209801" y="7048500"/>
            <a:ext cx="7169942" cy="2820822"/>
          </a:xfrm>
          <a:prstGeom prst="bracePair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CAAB03A-E0E2-E465-2BB3-7938CEB5EFEC}"/>
              </a:ext>
            </a:extLst>
          </p:cNvPr>
          <p:cNvSpPr txBox="1"/>
          <p:nvPr/>
        </p:nvSpPr>
        <p:spPr>
          <a:xfrm>
            <a:off x="1073943" y="5708950"/>
            <a:ext cx="13732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latin typeface="Calibri" panose="020F0502020204030204" pitchFamily="34" charset="0"/>
                <a:cs typeface="Calibri" panose="020F0502020204030204" pitchFamily="34" charset="0"/>
              </a:rPr>
              <a:t>Industrialiser </a:t>
            </a:r>
            <a:endParaRPr lang="fr-FR" sz="1600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79C3A20-FB28-10D0-959E-724773923A53}"/>
              </a:ext>
            </a:extLst>
          </p:cNvPr>
          <p:cNvSpPr txBox="1"/>
          <p:nvPr/>
        </p:nvSpPr>
        <p:spPr>
          <a:xfrm>
            <a:off x="1179409" y="8289634"/>
            <a:ext cx="13732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latin typeface="Calibri" panose="020F0502020204030204" pitchFamily="34" charset="0"/>
                <a:cs typeface="Calibri" panose="020F0502020204030204" pitchFamily="34" charset="0"/>
              </a:rPr>
              <a:t>Piloter</a:t>
            </a:r>
            <a:endParaRPr lang="fr-FR" sz="1600" dirty="0"/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77FAE0E3-946A-AB85-38A9-828A7F5B9903}"/>
              </a:ext>
            </a:extLst>
          </p:cNvPr>
          <p:cNvCxnSpPr>
            <a:cxnSpLocks/>
          </p:cNvCxnSpPr>
          <p:nvPr/>
        </p:nvCxnSpPr>
        <p:spPr>
          <a:xfrm flipH="1">
            <a:off x="15849600" y="1511115"/>
            <a:ext cx="804862" cy="2288344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056488CD-66F1-50B2-8C6C-F7C69DB10DED}"/>
              </a:ext>
            </a:extLst>
          </p:cNvPr>
          <p:cNvCxnSpPr>
            <a:cxnSpLocks/>
          </p:cNvCxnSpPr>
          <p:nvPr/>
        </p:nvCxnSpPr>
        <p:spPr>
          <a:xfrm flipV="1">
            <a:off x="9982199" y="346805"/>
            <a:ext cx="4876801" cy="453295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4054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DE42F-1C48-4DA6-C3D0-93F23F227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95FBAE08-EF5C-A756-8A27-7798C97AFF50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Gérer un projet (dans le domaine industriel ?)</a:t>
            </a:r>
          </a:p>
          <a:p>
            <a:pPr algn="ctr">
              <a:lnSpc>
                <a:spcPct val="150000"/>
              </a:lnSpc>
            </a:pPr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18" name="Freeform 119">
            <a:extLst>
              <a:ext uri="{FF2B5EF4-FFF2-40B4-BE49-F238E27FC236}">
                <a16:creationId xmlns:a16="http://schemas.microsoft.com/office/drawing/2014/main" id="{B9C52C57-A1C7-FA4C-54D7-572C1EDF2B10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Situations professionnelles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7B0DD401-5D5E-A95A-6D46-177D6E3FCF73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Composantes essentielles :</a:t>
            </a:r>
          </a:p>
          <a:p>
            <a:r>
              <a:rPr lang="fr-FR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En tenant de compte des délais, des ressources, des objectifs, des coûts	</a:t>
            </a:r>
          </a:p>
          <a:p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 adoptant une démarche structurée et rigoureuse	</a:t>
            </a:r>
          </a:p>
          <a:p>
            <a:r>
              <a:rPr lang="fr-FR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En choisissant des indicateurs pertinents de suivi et de résultat (coût, qualité, délais, humains, etc.)</a:t>
            </a:r>
          </a:p>
          <a:p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 respectant les réglementations et les contraintes identifiées / applicables (économiques, techniques, HSE)	</a:t>
            </a:r>
          </a:p>
          <a:p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 manageant efficacement ses équipes (informer, former, motiver, organiser) et ses ressources</a:t>
            </a:r>
          </a:p>
          <a:p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 utilisant efficacement les outils et méthodes de conduite de projet	</a:t>
            </a:r>
          </a:p>
          <a:p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 communiquant de manière adaptée aux différentes parties prenantes dans un contexte international</a:t>
            </a:r>
            <a:endParaRPr lang="fr-FR" b="1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sz="2800" b="1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reeform 119">
            <a:extLst>
              <a:ext uri="{FF2B5EF4-FFF2-40B4-BE49-F238E27FC236}">
                <a16:creationId xmlns:a16="http://schemas.microsoft.com/office/drawing/2014/main" id="{76BAB59D-8800-936D-48CD-450B1CAAE195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15278AAB-E5D4-B0D6-7009-E22D4A2F5183}"/>
              </a:ext>
            </a:extLst>
          </p:cNvPr>
          <p:cNvSpPr/>
          <p:nvPr/>
        </p:nvSpPr>
        <p:spPr>
          <a:xfrm>
            <a:off x="9525000" y="4932644"/>
            <a:ext cx="8327061" cy="508848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Planifier le projet (calcul des besoins, ordonnancement, calcul des charges...).</a:t>
            </a:r>
          </a:p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Utiliser les outils de résolution de problème</a:t>
            </a:r>
          </a:p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Poser un problème  </a:t>
            </a:r>
          </a:p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Résoudre un problème</a:t>
            </a:r>
          </a:p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Utiliser les outils de management des personnels de production.</a:t>
            </a:r>
          </a:p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Interagir avec les parties prenantes pour mener le projet à terme / solliciter leur contribution</a:t>
            </a:r>
          </a:p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Analyser la valeur des indicateurs (KPI, QCD, etc.)</a:t>
            </a:r>
          </a:p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Synthétiser les résultats de production.</a:t>
            </a:r>
          </a:p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Établir un plan d’action</a:t>
            </a:r>
          </a:p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Piloter un plan d’action</a:t>
            </a:r>
          </a:p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Synthétiser des informations relatives au projet </a:t>
            </a:r>
          </a:p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Évaluer la qualité des produits.</a:t>
            </a:r>
          </a:p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Organiser les maintenances pour s'assurer de la disponibilité des machines ressources et des moyens</a:t>
            </a:r>
          </a:p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Identifier les enjeux du projet</a:t>
            </a:r>
          </a:p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Organiser un retour d’expérience avec phase empathie du design </a:t>
            </a:r>
            <a:r>
              <a:rPr lang="fr-FR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thinking</a:t>
            </a:r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 (persona, </a:t>
            </a:r>
            <a:r>
              <a:rPr lang="fr-FR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Experience</a:t>
            </a:r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Map</a:t>
            </a:r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, etc.)</a:t>
            </a:r>
          </a:p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Définir des objectifs SMART</a:t>
            </a:r>
          </a:p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Exploiter les documents relatifs au projet</a:t>
            </a:r>
          </a:p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Rédiger les documents relatifs au projet</a:t>
            </a:r>
          </a:p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Analyser les risques du projet (AMDEC)</a:t>
            </a:r>
          </a:p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Faire un état des lieux </a:t>
            </a:r>
          </a:p>
          <a:p>
            <a:r>
              <a:rPr lang="fr-FR" sz="1400" dirty="0">
                <a:latin typeface="Calibri" panose="020F0502020204030204" pitchFamily="34" charset="0"/>
                <a:cs typeface="Calibri" panose="020F0502020204030204" pitchFamily="34" charset="0"/>
              </a:rPr>
              <a:t>Identifier les bonnes pratiques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A8C560E-3EBD-5785-6520-E521C801186F}"/>
              </a:ext>
            </a:extLst>
          </p:cNvPr>
          <p:cNvSpPr txBox="1"/>
          <p:nvPr/>
        </p:nvSpPr>
        <p:spPr>
          <a:xfrm>
            <a:off x="4914821" y="5879529"/>
            <a:ext cx="38481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En l’état la partie finance/créativité –</a:t>
            </a:r>
            <a:r>
              <a:rPr lang="fr-FR" b="1" dirty="0" err="1"/>
              <a:t>inno</a:t>
            </a:r>
            <a:r>
              <a:rPr lang="fr-FR" b="1" dirty="0"/>
              <a:t> n’apparait pas, je mettrais : </a:t>
            </a:r>
          </a:p>
          <a:p>
            <a:r>
              <a:rPr lang="fr-FR" dirty="0"/>
              <a:t>Animer des ateliers de </a:t>
            </a:r>
            <a:r>
              <a:rPr lang="fr-FR" dirty="0" err="1"/>
              <a:t>co-création</a:t>
            </a:r>
            <a:r>
              <a:rPr lang="fr-FR" dirty="0"/>
              <a:t> pour trouver des solutions (SHES704)</a:t>
            </a:r>
          </a:p>
          <a:p>
            <a:r>
              <a:rPr lang="fr-FR" dirty="0"/>
              <a:t>Elaborer et réaliser un suivi budgétaire du projet (SHES 601)</a:t>
            </a:r>
          </a:p>
          <a:p>
            <a:r>
              <a:rPr lang="fr-FR" dirty="0"/>
              <a:t>Calculer un ROI, TRI, </a:t>
            </a:r>
            <a:r>
              <a:rPr lang="fr-FR" dirty="0" err="1"/>
              <a:t>payback</a:t>
            </a:r>
            <a:r>
              <a:rPr lang="fr-FR" dirty="0"/>
              <a:t> (SHES 601)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B07B45-6C39-90D4-EBA2-F201C33C888C}"/>
              </a:ext>
            </a:extLst>
          </p:cNvPr>
          <p:cNvSpPr/>
          <p:nvPr/>
        </p:nvSpPr>
        <p:spPr>
          <a:xfrm>
            <a:off x="1173878" y="4707954"/>
            <a:ext cx="3438525" cy="27854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dirty="0">
                <a:highlight>
                  <a:srgbClr val="FFFF00"/>
                </a:highlight>
              </a:rPr>
              <a:t>Fusionner, réviser ou reformuler les apprentissages critiques pour qu’ils apparaissent tous de même niveau.</a:t>
            </a:r>
          </a:p>
          <a:p>
            <a:endParaRPr lang="fr-FR" dirty="0">
              <a:highlight>
                <a:srgbClr val="FFFF00"/>
              </a:highlight>
            </a:endParaRPr>
          </a:p>
          <a:p>
            <a:r>
              <a:rPr lang="fr-FR" dirty="0">
                <a:highlight>
                  <a:srgbClr val="FFFF00"/>
                </a:highlight>
              </a:rPr>
              <a:t>Intégrer les propositions d’Élodie.</a:t>
            </a:r>
          </a:p>
          <a:p>
            <a:endParaRPr lang="fr-FR" dirty="0">
              <a:highlight>
                <a:srgbClr val="FFFF00"/>
              </a:highlight>
            </a:endParaRPr>
          </a:p>
          <a:p>
            <a:r>
              <a:rPr lang="fr-FR" dirty="0">
                <a:highlight>
                  <a:srgbClr val="FFFF00"/>
                </a:highlight>
              </a:rPr>
              <a:t>Intégrer des apprentissages associés à la R&amp;D </a:t>
            </a:r>
          </a:p>
        </p:txBody>
      </p:sp>
      <p:sp>
        <p:nvSpPr>
          <p:cNvPr id="6" name="Accolade ouvrante 5">
            <a:extLst>
              <a:ext uri="{FF2B5EF4-FFF2-40B4-BE49-F238E27FC236}">
                <a16:creationId xmlns:a16="http://schemas.microsoft.com/office/drawing/2014/main" id="{AD93493A-07CF-BD55-5BB1-3F634DD8BE8A}"/>
              </a:ext>
            </a:extLst>
          </p:cNvPr>
          <p:cNvSpPr/>
          <p:nvPr/>
        </p:nvSpPr>
        <p:spPr>
          <a:xfrm>
            <a:off x="8763000" y="4931227"/>
            <a:ext cx="533400" cy="5008968"/>
          </a:xfrm>
          <a:prstGeom prst="leftBrac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A9F1DA92-78BB-E5A1-AAD7-A69BBE7F78BE}"/>
              </a:ext>
            </a:extLst>
          </p:cNvPr>
          <p:cNvCxnSpPr>
            <a:cxnSpLocks/>
          </p:cNvCxnSpPr>
          <p:nvPr/>
        </p:nvCxnSpPr>
        <p:spPr>
          <a:xfrm flipV="1">
            <a:off x="4440993" y="6069524"/>
            <a:ext cx="473828" cy="151937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A3847FB2-8109-8946-ADEB-2942363B624C}"/>
              </a:ext>
            </a:extLst>
          </p:cNvPr>
          <p:cNvCxnSpPr>
            <a:cxnSpLocks/>
          </p:cNvCxnSpPr>
          <p:nvPr/>
        </p:nvCxnSpPr>
        <p:spPr>
          <a:xfrm>
            <a:off x="4343400" y="5329178"/>
            <a:ext cx="4953000" cy="119122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8BE88328-2167-C479-DC19-057900EFFA10}"/>
              </a:ext>
            </a:extLst>
          </p:cNvPr>
          <p:cNvSpPr txBox="1"/>
          <p:nvPr/>
        </p:nvSpPr>
        <p:spPr>
          <a:xfrm>
            <a:off x="1392028" y="8500265"/>
            <a:ext cx="73542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Veille bibliographie (niveau licence) dans cahier des charges du projet technique (état de l’art) ≠ intégrer les résultats de la recherche bibliographique dans un projet (niveau master) (positionnement)</a:t>
            </a:r>
          </a:p>
        </p:txBody>
      </p: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B65AFB55-88E1-FAD0-4038-FCFB1D6A0FE7}"/>
              </a:ext>
            </a:extLst>
          </p:cNvPr>
          <p:cNvCxnSpPr>
            <a:cxnSpLocks/>
          </p:cNvCxnSpPr>
          <p:nvPr/>
        </p:nvCxnSpPr>
        <p:spPr>
          <a:xfrm>
            <a:off x="2610883" y="7493396"/>
            <a:ext cx="0" cy="1006869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2065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BA806-CF13-993C-E0E0-C099F303C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755D2B67-05E2-1F90-45EC-7F37F6F70334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F49831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Optimiser les procédés de fabrication</a:t>
            </a:r>
          </a:p>
          <a:p>
            <a:pPr algn="ctr">
              <a:lnSpc>
                <a:spcPct val="150000"/>
              </a:lnSpc>
            </a:pPr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E95D4EFA-053B-8BE9-EACD-8DA7B6033170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F49831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Composantes essentielles :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choisissant les outils qualité adéquats.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veillant à la sobriété des procédés (énergie, matière première, déchets) aux coûts de production et à la qualité des produits.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tenant compte des évolutions technologiques.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communicant efficacement avec les personnels de production.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respectant les règles HSE.</a:t>
            </a:r>
          </a:p>
          <a:p>
            <a:pPr lvl="1"/>
            <a:r>
              <a:rPr lang="fr-FR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BF693259-F9EF-F253-6A91-6833D6C788A9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Situations professionnelles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11" name="Freeform 119">
            <a:extLst>
              <a:ext uri="{FF2B5EF4-FFF2-40B4-BE49-F238E27FC236}">
                <a16:creationId xmlns:a16="http://schemas.microsoft.com/office/drawing/2014/main" id="{B4653456-05E2-1EF7-E5AD-9F894A3A76D2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3" name="Freeform 119">
            <a:extLst>
              <a:ext uri="{FF2B5EF4-FFF2-40B4-BE49-F238E27FC236}">
                <a16:creationId xmlns:a16="http://schemas.microsoft.com/office/drawing/2014/main" id="{D72A0C8C-5B83-EC27-8238-50AAE0ACA6EF}"/>
              </a:ext>
            </a:extLst>
          </p:cNvPr>
          <p:cNvSpPr/>
          <p:nvPr/>
        </p:nvSpPr>
        <p:spPr>
          <a:xfrm>
            <a:off x="1219200" y="4932644"/>
            <a:ext cx="16632861" cy="508848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• utiliser les outils de résolution de problème ("outils qualité").</a:t>
            </a:r>
          </a:p>
          <a:p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• mesurer la performance de la production.</a:t>
            </a:r>
          </a:p>
          <a:p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• modéliser les flux.</a:t>
            </a:r>
          </a:p>
          <a:p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• optimiser les flux (implantation des postes...).</a:t>
            </a:r>
          </a:p>
          <a:p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• analyser les défaillances, les dysfonctionnements des procédés.</a:t>
            </a:r>
          </a:p>
          <a:p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• identifier les paramètres influents du procédé.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7DAD76-EC8E-5D2F-D0F7-3EF31BCCF7D3}"/>
              </a:ext>
            </a:extLst>
          </p:cNvPr>
          <p:cNvSpPr/>
          <p:nvPr/>
        </p:nvSpPr>
        <p:spPr>
          <a:xfrm>
            <a:off x="14413536" y="4929809"/>
            <a:ext cx="3438525" cy="1905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dirty="0">
                <a:highlight>
                  <a:srgbClr val="FFFF00"/>
                </a:highlight>
              </a:rPr>
              <a:t>A compléter ?</a:t>
            </a:r>
          </a:p>
        </p:txBody>
      </p:sp>
    </p:spTree>
    <p:extLst>
      <p:ext uri="{BB962C8B-B14F-4D97-AF65-F5344CB8AC3E}">
        <p14:creationId xmlns:p14="http://schemas.microsoft.com/office/powerpoint/2010/main" val="409562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D1729-E3BA-F219-DB1D-078514127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764DC90B-6441-4540-4D07-7274964A84C2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Concevoir des systèmes mécatroniques</a:t>
            </a:r>
          </a:p>
          <a:p>
            <a:pPr algn="ctr">
              <a:lnSpc>
                <a:spcPct val="150000"/>
              </a:lnSpc>
            </a:pPr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2EC66EAC-981F-EF95-2651-B3354C3C4161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Composantes essentielles :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mettant en œuvre des outils de modélisation et de simulation multiphysiques de manière appropriée.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choisissant les composants technologiques adéquats (mécaniques, électroniques, informatiques) 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tenant compte des interactions fonctionnelles et physiques entre les composants.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communicant efficacement avec les parties prenantes.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respectant les normes de produit en vigueur.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assurant leur efficience.</a:t>
            </a:r>
            <a:r>
              <a:rPr lang="fr-FR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E5F2FD61-6409-EA03-2794-3D6DAACAEB60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Situations professionnelles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6" name="Freeform 119">
            <a:extLst>
              <a:ext uri="{FF2B5EF4-FFF2-40B4-BE49-F238E27FC236}">
                <a16:creationId xmlns:a16="http://schemas.microsoft.com/office/drawing/2014/main" id="{FFE3588B-8C13-D619-E556-6A0A6E2ECB63}"/>
              </a:ext>
            </a:extLst>
          </p:cNvPr>
          <p:cNvSpPr/>
          <p:nvPr/>
        </p:nvSpPr>
        <p:spPr>
          <a:xfrm>
            <a:off x="1143000" y="4932644"/>
            <a:ext cx="16709061" cy="5088481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• réaliser un circuit électrique/électronique.</a:t>
            </a:r>
          </a:p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• développer des électroniques simples pour le conditionnement des signaux de capteurs ou la commande des actionneurs.</a:t>
            </a:r>
          </a:p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• réaliser des calculs électriques  (lois de comportement courant -tension, puissances).</a:t>
            </a:r>
          </a:p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• écrire un programme informatique.</a:t>
            </a:r>
          </a:p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• modéliser les comportements du système mécatronique.</a:t>
            </a:r>
          </a:p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• modéliser des systèmes dynamiques continus.</a:t>
            </a:r>
          </a:p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• optimiser les performances du systèmes mécatronique.</a:t>
            </a:r>
          </a:p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• spécifier et concevoir un système embarqué (entrée/sortie, registre, interruption</a:t>
            </a:r>
          </a:p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• utiliser les outils de modélisation (GEMMA, GRAFCET) pour une solution de commande d’un automatisme simple.</a:t>
            </a:r>
          </a:p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• mettre en œuvre des capteurs et des actionneurs.</a:t>
            </a:r>
          </a:p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• concevoir la commande échantillonnée de système dynamique.</a:t>
            </a:r>
          </a:p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• concevoir une stratégie de contrôle commande.</a:t>
            </a:r>
          </a:p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• développer un système embarqué multi-tâches ou temps réels.</a:t>
            </a:r>
          </a:p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• choisir et programmer un robot industriel.</a:t>
            </a:r>
          </a:p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• utiliser les fonctionnalités essentielles d’un système embarqué.</a:t>
            </a:r>
          </a:p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• optimiser la conception selon une approche multi-objectifs</a:t>
            </a:r>
          </a:p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Analyser un système mécatronique existant </a:t>
            </a:r>
          </a:p>
        </p:txBody>
      </p:sp>
      <p:sp>
        <p:nvSpPr>
          <p:cNvPr id="11" name="Freeform 119">
            <a:extLst>
              <a:ext uri="{FF2B5EF4-FFF2-40B4-BE49-F238E27FC236}">
                <a16:creationId xmlns:a16="http://schemas.microsoft.com/office/drawing/2014/main" id="{DBC82DEA-7BDA-A646-8B96-222189D2F797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</p:spTree>
    <p:extLst>
      <p:ext uri="{BB962C8B-B14F-4D97-AF65-F5344CB8AC3E}">
        <p14:creationId xmlns:p14="http://schemas.microsoft.com/office/powerpoint/2010/main" val="2681372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430F5-E680-B822-89CD-1D3D1398E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E8955289-EB1D-E6BF-5D5D-409DC3DDCB72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4FA954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Concevoir des produits en matériaux composites</a:t>
            </a:r>
          </a:p>
          <a:p>
            <a:pPr algn="ctr">
              <a:lnSpc>
                <a:spcPct val="150000"/>
              </a:lnSpc>
            </a:pPr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33DF3E8D-28FA-4FAC-01FF-DE8EF5EA22F4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4FA954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0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Composantes essentielles 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 prenant en compte les interactions entre les matériaux, le produit et  les procédés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 choisissant les composants matériaux de manière pertinente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 utilisant les lois de comportements spécifiques appropriés aux matériaux (élasticité, rupture, endommagement, etc.) ; 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 utilisant des outils et des méthodes adaptées ; 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 organisant des données hétérogènes de manière synthétique 	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 intégrant la réduction des impacts dans la conception (éco-propriétés des matières, des procédés et du produit, réemploi, réusage, etc.)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F797657D-69E3-7030-5584-4F1DD87EFB1C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Situations professionnelles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6" name="Freeform 119">
            <a:extLst>
              <a:ext uri="{FF2B5EF4-FFF2-40B4-BE49-F238E27FC236}">
                <a16:creationId xmlns:a16="http://schemas.microsoft.com/office/drawing/2014/main" id="{E7A85A77-4224-1889-38DE-27CE7FF724B1}"/>
              </a:ext>
            </a:extLst>
          </p:cNvPr>
          <p:cNvSpPr/>
          <p:nvPr/>
        </p:nvSpPr>
        <p:spPr>
          <a:xfrm>
            <a:off x="2401569" y="493264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Caractériser un matériau</a:t>
            </a:r>
          </a:p>
          <a:p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Créer des indices de performance matériaux</a:t>
            </a:r>
          </a:p>
          <a:p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Rédiger une gamme de fabrication et une fiche matière</a:t>
            </a:r>
          </a:p>
          <a:p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Mettre en œuvre des procédés usuels</a:t>
            </a:r>
          </a:p>
        </p:txBody>
      </p:sp>
      <p:sp>
        <p:nvSpPr>
          <p:cNvPr id="7" name="Freeform 119">
            <a:extLst>
              <a:ext uri="{FF2B5EF4-FFF2-40B4-BE49-F238E27FC236}">
                <a16:creationId xmlns:a16="http://schemas.microsoft.com/office/drawing/2014/main" id="{887B9F56-30F1-F997-A570-956CFA94CEF7}"/>
              </a:ext>
            </a:extLst>
          </p:cNvPr>
          <p:cNvSpPr/>
          <p:nvPr/>
        </p:nvSpPr>
        <p:spPr>
          <a:xfrm>
            <a:off x="2401569" y="667497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Définir un matériau selon des propriétés attendus</a:t>
            </a:r>
          </a:p>
          <a:p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Évaluer l'impact environnemental </a:t>
            </a:r>
          </a:p>
          <a:p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Mettre au point une gamme de fabrication et une fiche matière</a:t>
            </a:r>
          </a:p>
          <a:p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Mettre en œuvre une loi de comportement homogénéisé</a:t>
            </a:r>
          </a:p>
          <a:p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Réaliser un prédimensionnement</a:t>
            </a:r>
          </a:p>
          <a:p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Créer un outil de calcul pour faire un prédimensionnement</a:t>
            </a:r>
          </a:p>
          <a:p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Piloter les paramètres des procédés usuels</a:t>
            </a:r>
          </a:p>
          <a:p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Évaluer la performance du produit conçu</a:t>
            </a:r>
          </a:p>
        </p:txBody>
      </p:sp>
      <p:sp>
        <p:nvSpPr>
          <p:cNvPr id="8" name="Freeform 119">
            <a:extLst>
              <a:ext uri="{FF2B5EF4-FFF2-40B4-BE49-F238E27FC236}">
                <a16:creationId xmlns:a16="http://schemas.microsoft.com/office/drawing/2014/main" id="{BF81045C-2E6A-27AA-7135-39186EEAB3DA}"/>
              </a:ext>
            </a:extLst>
          </p:cNvPr>
          <p:cNvSpPr/>
          <p:nvPr/>
        </p:nvSpPr>
        <p:spPr>
          <a:xfrm>
            <a:off x="2401569" y="8417306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Modifier l'impact environnemental</a:t>
            </a:r>
          </a:p>
          <a:p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Mettre en œuvre une loi de comportement pour matériau stratifié</a:t>
            </a:r>
          </a:p>
          <a:p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Réaliser un dimensionnement détaillé (Outils de calcul métier)</a:t>
            </a:r>
          </a:p>
          <a:p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Développer des procédés hautes performances</a:t>
            </a:r>
          </a:p>
          <a:p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Optimiser la performance du produit conçu </a:t>
            </a:r>
          </a:p>
        </p:txBody>
      </p:sp>
      <p:sp>
        <p:nvSpPr>
          <p:cNvPr id="11" name="Freeform 119">
            <a:extLst>
              <a:ext uri="{FF2B5EF4-FFF2-40B4-BE49-F238E27FC236}">
                <a16:creationId xmlns:a16="http://schemas.microsoft.com/office/drawing/2014/main" id="{B6C436FB-E143-5BBF-AD44-10A86586F9C1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12" name="Freeform 119">
            <a:extLst>
              <a:ext uri="{FF2B5EF4-FFF2-40B4-BE49-F238E27FC236}">
                <a16:creationId xmlns:a16="http://schemas.microsoft.com/office/drawing/2014/main" id="{D95217FA-4C98-A67E-8029-0B50DB0069AD}"/>
              </a:ext>
            </a:extLst>
          </p:cNvPr>
          <p:cNvSpPr/>
          <p:nvPr/>
        </p:nvSpPr>
        <p:spPr>
          <a:xfrm>
            <a:off x="1107010" y="493264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3A</a:t>
            </a:r>
          </a:p>
        </p:txBody>
      </p:sp>
      <p:sp>
        <p:nvSpPr>
          <p:cNvPr id="13" name="Freeform 119">
            <a:extLst>
              <a:ext uri="{FF2B5EF4-FFF2-40B4-BE49-F238E27FC236}">
                <a16:creationId xmlns:a16="http://schemas.microsoft.com/office/drawing/2014/main" id="{578B1D44-8B0D-9D17-A0C4-09B866955939}"/>
              </a:ext>
            </a:extLst>
          </p:cNvPr>
          <p:cNvSpPr/>
          <p:nvPr/>
        </p:nvSpPr>
        <p:spPr>
          <a:xfrm>
            <a:off x="1107010" y="667497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4A</a:t>
            </a:r>
          </a:p>
        </p:txBody>
      </p:sp>
      <p:sp>
        <p:nvSpPr>
          <p:cNvPr id="15" name="Freeform 119">
            <a:extLst>
              <a:ext uri="{FF2B5EF4-FFF2-40B4-BE49-F238E27FC236}">
                <a16:creationId xmlns:a16="http://schemas.microsoft.com/office/drawing/2014/main" id="{A2242922-10A8-8224-2500-DBA1CB399E45}"/>
              </a:ext>
            </a:extLst>
          </p:cNvPr>
          <p:cNvSpPr/>
          <p:nvPr/>
        </p:nvSpPr>
        <p:spPr>
          <a:xfrm>
            <a:off x="1107010" y="8417306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5A</a:t>
            </a:r>
          </a:p>
        </p:txBody>
      </p:sp>
    </p:spTree>
    <p:extLst>
      <p:ext uri="{BB962C8B-B14F-4D97-AF65-F5344CB8AC3E}">
        <p14:creationId xmlns:p14="http://schemas.microsoft.com/office/powerpoint/2010/main" val="3477544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AAB16D528BF942AE30C8F5FA7E5E16" ma:contentTypeVersion="13" ma:contentTypeDescription="Create a new document." ma:contentTypeScope="" ma:versionID="2dfcd33df7f21bc1d96cac68e309c354">
  <xsd:schema xmlns:xsd="http://www.w3.org/2001/XMLSchema" xmlns:xs="http://www.w3.org/2001/XMLSchema" xmlns:p="http://schemas.microsoft.com/office/2006/metadata/properties" xmlns:ns2="5a932de8-014e-4395-a210-acace869bdb6" xmlns:ns3="64984f8b-2057-4450-93f2-8aa5e6a062ce" targetNamespace="http://schemas.microsoft.com/office/2006/metadata/properties" ma:root="true" ma:fieldsID="5e67dd59e0820bf22da62f711b406a14" ns2:_="" ns3:_="">
    <xsd:import namespace="5a932de8-014e-4395-a210-acace869bdb6"/>
    <xsd:import namespace="64984f8b-2057-4450-93f2-8aa5e6a062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932de8-014e-4395-a210-acace869bd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588c3168-a240-49a5-981b-89ab6abae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984f8b-2057-4450-93f2-8aa5e6a062c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54f566a-5540-4206-a119-8720727d0e6a}" ma:internalName="TaxCatchAll" ma:showField="CatchAllData" ma:web="64984f8b-2057-4450-93f2-8aa5e6a062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4984f8b-2057-4450-93f2-8aa5e6a062ce" xsi:nil="true"/>
    <lcf76f155ced4ddcb4097134ff3c332f xmlns="5a932de8-014e-4395-a210-acace869bdb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8C32BF1-AD3C-4AA0-B908-83B1A12DB188}"/>
</file>

<file path=customXml/itemProps2.xml><?xml version="1.0" encoding="utf-8"?>
<ds:datastoreItem xmlns:ds="http://schemas.openxmlformats.org/officeDocument/2006/customXml" ds:itemID="{F4347883-04B8-4ED5-8171-AF59CD07F98A}"/>
</file>

<file path=customXml/itemProps3.xml><?xml version="1.0" encoding="utf-8"?>
<ds:datastoreItem xmlns:ds="http://schemas.openxmlformats.org/officeDocument/2006/customXml" ds:itemID="{585CBF8A-9D26-49A0-9C9A-A87C61B26E45}"/>
</file>

<file path=docProps/app.xml><?xml version="1.0" encoding="utf-8"?>
<Properties xmlns="http://schemas.openxmlformats.org/officeDocument/2006/extended-properties" xmlns:vt="http://schemas.openxmlformats.org/officeDocument/2006/docPropsVTypes">
  <TotalTime>18902</TotalTime>
  <Words>1615</Words>
  <Application>Microsoft Macintosh PowerPoint</Application>
  <PresentationFormat>Personnalisé</PresentationFormat>
  <Paragraphs>233</Paragraphs>
  <Slides>8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Cartographie</dc:title>
  <cp:lastModifiedBy>marc skerrett</cp:lastModifiedBy>
  <cp:revision>39</cp:revision>
  <dcterms:created xsi:type="dcterms:W3CDTF">2006-08-16T00:00:00Z</dcterms:created>
  <dcterms:modified xsi:type="dcterms:W3CDTF">2025-09-04T12:24:33Z</dcterms:modified>
  <dc:identifier>DAGc1mWC1s8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0x01010007AAB16D528BF942AE30C8F5FA7E5E16</vt:lpwstr>
  </property>
</Properties>
</file>