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sldIdLst>
    <p:sldId id="266" r:id="rId5"/>
    <p:sldId id="276" r:id="rId6"/>
    <p:sldId id="274" r:id="rId7"/>
    <p:sldId id="280" r:id="rId8"/>
    <p:sldId id="281" r:id="rId9"/>
    <p:sldId id="278" r:id="rId10"/>
    <p:sldId id="279" r:id="rId11"/>
    <p:sldId id="277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7ACC"/>
    <a:srgbClr val="369FE3"/>
    <a:srgbClr val="4FA954"/>
    <a:srgbClr val="F49831"/>
    <a:srgbClr val="FEF3C2"/>
    <a:srgbClr val="8C4BE2"/>
    <a:srgbClr val="7F7F7F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E68B5C-2172-4A3E-BE9B-B4C0A4640A4D}" v="3" dt="2025-06-03T19:28:04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77E68B5C-2172-4A3E-BE9B-B4C0A4640A4D}"/>
    <pc:docChg chg="modSld">
      <pc:chgData name="Marc Skerrett" userId="S::marc.skerrett@univ-smb.fr::5838212c-6006-4602-b097-e4ba2e4953e8" providerId="AD" clId="Web-{77E68B5C-2172-4A3E-BE9B-B4C0A4640A4D}" dt="2025-06-03T19:28:04.156" v="1" actId="20577"/>
      <pc:docMkLst>
        <pc:docMk/>
      </pc:docMkLst>
      <pc:sldChg chg="modSp">
        <pc:chgData name="Marc Skerrett" userId="S::marc.skerrett@univ-smb.fr::5838212c-6006-4602-b097-e4ba2e4953e8" providerId="AD" clId="Web-{77E68B5C-2172-4A3E-BE9B-B4C0A4640A4D}" dt="2025-06-03T19:28:04.156" v="1" actId="20577"/>
        <pc:sldMkLst>
          <pc:docMk/>
          <pc:sldMk cId="409562011" sldId="278"/>
        </pc:sldMkLst>
        <pc:spChg chg="mod">
          <ac:chgData name="Marc Skerrett" userId="S::marc.skerrett@univ-smb.fr::5838212c-6006-4602-b097-e4ba2e4953e8" providerId="AD" clId="Web-{77E68B5C-2172-4A3E-BE9B-B4C0A4640A4D}" dt="2025-06-03T19:28:04.156" v="1" actId="20577"/>
          <ac:spMkLst>
            <pc:docMk/>
            <pc:sldMk cId="409562011" sldId="278"/>
            <ac:spMk id="19" creationId="{E95D4EFA-053B-8BE9-EACD-8DA7B6033170}"/>
          </ac:spMkLst>
        </pc:spChg>
      </pc:sldChg>
    </pc:docChg>
  </pc:docChgLst>
  <pc:docChgLst>
    <pc:chgData name="Marc Skerrett" userId="S::marc.skerrett@univ-smb.fr::5838212c-6006-4602-b097-e4ba2e4953e8" providerId="AD" clId="Web-{F17413A2-7772-3863-0844-13CDD8805469}"/>
    <pc:docChg chg="modSld">
      <pc:chgData name="Marc Skerrett" userId="S::marc.skerrett@univ-smb.fr::5838212c-6006-4602-b097-e4ba2e4953e8" providerId="AD" clId="Web-{F17413A2-7772-3863-0844-13CDD8805469}" dt="2025-04-18T14:21:34.856" v="183" actId="20577"/>
      <pc:docMkLst>
        <pc:docMk/>
      </pc:docMkLst>
      <pc:sldChg chg="modSp">
        <pc:chgData name="Marc Skerrett" userId="S::marc.skerrett@univ-smb.fr::5838212c-6006-4602-b097-e4ba2e4953e8" providerId="AD" clId="Web-{F17413A2-7772-3863-0844-13CDD8805469}" dt="2025-04-18T14:19:58.712" v="90" actId="20577"/>
        <pc:sldMkLst>
          <pc:docMk/>
          <pc:sldMk cId="334647694" sldId="274"/>
        </pc:sldMkLst>
        <pc:spChg chg="mod">
          <ac:chgData name="Marc Skerrett" userId="S::marc.skerrett@univ-smb.fr::5838212c-6006-4602-b097-e4ba2e4953e8" providerId="AD" clId="Web-{F17413A2-7772-3863-0844-13CDD8805469}" dt="2025-04-18T14:19:58.712" v="90" actId="20577"/>
          <ac:spMkLst>
            <pc:docMk/>
            <pc:sldMk cId="334647694" sldId="274"/>
            <ac:spMk id="19" creationId="{6C867843-C966-109B-6B01-61ED755F356D}"/>
          </ac:spMkLst>
        </pc:spChg>
      </pc:sldChg>
      <pc:sldChg chg="modSp">
        <pc:chgData name="Marc Skerrett" userId="S::marc.skerrett@univ-smb.fr::5838212c-6006-4602-b097-e4ba2e4953e8" providerId="AD" clId="Web-{F17413A2-7772-3863-0844-13CDD8805469}" dt="2025-04-18T14:21:34.856" v="183" actId="20577"/>
        <pc:sldMkLst>
          <pc:docMk/>
          <pc:sldMk cId="3477544508" sldId="277"/>
        </pc:sldMkLst>
        <pc:spChg chg="mod">
          <ac:chgData name="Marc Skerrett" userId="S::marc.skerrett@univ-smb.fr::5838212c-6006-4602-b097-e4ba2e4953e8" providerId="AD" clId="Web-{F17413A2-7772-3863-0844-13CDD8805469}" dt="2025-04-18T14:21:34.856" v="183" actId="20577"/>
          <ac:spMkLst>
            <pc:docMk/>
            <pc:sldMk cId="3477544508" sldId="277"/>
            <ac:spMk id="19" creationId="{33DF3E8D-28FA-4FAC-01FF-DE8EF5EA22F4}"/>
          </ac:spMkLst>
        </pc:spChg>
      </pc:sldChg>
      <pc:sldChg chg="modSp">
        <pc:chgData name="Marc Skerrett" userId="S::marc.skerrett@univ-smb.fr::5838212c-6006-4602-b097-e4ba2e4953e8" providerId="AD" clId="Web-{F17413A2-7772-3863-0844-13CDD8805469}" dt="2025-04-18T14:20:51.854" v="145" actId="20577"/>
        <pc:sldMkLst>
          <pc:docMk/>
          <pc:sldMk cId="409562011" sldId="278"/>
        </pc:sldMkLst>
        <pc:spChg chg="mod">
          <ac:chgData name="Marc Skerrett" userId="S::marc.skerrett@univ-smb.fr::5838212c-6006-4602-b097-e4ba2e4953e8" providerId="AD" clId="Web-{F17413A2-7772-3863-0844-13CDD8805469}" dt="2025-04-18T14:20:51.854" v="145" actId="20577"/>
          <ac:spMkLst>
            <pc:docMk/>
            <pc:sldMk cId="409562011" sldId="278"/>
            <ac:spMk id="19" creationId="{E95D4EFA-053B-8BE9-EACD-8DA7B6033170}"/>
          </ac:spMkLst>
        </pc:spChg>
      </pc:sldChg>
      <pc:sldChg chg="modSp">
        <pc:chgData name="Marc Skerrett" userId="S::marc.skerrett@univ-smb.fr::5838212c-6006-4602-b097-e4ba2e4953e8" providerId="AD" clId="Web-{F17413A2-7772-3863-0844-13CDD8805469}" dt="2025-04-18T14:21:22.996" v="172" actId="20577"/>
        <pc:sldMkLst>
          <pc:docMk/>
          <pc:sldMk cId="2681372564" sldId="279"/>
        </pc:sldMkLst>
        <pc:spChg chg="mod">
          <ac:chgData name="Marc Skerrett" userId="S::marc.skerrett@univ-smb.fr::5838212c-6006-4602-b097-e4ba2e4953e8" providerId="AD" clId="Web-{F17413A2-7772-3863-0844-13CDD8805469}" dt="2025-04-18T14:21:22.996" v="172" actId="20577"/>
          <ac:spMkLst>
            <pc:docMk/>
            <pc:sldMk cId="2681372564" sldId="279"/>
            <ac:spMk id="19" creationId="{2EC66EAC-981F-EF95-2651-B3354C3C4161}"/>
          </ac:spMkLst>
        </pc:spChg>
      </pc:sldChg>
      <pc:sldChg chg="modSp">
        <pc:chgData name="Marc Skerrett" userId="S::marc.skerrett@univ-smb.fr::5838212c-6006-4602-b097-e4ba2e4953e8" providerId="AD" clId="Web-{F17413A2-7772-3863-0844-13CDD8805469}" dt="2025-04-18T14:20:14.197" v="105" actId="20577"/>
        <pc:sldMkLst>
          <pc:docMk/>
          <pc:sldMk cId="984054215" sldId="280"/>
        </pc:sldMkLst>
        <pc:spChg chg="mod">
          <ac:chgData name="Marc Skerrett" userId="S::marc.skerrett@univ-smb.fr::5838212c-6006-4602-b097-e4ba2e4953e8" providerId="AD" clId="Web-{F17413A2-7772-3863-0844-13CDD8805469}" dt="2025-04-18T14:20:14.197" v="105" actId="20577"/>
          <ac:spMkLst>
            <pc:docMk/>
            <pc:sldMk cId="984054215" sldId="280"/>
            <ac:spMk id="19" creationId="{53B1093F-4FCD-75DC-ED93-DA325CFB45E0}"/>
          </ac:spMkLst>
        </pc:spChg>
      </pc:sldChg>
      <pc:sldChg chg="modSp">
        <pc:chgData name="Marc Skerrett" userId="S::marc.skerrett@univ-smb.fr::5838212c-6006-4602-b097-e4ba2e4953e8" providerId="AD" clId="Web-{F17413A2-7772-3863-0844-13CDD8805469}" dt="2025-04-18T14:20:36.588" v="131" actId="20577"/>
        <pc:sldMkLst>
          <pc:docMk/>
          <pc:sldMk cId="1492065627" sldId="281"/>
        </pc:sldMkLst>
        <pc:spChg chg="mod">
          <ac:chgData name="Marc Skerrett" userId="S::marc.skerrett@univ-smb.fr::5838212c-6006-4602-b097-e4ba2e4953e8" providerId="AD" clId="Web-{F17413A2-7772-3863-0844-13CDD8805469}" dt="2025-04-18T14:20:36.588" v="131" actId="20577"/>
          <ac:spMkLst>
            <pc:docMk/>
            <pc:sldMk cId="1492065627" sldId="281"/>
            <ac:spMk id="19" creationId="{7B0DD401-5D5E-A95A-6D46-177D6E3FCF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03/06/2025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E6A7-5FEA-5F62-A81F-DDEBF7076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C43377-779A-9315-2637-AE61E5ABF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411CD94-0027-377C-F473-47F939BDC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6041E1-3EAC-B2FE-389A-799951C09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2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5180-E445-9FD7-7D47-83257A406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AA65FA-0385-4CA0-0415-537015535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49EB845-D45A-C73F-1EA7-975EEBDDF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C2F426-09C2-7EF5-6F30-947EB9603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522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RÉFÉRENTIEL DE COMPÉTENCES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COMPÉTENCES</a:t>
            </a:r>
          </a:p>
        </p:txBody>
      </p:sp>
      <p:sp>
        <p:nvSpPr>
          <p:cNvPr id="16" name="Freeform 119">
            <a:extLst>
              <a:ext uri="{FF2B5EF4-FFF2-40B4-BE49-F238E27FC236}">
                <a16:creationId xmlns:a16="http://schemas.microsoft.com/office/drawing/2014/main" id="{FCBE14E2-982F-D423-E4F8-756C0F60CBBF}"/>
              </a:ext>
            </a:extLst>
          </p:cNvPr>
          <p:cNvSpPr/>
          <p:nvPr/>
        </p:nvSpPr>
        <p:spPr>
          <a:xfrm>
            <a:off x="1296955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manufacturés</a:t>
            </a:r>
          </a:p>
          <a:p>
            <a:pPr algn="ctr"/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745EEB00-7DCF-B779-AE6F-D55C91C3B37B}"/>
              </a:ext>
            </a:extLst>
          </p:cNvPr>
          <p:cNvSpPr/>
          <p:nvPr/>
        </p:nvSpPr>
        <p:spPr>
          <a:xfrm>
            <a:off x="1295400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Optimiser les procédés de fabrication</a:t>
            </a:r>
          </a:p>
          <a:p>
            <a:pPr algn="ctr"/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7209B8F-DF4E-23B6-3477-DF742D32AC25}"/>
              </a:ext>
            </a:extLst>
          </p:cNvPr>
          <p:cNvSpPr/>
          <p:nvPr/>
        </p:nvSpPr>
        <p:spPr>
          <a:xfrm>
            <a:off x="6630955" y="3248608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Industrialiser des produits manufacturés</a:t>
            </a:r>
          </a:p>
          <a:p>
            <a:pPr algn="ctr"/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BD996EC0-1B09-FED3-EB1D-0B6CCCA129EB}"/>
              </a:ext>
            </a:extLst>
          </p:cNvPr>
          <p:cNvSpPr/>
          <p:nvPr/>
        </p:nvSpPr>
        <p:spPr>
          <a:xfrm>
            <a:off x="6630954" y="65913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systèmes mécatroniques</a:t>
            </a:r>
          </a:p>
          <a:p>
            <a:pPr algn="ctr"/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7A632426-283A-0A9D-7D91-CF237EA4BE14}"/>
              </a:ext>
            </a:extLst>
          </p:cNvPr>
          <p:cNvSpPr/>
          <p:nvPr/>
        </p:nvSpPr>
        <p:spPr>
          <a:xfrm>
            <a:off x="11964954" y="3238500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Piloter les procédés de fabrication</a:t>
            </a:r>
          </a:p>
          <a:p>
            <a:pPr algn="ctr"/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1E75D9CD-3CBE-B865-AC7C-95FF74A25BAE}"/>
              </a:ext>
            </a:extLst>
          </p:cNvPr>
          <p:cNvSpPr/>
          <p:nvPr/>
        </p:nvSpPr>
        <p:spPr>
          <a:xfrm>
            <a:off x="11964953" y="6581192"/>
            <a:ext cx="5024283" cy="3048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en matériaux composites</a:t>
            </a:r>
          </a:p>
          <a:p>
            <a:pPr algn="ctr"/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9D71A2E-D0E6-FFD7-91CE-26F59A31EA15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6C867843-C966-109B-6B01-61ED755F356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prenant en compte les besoins du client ; 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s'appuyant sur l'état de l'art (solutions existantes, normes en vigueur...) ; 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utilisant des méthodes et des outils adaptés (modélisation, logiciels...) ; 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démontrant la pertinence des solutions proposées (fabricabilité...) ; 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prenant en compte tout le cycle de vie du produit ; 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une méthode de gestion de projet adaptée (planification et suivi des tâches, analyse  du risque, gestion et suivi des coûts ...).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1219200" y="4932644"/>
            <a:ext cx="166328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modéliser un produit mécanique, électrique, mécatronique : niv3, plus complexe niv4, niv5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optimiser la conception du produit en utilisant ses modèles.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étudier la faisabilité technique en phase de préconception (matériaux, tolérancement...)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vérifier les comportements mécaniques du produit et de ses composants.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faire un benchmark produit (veille technique règlementaire et fonctionnelle, recherche de principes)​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analyser un document technique (dessin technique, schémas...)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analyser un produit existant mécanique, électrique, mécatronique.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élaborer des documents techniques (AMDEC, fiche de calcul, cahier des charges, notice d'utilisation, schémas, dessins technique, gamme d’assemblage).</a:t>
            </a:r>
          </a:p>
          <a:p>
            <a:endParaRPr lang="fr-FR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• structurer la documentation du produit (PLM).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1E843-CFE6-F54E-2EE1-1371CA45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52B3EB06-CDB2-211E-F587-44C11B567A4E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Industrialiser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0091FCB-96D0-276E-3BD8-9CD0D9FDA8C7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53B1093F-4FCD-75DC-ED93-DA325CFB45E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spécifications techniques du produit ; </a:t>
            </a:r>
          </a:p>
          <a:p>
            <a:pPr lvl="1"/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exigences de coût, de quantités et de délais ; </a:t>
            </a:r>
          </a:p>
          <a:p>
            <a:pPr lvl="1"/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technologies existantes ; </a:t>
            </a:r>
          </a:p>
          <a:p>
            <a:pPr lvl="1"/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respectant les règles QHSE ;  </a:t>
            </a:r>
          </a:p>
          <a:p>
            <a:pPr lvl="1"/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documentant de manière exhaustive le processus de fabrication choisi.	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6372E013-0A01-9B65-7F9C-9BAACC8EAB7A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6405D373-2E3C-04F8-1D54-68E2FF553314}"/>
              </a:ext>
            </a:extLst>
          </p:cNvPr>
          <p:cNvSpPr/>
          <p:nvPr/>
        </p:nvSpPr>
        <p:spPr>
          <a:xfrm>
            <a:off x="1219200" y="4932644"/>
            <a:ext cx="166328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élaborer les gammes de fabrication (mise en forme, assemblage).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concevoir un avant-projet d'étude de fabrication réaliste.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choisir les méthodes de fabrication.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programmer les machines à commande numérique.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définir les méthodes de vérification des pièces fabriquées.</a:t>
            </a:r>
          </a:p>
        </p:txBody>
      </p:sp>
    </p:spTree>
    <p:extLst>
      <p:ext uri="{BB962C8B-B14F-4D97-AF65-F5344CB8AC3E}">
        <p14:creationId xmlns:p14="http://schemas.microsoft.com/office/powerpoint/2010/main" val="984054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E42F-1C48-4DA6-C3D0-93F23F22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95FBAE08-EF5C-A756-8A27-7798C97AFF5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Piloter les procédés de fabrication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B9C52C57-A1C7-FA4C-54D7-572C1EDF2B1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7B0DD401-5D5E-A95A-6D46-177D6E3FCF73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r>
              <a:rPr lang="fr-FR" sz="200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• en respectant les délais et les quantités demandées</a:t>
            </a: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; </a:t>
            </a:r>
            <a:endParaRPr lang="fr-FR" sz="200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fr-FR" sz="200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• en garantissant les spécifications techniques du produit</a:t>
            </a: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; </a:t>
            </a:r>
            <a:endParaRPr lang="fr-FR" sz="2000" i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fr-FR" sz="200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• en choisissant des indicateurs pertinents</a:t>
            </a: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; </a:t>
            </a:r>
            <a:endParaRPr lang="fr-FR" sz="200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fr-FR" sz="200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• en veillant à réduire l'impact environnemental</a:t>
            </a: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; </a:t>
            </a:r>
            <a:endParaRPr lang="fr-FR" sz="2000" i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fr-FR" sz="200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• en manageant efficacement ses équipes (informer, former, motiver, organiser</a:t>
            </a: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; </a:t>
            </a:r>
            <a:endParaRPr lang="fr-FR" sz="2000" i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fr-FR" sz="200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• en utilisant efficacement les outils de gestion de production (logiciels, kakémono</a:t>
            </a: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...) ; </a:t>
            </a:r>
            <a:endParaRPr lang="fr-FR" sz="2000" i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fr-FR" sz="20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• en respectant les règles HSE.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76BAB59D-8800-936D-48CD-450B1CAAE195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15278AAB-E5D4-B0D6-7009-E22D4A2F5183}"/>
              </a:ext>
            </a:extLst>
          </p:cNvPr>
          <p:cNvSpPr/>
          <p:nvPr/>
        </p:nvSpPr>
        <p:spPr>
          <a:xfrm>
            <a:off x="1219200" y="4932644"/>
            <a:ext cx="166328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planifier la production (calcul des besoins, ordonnancement, calcul des charges...).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utiliser les outils de résolution de problème pour les productions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utiliser les outils de management des personnels de production.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suivre la valeur des indicateurs de performance.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synthétiser les résultats de production.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évaluer la qualité des produits.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organiser les maintenances pour s'assurer de la disponibilité des machines.</a:t>
            </a:r>
          </a:p>
        </p:txBody>
      </p:sp>
    </p:spTree>
    <p:extLst>
      <p:ext uri="{BB962C8B-B14F-4D97-AF65-F5344CB8AC3E}">
        <p14:creationId xmlns:p14="http://schemas.microsoft.com/office/powerpoint/2010/main" val="149206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55D2B67-05E2-1F90-45EC-7F37F6F70334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Optimiser les procédés de fabrication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E95D4EFA-053B-8BE9-EACD-8DA7B603317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choisissant les outils qualité adéquats ; 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veillant à la sobriété des procédés (énergie, matière première, déchets), aux coûts de production et à la qualité des produits ; 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évolutions technologiques ; 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communicant efficacement avec les personnels de production ; 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respectant les règles HSE.</a:t>
            </a:r>
          </a:p>
          <a:p>
            <a:pPr lvl="1"/>
            <a:r>
              <a:rPr lang="fr-FR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D72A0C8C-5B83-EC27-8238-50AAE0ACA6EF}"/>
              </a:ext>
            </a:extLst>
          </p:cNvPr>
          <p:cNvSpPr/>
          <p:nvPr/>
        </p:nvSpPr>
        <p:spPr>
          <a:xfrm>
            <a:off x="1219200" y="4932644"/>
            <a:ext cx="16632861" cy="508848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utiliser les outils de résolution de problème ("outils qualité").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mesurer la performance de la production.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modéliser les flux.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optimiser les flux (implantation des postes...).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analyser les défaillances, les dysfonctionnements des procédés.</a:t>
            </a:r>
          </a:p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• identifier les paramètres influents du procédé.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764DC90B-6441-4540-4D07-7274964A84C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systèmes mécatroniques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2EC66EAC-981F-EF95-2651-B3354C3C4161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mettant en œuvre des outils de modélisation et de simulation multiphysiques de manière appropriée ;  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choisissant les composants technologiques adéquats (mécaniques, électroniques, informatiques) ; 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interactions fonctionnelles et physiques entre les composants ; 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communicant efficacement avec les parties prenantes ; 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respectant les normes de produit en vigueur ;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assurant leur efficience.</a:t>
            </a: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1143000" y="4932644"/>
            <a:ext cx="16709061" cy="5088481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réaliser un circuit électrique/électronique.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développer des électroniques simples pour le conditionnement des signaux de capteurs ou la commande des actionneurs.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réaliser des calculs électriques  (lois de comportement courant -tension, puissances).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écrire un programme informatique.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modéliser les comportements du système mécatronique.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modéliser des systèmes dynamiques continus.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optimiser les performances du systèmes mécatronique.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spécifier et concevoir un système embarqué (entrée/sortie, registre, interruption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utiliser les outils de modélisation (GEMMA, GRAFCET) pour une solution de commande d’un automatisme simple.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mettre en œuvre des capteurs et des actionneurs.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concevoir la commande échantillonnée de système dynamique.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concevoir une stratégie de contrôle commande.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développer un système embarqué multi-tâches ou temps réels.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choisir et programmer un robot industriel.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utiliser les fonctionnalités essentielles d’un système embarqué.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optimiser la conception selon une approche multi-objectifs.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E8955289-EB1D-E6BF-5D5D-409DC3DDCB72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en matériaux composites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33DF3E8D-28FA-4FAC-01FF-DE8EF5EA22F4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prenant en compte les interactions entre les matériaux, le produit et  les procédés ; 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choisissant les composants matériaux de manière pertinente ; 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en utilisant les lois de comportements spécifiques appropriés aux matériaux (élasticité, rupture, endommagement, etc.)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utilisant des outils et des méthodes adaptées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organisant des données hétérogènes de manière synthétique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intégrant la réduction des impacts dans la conception (éco-propriétés des matières, des procédés et du produit, réemploi, </a:t>
            </a:r>
            <a:r>
              <a:rPr lang="fr-FR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réusage</a:t>
            </a: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etc.). 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797657D-69E3-7030-5584-4F1DD87EFB1C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7A85A77-4224-1889-38DE-27CE7FF724B1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Caractériser un matériau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Créer des indices de performance matériaux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Rédiger une gamme de fabrication et une fiche matière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Mettre en œuvre des procédés usuels</a:t>
            </a: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887B9F56-30F1-F997-A570-956CFA94CEF7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Définir un matériau selon des propriétés attendus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Évaluer l'impact environnemental 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Mettre au point une gamme de fabrication et une fiche matière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homogénéisé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Réaliser un prédimensionnement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Créer un outil de calcul pour faire un prédimensionnement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Piloter les paramètres des procédés usuels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Évaluer la performance du produit conçu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BF81045C-2E6A-27AA-7135-39186EEAB3DA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Modifier l'impact environnemental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pour matériau stratifié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Réaliser un dimensionnement détaillé (Outils de calcul métier)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Développer des procédés hautes performances</a:t>
            </a:r>
          </a:p>
          <a:p>
            <a:r>
              <a:rPr lang="fr-FR" sz="1200">
                <a:latin typeface="Calibri" panose="020F0502020204030204" pitchFamily="34" charset="0"/>
                <a:cs typeface="Calibri" panose="020F0502020204030204" pitchFamily="34" charset="0"/>
              </a:rPr>
              <a:t>Optimiser la performance du produit conçu </a:t>
            </a: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6C436FB-E143-5BBF-AD44-10A86586F9C1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D95217FA-4C98-A67E-8029-0B50DB0069AD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578B1D44-8B0D-9D17-A0C4-09B866955939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A2242922-10A8-8224-2500-DBA1CB399E4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490BD7F-DCED-4281-8F94-CDBA71A1A9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5D20B5-08FA-43EB-BBDD-6AA71978446E}">
  <ds:schemaRefs>
    <ds:schemaRef ds:uri="5a932de8-014e-4395-a210-acace869bdb6"/>
    <ds:schemaRef ds:uri="64984f8b-2057-4450-93f2-8aa5e6a062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D29F3C5-B779-456D-A47A-98DFD7C52F07}">
  <ds:schemaRefs>
    <ds:schemaRef ds:uri="5a932de8-014e-4395-a210-acace869bdb6"/>
    <ds:schemaRef ds:uri="64984f8b-2057-4450-93f2-8aa5e6a062c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revision>3</cp:revision>
  <dcterms:created xsi:type="dcterms:W3CDTF">2006-08-16T00:00:00Z</dcterms:created>
  <dcterms:modified xsi:type="dcterms:W3CDTF">2025-06-03T19:28:12Z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