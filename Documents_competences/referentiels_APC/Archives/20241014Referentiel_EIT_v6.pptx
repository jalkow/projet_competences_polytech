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sldIdLst>
    <p:sldId id="256" r:id="rId5"/>
    <p:sldId id="260" r:id="rId6"/>
    <p:sldId id="261" r:id="rId7"/>
    <p:sldId id="262" r:id="rId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B991B2-1753-481B-A90F-2FED05EA92F2}" v="18" dt="2025-03-25T10:27:09.398"/>
    <p1510:client id="{BE5ED46F-EBE7-42AB-A5C6-17BDEACA3D7D}" v="15" dt="2025-03-25T08:27:52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9"/>
    <p:restoredTop sz="94580"/>
  </p:normalViewPr>
  <p:slideViewPr>
    <p:cSldViewPr snapToGrid="0">
      <p:cViewPr>
        <p:scale>
          <a:sx n="110" d="100"/>
          <a:sy n="110" d="100"/>
        </p:scale>
        <p:origin x="2328" y="-1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ham Alloui" userId="S::ilham.alloui@univ-smb.fr::68fc43d7-0d5d-45b6-9507-975e2c114c32" providerId="AD" clId="Web-{49B991B2-1753-481B-A90F-2FED05EA92F2}"/>
    <pc:docChg chg="modSld">
      <pc:chgData name="Ilham Alloui" userId="S::ilham.alloui@univ-smb.fr::68fc43d7-0d5d-45b6-9507-975e2c114c32" providerId="AD" clId="Web-{49B991B2-1753-481B-A90F-2FED05EA92F2}" dt="2025-03-25T10:27:08.945" v="13" actId="20577"/>
      <pc:docMkLst>
        <pc:docMk/>
      </pc:docMkLst>
      <pc:sldChg chg="modSp">
        <pc:chgData name="Ilham Alloui" userId="S::ilham.alloui@univ-smb.fr::68fc43d7-0d5d-45b6-9507-975e2c114c32" providerId="AD" clId="Web-{49B991B2-1753-481B-A90F-2FED05EA92F2}" dt="2025-03-25T10:25:59.895" v="7" actId="14100"/>
        <pc:sldMkLst>
          <pc:docMk/>
          <pc:sldMk cId="3044381407" sldId="256"/>
        </pc:sldMkLst>
        <pc:spChg chg="mod">
          <ac:chgData name="Ilham Alloui" userId="S::ilham.alloui@univ-smb.fr::68fc43d7-0d5d-45b6-9507-975e2c114c32" providerId="AD" clId="Web-{49B991B2-1753-481B-A90F-2FED05EA92F2}" dt="2025-03-25T10:25:35.628" v="6" actId="14100"/>
          <ac:spMkLst>
            <pc:docMk/>
            <pc:sldMk cId="3044381407" sldId="256"/>
            <ac:spMk id="2" creationId="{BAE7B3F2-CEC8-417B-12A7-9B8523FDC72C}"/>
          </ac:spMkLst>
        </pc:spChg>
        <pc:spChg chg="mod">
          <ac:chgData name="Ilham Alloui" userId="S::ilham.alloui@univ-smb.fr::68fc43d7-0d5d-45b6-9507-975e2c114c32" providerId="AD" clId="Web-{49B991B2-1753-481B-A90F-2FED05EA92F2}" dt="2025-03-25T10:25:59.895" v="7" actId="14100"/>
          <ac:spMkLst>
            <pc:docMk/>
            <pc:sldMk cId="3044381407" sldId="256"/>
            <ac:spMk id="18" creationId="{4B25E8AB-A55E-7EBF-291F-B181B69A8BD6}"/>
          </ac:spMkLst>
        </pc:spChg>
      </pc:sldChg>
      <pc:sldChg chg="modSp">
        <pc:chgData name="Ilham Alloui" userId="S::ilham.alloui@univ-smb.fr::68fc43d7-0d5d-45b6-9507-975e2c114c32" providerId="AD" clId="Web-{49B991B2-1753-481B-A90F-2FED05EA92F2}" dt="2025-03-25T10:26:18.411" v="9" actId="20577"/>
        <pc:sldMkLst>
          <pc:docMk/>
          <pc:sldMk cId="2680925107" sldId="260"/>
        </pc:sldMkLst>
        <pc:spChg chg="mod">
          <ac:chgData name="Ilham Alloui" userId="S::ilham.alloui@univ-smb.fr::68fc43d7-0d5d-45b6-9507-975e2c114c32" providerId="AD" clId="Web-{49B991B2-1753-481B-A90F-2FED05EA92F2}" dt="2025-03-25T10:26:18.411" v="9" actId="20577"/>
          <ac:spMkLst>
            <pc:docMk/>
            <pc:sldMk cId="2680925107" sldId="260"/>
            <ac:spMk id="2" creationId="{120BE6C5-C445-D8AB-4C49-F06327F3D35A}"/>
          </ac:spMkLst>
        </pc:spChg>
      </pc:sldChg>
      <pc:sldChg chg="modSp">
        <pc:chgData name="Ilham Alloui" userId="S::ilham.alloui@univ-smb.fr::68fc43d7-0d5d-45b6-9507-975e2c114c32" providerId="AD" clId="Web-{49B991B2-1753-481B-A90F-2FED05EA92F2}" dt="2025-03-25T10:26:38.975" v="11" actId="20577"/>
        <pc:sldMkLst>
          <pc:docMk/>
          <pc:sldMk cId="1169568118" sldId="261"/>
        </pc:sldMkLst>
        <pc:spChg chg="mod">
          <ac:chgData name="Ilham Alloui" userId="S::ilham.alloui@univ-smb.fr::68fc43d7-0d5d-45b6-9507-975e2c114c32" providerId="AD" clId="Web-{49B991B2-1753-481B-A90F-2FED05EA92F2}" dt="2025-03-25T10:26:38.975" v="11" actId="20577"/>
          <ac:spMkLst>
            <pc:docMk/>
            <pc:sldMk cId="1169568118" sldId="261"/>
            <ac:spMk id="2" creationId="{120BE6C5-C445-D8AB-4C49-F06327F3D35A}"/>
          </ac:spMkLst>
        </pc:spChg>
      </pc:sldChg>
      <pc:sldChg chg="modSp">
        <pc:chgData name="Ilham Alloui" userId="S::ilham.alloui@univ-smb.fr::68fc43d7-0d5d-45b6-9507-975e2c114c32" providerId="AD" clId="Web-{49B991B2-1753-481B-A90F-2FED05EA92F2}" dt="2025-03-25T10:27:08.945" v="13" actId="20577"/>
        <pc:sldMkLst>
          <pc:docMk/>
          <pc:sldMk cId="3378607" sldId="262"/>
        </pc:sldMkLst>
        <pc:spChg chg="mod">
          <ac:chgData name="Ilham Alloui" userId="S::ilham.alloui@univ-smb.fr::68fc43d7-0d5d-45b6-9507-975e2c114c32" providerId="AD" clId="Web-{49B991B2-1753-481B-A90F-2FED05EA92F2}" dt="2025-03-25T10:27:08.945" v="13" actId="20577"/>
          <ac:spMkLst>
            <pc:docMk/>
            <pc:sldMk cId="3378607" sldId="262"/>
            <ac:spMk id="2" creationId="{120BE6C5-C445-D8AB-4C49-F06327F3D35A}"/>
          </ac:spMkLst>
        </pc:spChg>
      </pc:sldChg>
    </pc:docChg>
  </pc:docChgLst>
  <pc:docChgLst>
    <pc:chgData name="Ilham Alloui" userId="S::ilham.alloui@univ-smb.fr::68fc43d7-0d5d-45b6-9507-975e2c114c32" providerId="AD" clId="Web-{BE5ED46F-EBE7-42AB-A5C6-17BDEACA3D7D}"/>
    <pc:docChg chg="modSld">
      <pc:chgData name="Ilham Alloui" userId="S::ilham.alloui@univ-smb.fr::68fc43d7-0d5d-45b6-9507-975e2c114c32" providerId="AD" clId="Web-{BE5ED46F-EBE7-42AB-A5C6-17BDEACA3D7D}" dt="2025-03-25T08:27:45.355" v="11" actId="20577"/>
      <pc:docMkLst>
        <pc:docMk/>
      </pc:docMkLst>
      <pc:sldChg chg="modSp">
        <pc:chgData name="Ilham Alloui" userId="S::ilham.alloui@univ-smb.fr::68fc43d7-0d5d-45b6-9507-975e2c114c32" providerId="AD" clId="Web-{BE5ED46F-EBE7-42AB-A5C6-17BDEACA3D7D}" dt="2025-03-25T08:27:45.355" v="11" actId="20577"/>
        <pc:sldMkLst>
          <pc:docMk/>
          <pc:sldMk cId="3044381407" sldId="256"/>
        </pc:sldMkLst>
        <pc:spChg chg="mod">
          <ac:chgData name="Ilham Alloui" userId="S::ilham.alloui@univ-smb.fr::68fc43d7-0d5d-45b6-9507-975e2c114c32" providerId="AD" clId="Web-{BE5ED46F-EBE7-42AB-A5C6-17BDEACA3D7D}" dt="2025-03-25T08:27:01.277" v="10" actId="14100"/>
          <ac:spMkLst>
            <pc:docMk/>
            <pc:sldMk cId="3044381407" sldId="256"/>
            <ac:spMk id="2" creationId="{BAE7B3F2-CEC8-417B-12A7-9B8523FDC72C}"/>
          </ac:spMkLst>
        </pc:spChg>
        <pc:spChg chg="mod">
          <ac:chgData name="Ilham Alloui" userId="S::ilham.alloui@univ-smb.fr::68fc43d7-0d5d-45b6-9507-975e2c114c32" providerId="AD" clId="Web-{BE5ED46F-EBE7-42AB-A5C6-17BDEACA3D7D}" dt="2025-03-25T08:27:45.355" v="11" actId="20577"/>
          <ac:spMkLst>
            <pc:docMk/>
            <pc:sldMk cId="3044381407" sldId="256"/>
            <ac:spMk id="5" creationId="{5BCB4965-E3CC-A257-0CA1-2FCCE798A106}"/>
          </ac:spMkLst>
        </pc:spChg>
        <pc:spChg chg="mod">
          <ac:chgData name="Ilham Alloui" userId="S::ilham.alloui@univ-smb.fr::68fc43d7-0d5d-45b6-9507-975e2c114c32" providerId="AD" clId="Web-{BE5ED46F-EBE7-42AB-A5C6-17BDEACA3D7D}" dt="2025-03-25T08:25:33.199" v="5" actId="20577"/>
          <ac:spMkLst>
            <pc:docMk/>
            <pc:sldMk cId="3044381407" sldId="256"/>
            <ac:spMk id="18" creationId="{4B25E8AB-A55E-7EBF-291F-B181B69A8B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697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67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4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44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911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02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  <p:pic>
        <p:nvPicPr>
          <p:cNvPr id="6" name="Image 7">
            <a:extLst>
              <a:ext uri="{FF2B5EF4-FFF2-40B4-BE49-F238E27FC236}">
                <a16:creationId xmlns:a16="http://schemas.microsoft.com/office/drawing/2014/main" id="{2562921F-EF9C-41C1-9438-35B3201006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050256" y="7899771"/>
            <a:ext cx="1807744" cy="115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3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89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98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58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77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425F2-F0E4-1D4B-BFA0-799A02AE676D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94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CB4965-E3CC-A257-0CA1-2FCCE798A106}"/>
              </a:ext>
            </a:extLst>
          </p:cNvPr>
          <p:cNvSpPr/>
          <p:nvPr/>
        </p:nvSpPr>
        <p:spPr>
          <a:xfrm>
            <a:off x="1472917" y="1650671"/>
            <a:ext cx="1850571" cy="132805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/>
            <a:r>
              <a:rPr lang="fr-FR" sz="1200" dirty="0">
                <a:solidFill>
                  <a:schemeClr val="tx1"/>
                </a:solidFill>
              </a:rPr>
              <a:t>Concevoir une stratégie intégrative </a:t>
            </a:r>
            <a:r>
              <a:rPr lang="fr-FR" sz="1200" strike="noStrike" dirty="0">
                <a:solidFill>
                  <a:schemeClr val="tx1"/>
                </a:solidFill>
              </a:rPr>
              <a:t>d</a:t>
            </a:r>
            <a:r>
              <a:rPr lang="fr-FR" sz="1200" dirty="0">
                <a:solidFill>
                  <a:schemeClr val="tx1"/>
                </a:solidFill>
              </a:rPr>
              <a:t>es enjeux liés à l’écologie industrielle et territoriale</a:t>
            </a:r>
            <a:endParaRPr lang="fr-FR" sz="1200">
              <a:solidFill>
                <a:schemeClr val="tx1"/>
              </a:solidFill>
              <a:cs typeface="Calibri"/>
            </a:endParaRPr>
          </a:p>
          <a:p>
            <a:pPr lvl="0" algn="ctr"/>
            <a:endParaRPr lang="fr-FR" sz="1200" cap="all" dirty="0">
              <a:solidFill>
                <a:schemeClr val="tx1"/>
              </a:solidFill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cap="all" dirty="0">
                <a:solidFill>
                  <a:schemeClr val="tx1"/>
                </a:solidFill>
                <a:ea typeface="+mn-lt"/>
                <a:cs typeface="+mn-lt"/>
              </a:rPr>
              <a:t>RNCP38675BC01</a:t>
            </a:r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7B3F2-CEC8-417B-12A7-9B8523FDC72C}"/>
              </a:ext>
            </a:extLst>
          </p:cNvPr>
          <p:cNvSpPr/>
          <p:nvPr/>
        </p:nvSpPr>
        <p:spPr>
          <a:xfrm>
            <a:off x="3541863" y="1650671"/>
            <a:ext cx="1850571" cy="137215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/>
            <a:r>
              <a:rPr lang="fr-FR" sz="1200" dirty="0">
                <a:solidFill>
                  <a:schemeClr val="tx1"/>
                </a:solidFill>
              </a:rPr>
              <a:t>Proposer et mettre en œuvre des méthodes d’ingénierie avec une vision stratégique globale</a:t>
            </a:r>
            <a:endParaRPr lang="fr-FR" sz="1200" dirty="0">
              <a:solidFill>
                <a:schemeClr val="tx1"/>
              </a:solidFill>
              <a:cs typeface="Calibri"/>
            </a:endParaRPr>
          </a:p>
          <a:p>
            <a:pPr algn="ctr">
              <a:spcAft>
                <a:spcPts val="600"/>
              </a:spcAft>
            </a:pPr>
            <a:endParaRPr lang="fr-FR" sz="1200" cap="all" dirty="0">
              <a:solidFill>
                <a:schemeClr val="tx1"/>
              </a:solidFill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cap="all" dirty="0">
                <a:solidFill>
                  <a:schemeClr val="tx1"/>
                </a:solidFill>
                <a:ea typeface="+mn-lt"/>
                <a:cs typeface="+mn-lt"/>
              </a:rPr>
              <a:t>RNCP38675BC02 RNCP38675BC03 </a:t>
            </a:r>
            <a:endParaRPr lang="fr-FR" sz="1200" cap="all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25E8AB-A55E-7EBF-291F-B181B69A8BD6}"/>
              </a:ext>
            </a:extLst>
          </p:cNvPr>
          <p:cNvSpPr/>
          <p:nvPr/>
        </p:nvSpPr>
        <p:spPr>
          <a:xfrm>
            <a:off x="2430210" y="3183431"/>
            <a:ext cx="1924075" cy="133540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/>
            <a:r>
              <a:rPr lang="fr-FR" sz="1200" dirty="0">
                <a:solidFill>
                  <a:schemeClr val="tx1"/>
                </a:solidFill>
                <a:highlight>
                  <a:srgbClr val="FFFF00"/>
                </a:highlight>
              </a:rPr>
              <a:t>Conduire des missions dans un contexte </a:t>
            </a:r>
            <a:r>
              <a:rPr lang="fr-FR" sz="1200" dirty="0">
                <a:solidFill>
                  <a:schemeClr val="tx1"/>
                </a:solidFill>
              </a:rPr>
              <a:t>d'écologie industrielle et territoriale </a:t>
            </a:r>
            <a:endParaRPr lang="fr-FR" sz="1200" dirty="0">
              <a:solidFill>
                <a:schemeClr val="tx1"/>
              </a:solidFill>
              <a:cs typeface="Calibri"/>
            </a:endParaRPr>
          </a:p>
          <a:p>
            <a:pPr algn="ctr">
              <a:spcAft>
                <a:spcPts val="600"/>
              </a:spcAft>
            </a:pPr>
            <a:endParaRPr lang="fr-FR" sz="1200" cap="all" dirty="0">
              <a:solidFill>
                <a:schemeClr val="tx1"/>
              </a:solidFill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cap="all" dirty="0">
                <a:solidFill>
                  <a:schemeClr val="tx1"/>
                </a:solidFill>
                <a:ea typeface="+mn-lt"/>
                <a:cs typeface="+mn-lt"/>
              </a:rPr>
              <a:t>RNCP38675BC04 RNCP38675BC05</a:t>
            </a:r>
            <a:endParaRPr lang="fr-FR" sz="1200" dirty="0">
              <a:solidFill>
                <a:schemeClr val="tx1"/>
              </a:solidFill>
              <a:latin typeface="Myriad Pro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DEF488-0DC5-EFE0-4CE1-31506D55603B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		 Ecologie Industrielle et territoriale 		Polytech 2024</a:t>
            </a:r>
          </a:p>
        </p:txBody>
      </p:sp>
    </p:spTree>
    <p:extLst>
      <p:ext uri="{BB962C8B-B14F-4D97-AF65-F5344CB8AC3E}">
        <p14:creationId xmlns:p14="http://schemas.microsoft.com/office/powerpoint/2010/main" val="3044381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39C6AD-AF35-BE97-714E-47D414B85D41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		Ecologie Industrielle et territoriale		Polytech 2024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800" b="1" dirty="0">
                <a:solidFill>
                  <a:schemeClr val="tx1"/>
                </a:solidFill>
                <a:latin typeface="+mj-lt"/>
              </a:rPr>
              <a:t>Composantes essentielles</a:t>
            </a:r>
          </a:p>
          <a:p>
            <a:endParaRPr lang="fr-FR" sz="800" dirty="0">
              <a:solidFill>
                <a:schemeClr val="tx1"/>
              </a:solidFill>
              <a:latin typeface="+mj-lt"/>
            </a:endParaRP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identifiant les principes et raisonnements scientifiques et les technologies </a:t>
            </a:r>
            <a:r>
              <a:rPr lang="fr-FR" sz="800" dirty="0">
                <a:solidFill>
                  <a:schemeClr val="tx1"/>
                </a:solidFill>
                <a:highlight>
                  <a:srgbClr val="FFFF00"/>
                </a:highlight>
              </a:rPr>
              <a:t>adaptées</a:t>
            </a:r>
            <a:r>
              <a:rPr lang="fr-FR" sz="800" dirty="0">
                <a:solidFill>
                  <a:schemeClr val="tx1"/>
                </a:solidFill>
              </a:rPr>
              <a:t> aux enjeux ;</a:t>
            </a:r>
            <a:endParaRPr lang="fr-FR" sz="800" dirty="0">
              <a:solidFill>
                <a:schemeClr val="tx1"/>
              </a:solidFill>
              <a:ea typeface="Calibri"/>
              <a:cs typeface="Calibri"/>
            </a:endParaRP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analysant de manière critique les flux (matière, énergie...) ;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sélectionnant les outils pertinents ;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examinant de façon critique la validité technico-économique et règlementaire des scénarios possibles ;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 </a:t>
            </a:r>
            <a:r>
              <a:rPr lang="fr-FR" sz="800" dirty="0">
                <a:solidFill>
                  <a:schemeClr val="tx1"/>
                </a:solidFill>
                <a:highlight>
                  <a:srgbClr val="FFFF00"/>
                </a:highlight>
              </a:rPr>
              <a:t>identifiant des moyens d’exploiter durablement </a:t>
            </a:r>
            <a:r>
              <a:rPr lang="fr-FR" sz="800" dirty="0">
                <a:solidFill>
                  <a:schemeClr val="tx1"/>
                </a:solidFill>
              </a:rPr>
              <a:t>les ressources locales ou industrielles ;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  <a:latin typeface="+mn-lt"/>
              </a:rPr>
              <a:t> en prenant en compte les objectifs du développement durable ;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communiquant </a:t>
            </a:r>
            <a:r>
              <a:rPr lang="fr-FR" sz="800" dirty="0">
                <a:solidFill>
                  <a:schemeClr val="tx1"/>
                </a:solidFill>
                <a:highlight>
                  <a:srgbClr val="FFFF00"/>
                </a:highlight>
              </a:rPr>
              <a:t>efficacement</a:t>
            </a:r>
            <a:r>
              <a:rPr lang="fr-FR" sz="800" dirty="0">
                <a:solidFill>
                  <a:schemeClr val="tx1"/>
                </a:solidFill>
              </a:rPr>
              <a:t> avec les parties prenantes internes et externes.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buFont typeface="Times New Roman" panose="02020603050405020304" pitchFamily="18" charset="0"/>
              <a:buChar char="-"/>
            </a:pPr>
            <a:r>
              <a:rPr lang="fr-FR" sz="900" dirty="0">
                <a:solidFill>
                  <a:schemeClr val="tx1"/>
                </a:solidFill>
              </a:rPr>
              <a:t>Etudes d'impact environnemental (milieu aquatique, air, déchets...)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900" dirty="0">
                <a:solidFill>
                  <a:schemeClr val="tx1"/>
                </a:solidFill>
              </a:rPr>
              <a:t>Etudes et conseils sur les stratégies de planification énergétique  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900" dirty="0">
                <a:solidFill>
                  <a:schemeClr val="tx1"/>
                </a:solidFill>
              </a:rPr>
              <a:t>Management environnemental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900" dirty="0">
                <a:solidFill>
                  <a:schemeClr val="tx1"/>
                </a:solidFill>
              </a:rPr>
              <a:t>Etudes et conseils sur la mise en place d'une stratégie d’écologie industrielle (intra ou inter-entreprises).</a:t>
            </a:r>
          </a:p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dirty="0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43696"/>
            <a:ext cx="4689078" cy="120769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106807"/>
            <a:ext cx="4689078" cy="120769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1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r>
              <a:rPr lang="fr-FR" sz="1100" dirty="0"/>
              <a:t>Évaluer les enjeux liés à l’écologie industrielle et territoriale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2</a:t>
            </a:r>
          </a:p>
          <a:p>
            <a:pPr algn="ctr"/>
            <a:endParaRPr lang="fr-FR" sz="1200" b="1" dirty="0">
              <a:latin typeface="Myriad Pro" panose="020B0503030403020204" pitchFamily="34" charset="0"/>
            </a:endParaRPr>
          </a:p>
          <a:p>
            <a:pPr algn="ctr"/>
            <a:r>
              <a:rPr lang="fr-FR" sz="1000" dirty="0"/>
              <a:t>Concevoir une stratégie d’écologie industrielle et territoriale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389794"/>
            <a:ext cx="18505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3</a:t>
            </a:r>
          </a:p>
          <a:p>
            <a:pPr algn="ctr"/>
            <a:endParaRPr lang="fr-FR" sz="10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/>
              <a:t>Mettre en œuvre une stratégie d'écologie industrielle et territoriale dans un contexte professionnel spécifique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 dirty="0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/>
            <a:r>
              <a:rPr lang="fr-FR" sz="1200" dirty="0">
                <a:solidFill>
                  <a:schemeClr val="tx1"/>
                </a:solidFill>
              </a:rPr>
              <a:t>Concevoir une stratégie intégrative </a:t>
            </a:r>
            <a:r>
              <a:rPr lang="fr-FR" sz="1200" strike="noStrike" dirty="0">
                <a:solidFill>
                  <a:schemeClr val="tx1"/>
                </a:solidFill>
              </a:rPr>
              <a:t>d</a:t>
            </a:r>
            <a:r>
              <a:rPr lang="fr-FR" sz="1200" dirty="0">
                <a:solidFill>
                  <a:schemeClr val="tx1"/>
                </a:solidFill>
              </a:rPr>
              <a:t>es enjeux liés à l’écologie industrielle et territoriale</a:t>
            </a:r>
            <a:endParaRPr lang="fr-FR" sz="1200" dirty="0">
              <a:solidFill>
                <a:schemeClr val="tx1"/>
              </a:solidFill>
              <a:cs typeface="Calibri"/>
            </a:endParaRPr>
          </a:p>
          <a:p>
            <a:pPr algn="ctr">
              <a:spcAft>
                <a:spcPts val="600"/>
              </a:spcAft>
            </a:pPr>
            <a:endParaRPr lang="fr-FR" sz="1200" cap="all" dirty="0">
              <a:solidFill>
                <a:schemeClr val="tx1"/>
              </a:solidFill>
              <a:latin typeface="Myriad Pro" panose="020B0503030403020204" pitchFamily="34" charset="0"/>
            </a:endParaRPr>
          </a:p>
          <a:p>
            <a:pPr algn="ctr"/>
            <a:r>
              <a:rPr lang="fr-FR" sz="1200" cap="all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RNCP38675BC01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605DB0-BE92-6E93-7B19-84C6265E49A1}"/>
              </a:ext>
            </a:extLst>
          </p:cNvPr>
          <p:cNvSpPr txBox="1"/>
          <p:nvPr/>
        </p:nvSpPr>
        <p:spPr>
          <a:xfrm>
            <a:off x="2066564" y="3915859"/>
            <a:ext cx="460342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AC1 Identifier les ressources disponibles et valorisables sur un territoire pour leur potentielle exploitation ;</a:t>
            </a:r>
          </a:p>
          <a:p>
            <a:pPr>
              <a:buFont typeface="Times New Roman" panose="02020603050405020304" pitchFamily="18" charset="0"/>
              <a:buChar char="-"/>
            </a:pPr>
            <a:r>
              <a:rPr lang="fr-FR" sz="800" dirty="0"/>
              <a:t>AC2  Analyser un système et les grandeurs associées en vue de réaliser un bilan macroscopique de masse et/ou d'énergie ;</a:t>
            </a:r>
          </a:p>
          <a:p>
            <a:r>
              <a:rPr lang="fr-FR" sz="800"/>
              <a:t>AC3  Identifier les liés aux problématiques territoriales</a:t>
            </a:r>
            <a:endParaRPr lang="fr-FR" sz="800">
              <a:ea typeface="Calibri"/>
              <a:cs typeface="Calibri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E6F3CF-FFD3-70DA-2865-3E87347953A1}"/>
              </a:ext>
            </a:extLst>
          </p:cNvPr>
          <p:cNvSpPr txBox="1"/>
          <p:nvPr/>
        </p:nvSpPr>
        <p:spPr>
          <a:xfrm>
            <a:off x="2117912" y="4893050"/>
            <a:ext cx="37866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Font typeface="Times New Roman" panose="02020603050405020304" pitchFamily="18" charset="0"/>
              <a:buNone/>
            </a:pPr>
            <a:r>
              <a:rPr lang="fr-FR" sz="800" dirty="0"/>
              <a:t>- Concevoir un scénario d'écologie industrielle ou territoriale ;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800" dirty="0"/>
              <a:t>- Caractériser les principales sources d’émission (polluants, déchets, énergie) ;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800" dirty="0"/>
              <a:t>- Evaluer leur potentiel de conversion ou de valorisation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Evaluer les performances énergétiques et environnementales d'une installation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Mettre en œuvre une méthodologie de surveillance des impacts environnementaux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Rédiger et défendre un rapport technique.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EA8FE9B-39C2-96C4-2ED4-A7B2BB850CF4}"/>
              </a:ext>
            </a:extLst>
          </p:cNvPr>
          <p:cNvSpPr txBox="1"/>
          <p:nvPr/>
        </p:nvSpPr>
        <p:spPr>
          <a:xfrm>
            <a:off x="2117912" y="6180957"/>
            <a:ext cx="4716356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buFont typeface="Times New Roman" panose="02020603050405020304" pitchFamily="18" charset="0"/>
              <a:buChar char="-"/>
            </a:pPr>
            <a:r>
              <a:rPr lang="fr-FR" sz="800"/>
              <a:t> AC10 Situer son projet par rapport à l’état de l’art des connaissances et/ou des pratiques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Concevoir un plan d'action  d’écologie industrielle ou territorial dans un contexte professionnel spécifique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Intégrer les contraintes réglementaires et les spécificités rencontrées dans ce contexte spécifique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Utiliser des outils et logiciels métiers adaptés au contexte spécifique pour le traitement des données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Interagir avec les parties prenantes internes et externes au projet ;</a:t>
            </a:r>
          </a:p>
          <a:p>
            <a:pPr lvl="0">
              <a:buFont typeface="Times New Roman"/>
              <a:buChar char="-"/>
            </a:pPr>
            <a:r>
              <a:rPr lang="fr-FR" sz="800" dirty="0"/>
              <a:t> Rédiger et défendre un rapport technique du projet.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EF5E151-4D83-05A6-0071-DF632FE73A95}"/>
              </a:ext>
            </a:extLst>
          </p:cNvPr>
          <p:cNvSpPr txBox="1"/>
          <p:nvPr/>
        </p:nvSpPr>
        <p:spPr bwMode="auto">
          <a:xfrm>
            <a:off x="115170" y="7990891"/>
            <a:ext cx="4543231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fr-FR" sz="800" dirty="0"/>
              <a:t>SAE : 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1 : UE503 Gestion des flux à l’échelle territoriale (à créer)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2 : UE702 Energie et traitement des gaz et UE703 (?) Ecologie Industrielle et territoriale (à créer)</a:t>
            </a:r>
          </a:p>
          <a:p>
            <a:pPr lvl="0">
              <a:defRPr/>
            </a:pPr>
            <a:r>
              <a:rPr lang="fr-FR" sz="800" dirty="0"/>
              <a:t>- Niveau 3 : PROJ901 : Projet recherche et Développement (à créer)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268092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39C6AD-AF35-BE97-714E-47D414B85D41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		Ecologie Industrielle et territoriale		Polytech 2024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800" b="1" dirty="0">
                <a:solidFill>
                  <a:schemeClr val="tx1"/>
                </a:solidFill>
                <a:latin typeface="+mj-lt"/>
              </a:rPr>
              <a:t>Composantes essentielles</a:t>
            </a:r>
          </a:p>
          <a:p>
            <a:endParaRPr lang="fr-FR" sz="800" dirty="0">
              <a:solidFill>
                <a:schemeClr val="tx1"/>
              </a:solidFill>
              <a:latin typeface="+mj-lt"/>
            </a:endParaRP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prenant en compte la performance des systèmes et des procédés;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optimisant l'utilisation des ressources ;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</a:t>
            </a:r>
            <a:r>
              <a:rPr lang="fr-FR" sz="800" dirty="0">
                <a:solidFill>
                  <a:schemeClr val="tx1"/>
                </a:solidFill>
                <a:highlight>
                  <a:srgbClr val="FFFF00"/>
                </a:highlight>
              </a:rPr>
              <a:t>assurant la conformité aux </a:t>
            </a:r>
            <a:r>
              <a:rPr lang="fr-FR" sz="800" dirty="0">
                <a:solidFill>
                  <a:schemeClr val="tx1"/>
                </a:solidFill>
              </a:rPr>
              <a:t>normes et règlementations en vigueur ;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communiquant de manière adaptée, étayée et précise ;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adoptant une démarche </a:t>
            </a:r>
            <a:r>
              <a:rPr lang="fr-FR" sz="800" dirty="0">
                <a:solidFill>
                  <a:schemeClr val="tx1"/>
                </a:solidFill>
                <a:highlight>
                  <a:srgbClr val="FFFF00"/>
                </a:highlight>
              </a:rPr>
              <a:t>structurée</a:t>
            </a:r>
            <a:r>
              <a:rPr lang="fr-FR" sz="800" dirty="0">
                <a:solidFill>
                  <a:schemeClr val="tx1"/>
                </a:solidFill>
              </a:rPr>
              <a:t> de gestion de projet.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buFont typeface="Times New Roman" panose="02020603050405020304" pitchFamily="18" charset="0"/>
              <a:buNone/>
            </a:pPr>
            <a:r>
              <a:rPr lang="fr-FR" sz="900" dirty="0">
                <a:solidFill>
                  <a:schemeClr val="tx1"/>
                </a:solidFill>
              </a:rPr>
              <a:t>- Analyse énergétique et environnementale d'un système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900" dirty="0">
                <a:solidFill>
                  <a:schemeClr val="tx1"/>
                </a:solidFill>
              </a:rPr>
              <a:t>- Dimensionnement de solutions techniques innovantes en répondant à l'expression des besoins 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900" dirty="0">
                <a:solidFill>
                  <a:schemeClr val="tx1"/>
                </a:solidFill>
              </a:rPr>
              <a:t> Pilotage et suivi d'une installation énergétique ou de traitement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dirty="0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43696"/>
            <a:ext cx="4689078" cy="120769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106807"/>
            <a:ext cx="4689078" cy="120769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1</a:t>
            </a:r>
          </a:p>
          <a:p>
            <a:pPr algn="ctr"/>
            <a:endParaRPr lang="fr-FR" sz="1000" dirty="0">
              <a:latin typeface="Myriad Pro" panose="020B0503030403020204" pitchFamily="34" charset="0"/>
            </a:endParaRPr>
          </a:p>
          <a:p>
            <a:pPr lvl="0" algn="ctr"/>
            <a:r>
              <a:rPr lang="fr-FR" sz="900" dirty="0"/>
              <a:t>Dimensionner des composants énergétiques et analyser le système global (circuits hydrauliques, échangeurs de chaleur, système énergétique…)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2</a:t>
            </a:r>
          </a:p>
          <a:p>
            <a:pPr algn="ctr"/>
            <a:endParaRPr lang="fr-FR" sz="10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/>
              <a:t>Concevoir et dimensionner une filière de traitement des eaux résiduaires ou industrielles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395897"/>
            <a:ext cx="1850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3</a:t>
            </a:r>
          </a:p>
          <a:p>
            <a:pPr algn="ctr"/>
            <a:endParaRPr lang="fr-FR" sz="10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/>
              <a:t>Concevoir et proposer des solutions techniques intégratives adaptées aux besoins d'un territoire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 dirty="0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/>
            <a:r>
              <a:rPr lang="fr-FR" sz="1000" dirty="0">
                <a:solidFill>
                  <a:schemeClr val="tx1"/>
                </a:solidFill>
              </a:rPr>
              <a:t>Proposer et mettre en œuvre des méthodes d’ingénierie (énergétique, gestion et traitement des effluents aqueux, gazeux et déchets) avec une vision stratégique globale</a:t>
            </a:r>
            <a:endParaRPr lang="fr-FR" sz="1200" cap="all" dirty="0">
              <a:solidFill>
                <a:schemeClr val="tx1"/>
              </a:solidFill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cap="all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RNCP38675BC02 RNCP38675BC03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605DB0-BE92-6E93-7B19-84C6265E49A1}"/>
              </a:ext>
            </a:extLst>
          </p:cNvPr>
          <p:cNvSpPr txBox="1"/>
          <p:nvPr/>
        </p:nvSpPr>
        <p:spPr>
          <a:xfrm>
            <a:off x="2066564" y="3889788"/>
            <a:ext cx="4603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Travailler en équipe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Choisir des composants d'un système hydraulique et énergétique ; 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Dimensionner les composants d’un système ; 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Analyser les performances d’un système ; 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Rédiger un rapport technique.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E6F3CF-FFD3-70DA-2865-3E87347953A1}"/>
              </a:ext>
            </a:extLst>
          </p:cNvPr>
          <p:cNvSpPr txBox="1"/>
          <p:nvPr/>
        </p:nvSpPr>
        <p:spPr>
          <a:xfrm>
            <a:off x="2117912" y="5031549"/>
            <a:ext cx="41184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Font typeface="Times New Roman" panose="02020603050405020304" pitchFamily="18" charset="0"/>
              <a:buNone/>
            </a:pPr>
            <a:r>
              <a:rPr lang="fr-FR" sz="800" dirty="0"/>
              <a:t>- Sélectionner une filière de traitement des eaux résiduaires répondant au cahier des charges ;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800" dirty="0"/>
              <a:t>- </a:t>
            </a:r>
            <a:r>
              <a:rPr lang="fr-FR" sz="800" dirty="0">
                <a:solidFill>
                  <a:schemeClr val="tx1"/>
                </a:solidFill>
              </a:rPr>
              <a:t>Planifier les tâches, les méthodes et les outils pour le travail d'équipe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Dimensionner les opérations unitaires et la filière complète de traitement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Rédiger le rapport d'avant-projet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Présenter et défendre la solution proposée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Travailler en équipe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EA8FE9B-39C2-96C4-2ED4-A7B2BB850CF4}"/>
              </a:ext>
            </a:extLst>
          </p:cNvPr>
          <p:cNvSpPr txBox="1"/>
          <p:nvPr/>
        </p:nvSpPr>
        <p:spPr>
          <a:xfrm>
            <a:off x="2117912" y="6356709"/>
            <a:ext cx="4216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Identifier les ressources et besoins d'un territoire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Identifier les contraintes (règlementaires, économiques, sociétales...)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Proposer des solutions conciliant les enjeux énergétiques et environnementaux d'un territoire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Dimensionner le système global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Rédiger et défendre un rapport  technique du projet.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27E312C-2618-49AF-55AC-6A87C68B6EFC}"/>
              </a:ext>
            </a:extLst>
          </p:cNvPr>
          <p:cNvSpPr txBox="1"/>
          <p:nvPr/>
        </p:nvSpPr>
        <p:spPr bwMode="auto">
          <a:xfrm>
            <a:off x="115170" y="7990891"/>
            <a:ext cx="3147015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fr-FR" sz="800" dirty="0"/>
              <a:t>SAE : 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1 : UE603 Projet Transfert 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2 : UE804 Traitement des effluents</a:t>
            </a:r>
          </a:p>
          <a:p>
            <a:pPr lvl="0">
              <a:defRPr/>
            </a:pPr>
            <a:r>
              <a:rPr lang="fr-FR" sz="800" dirty="0"/>
              <a:t>- Niveau 3 : PROJ903 Valorisation des énergies renouvelables (à créer)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116956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39C6AD-AF35-BE97-714E-47D414B85D41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		Ecologie Industrielle et territoriale		Polytech 2024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800" b="1" dirty="0">
                <a:solidFill>
                  <a:schemeClr val="tx1"/>
                </a:solidFill>
                <a:latin typeface="+mj-lt"/>
              </a:rPr>
              <a:t>Composantes essentielles</a:t>
            </a:r>
          </a:p>
          <a:p>
            <a:endParaRPr lang="fr-FR" sz="800" dirty="0">
              <a:solidFill>
                <a:schemeClr val="tx1"/>
              </a:solidFill>
              <a:latin typeface="+mj-lt"/>
            </a:endParaRP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coopérant efficacement avec les différentes parties prenantes ;</a:t>
            </a:r>
          </a:p>
          <a:p>
            <a:pPr lvl="0">
              <a:buFont typeface="Calibri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s’intégrant dans une équipe projet pluridisciplinaire ;</a:t>
            </a:r>
          </a:p>
          <a:p>
            <a:pPr lvl="0">
              <a:buFont typeface="Calibri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mettant en œuvre des outils et des méthodes utiles à la réalisation du projet ;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mobilisant les ressources d'un champ scientifique et technique spécifique ;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intégrant les aspects économiques et les enjeux du développement durable ; </a:t>
            </a:r>
          </a:p>
          <a:p>
            <a:pPr lvl="0">
              <a:buFont typeface="Calibri" panose="020F0502020204030204" pitchFamily="34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en utilisant une communication adaptée.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Assistance à maitrise d’ouvrages			</a:t>
            </a:r>
          </a:p>
          <a:p>
            <a:pPr lvl="0"/>
            <a:r>
              <a:rPr lang="fr-FR" sz="800" dirty="0">
                <a:solidFill>
                  <a:schemeClr val="tx1"/>
                </a:solidFill>
              </a:rPr>
              <a:t>- Exploitation</a:t>
            </a:r>
            <a:endParaRPr lang="fr-FR" sz="800" dirty="0"/>
          </a:p>
          <a:p>
            <a:pPr lvl="0"/>
            <a:r>
              <a:rPr lang="fr-FR" sz="800" dirty="0">
                <a:solidFill>
                  <a:schemeClr val="tx1"/>
                </a:solidFill>
              </a:rPr>
              <a:t>- Bureau d’études				</a:t>
            </a:r>
          </a:p>
          <a:p>
            <a:pPr lvl="0"/>
            <a:r>
              <a:rPr lang="fr-FR" sz="800" dirty="0">
                <a:solidFill>
                  <a:schemeClr val="tx1"/>
                </a:solidFill>
              </a:rPr>
              <a:t>- Animateur/coordinateur d’écologie industrielle et territoriale</a:t>
            </a:r>
          </a:p>
          <a:p>
            <a:pPr lvl="0"/>
            <a:r>
              <a:rPr lang="fr-FR" sz="800" dirty="0">
                <a:solidFill>
                  <a:schemeClr val="tx1"/>
                </a:solidFill>
              </a:rPr>
              <a:t>- Chargé d’affaire				</a:t>
            </a:r>
          </a:p>
          <a:p>
            <a:pPr lvl="0"/>
            <a:r>
              <a:rPr lang="fr-FR" sz="800" dirty="0">
                <a:solidFill>
                  <a:schemeClr val="tx1"/>
                </a:solidFill>
              </a:rPr>
              <a:t>- Animateur de projets en sécurité environnementale</a:t>
            </a:r>
          </a:p>
          <a:p>
            <a:pPr lvl="0">
              <a:buFont typeface="Times New Roman" panose="02020603050405020304" pitchFamily="18" charset="0"/>
              <a:buNone/>
            </a:pPr>
            <a:endParaRPr lang="fr-FR" sz="800" dirty="0">
              <a:solidFill>
                <a:schemeClr val="tx1"/>
              </a:solidFill>
            </a:endParaRPr>
          </a:p>
          <a:p>
            <a:pPr lvl="0">
              <a:buFont typeface="Times New Roman" panose="02020603050405020304" pitchFamily="18" charset="0"/>
              <a:buNone/>
            </a:pPr>
            <a:endParaRPr lang="fr-FR" sz="800" dirty="0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 dirty="0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43696"/>
            <a:ext cx="4689078" cy="11919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1</a:t>
            </a: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lvl="0" algn="ctr"/>
            <a:r>
              <a:rPr lang="fr-FR" sz="900" dirty="0"/>
              <a:t>Analyse </a:t>
            </a:r>
            <a:r>
              <a:rPr lang="fr-FR" sz="900" dirty="0">
                <a:latin typeface="+mn-lt"/>
              </a:rPr>
              <a:t>du fonctionnement d’une structure industrielle ou territoriale </a:t>
            </a:r>
            <a:endParaRPr lang="fr-FR" sz="900" dirty="0"/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2</a:t>
            </a:r>
          </a:p>
          <a:p>
            <a:pPr algn="ctr"/>
            <a:endParaRPr lang="fr-FR" sz="10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>
                <a:latin typeface="+mn-lt"/>
              </a:rPr>
              <a:t>Conduire des missions d’assistant ingénieur en lien avec l’EIT dans un contexte professionnel</a:t>
            </a:r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395897"/>
            <a:ext cx="1850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3</a:t>
            </a:r>
          </a:p>
          <a:p>
            <a:pPr algn="ctr"/>
            <a:endParaRPr lang="fr-FR" sz="1200" b="1" dirty="0">
              <a:latin typeface="Myriad Pro" panose="020B0503030403020204" pitchFamily="34" charset="0"/>
            </a:endParaRPr>
          </a:p>
          <a:p>
            <a:pPr lvl="0" algn="ctr"/>
            <a:r>
              <a:rPr lang="fr-FR" sz="1000" dirty="0">
                <a:latin typeface="Myriad Pro"/>
              </a:rPr>
              <a:t>Conduire des missions d’ingénieur junior en lien avec l’EIT dans un contexte professionnel</a:t>
            </a:r>
            <a:endParaRPr lang="fr-FR" sz="1000" dirty="0"/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 dirty="0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/>
            <a:r>
              <a:rPr lang="fr-FR" sz="1000" dirty="0">
                <a:solidFill>
                  <a:schemeClr val="tx1"/>
                </a:solidFill>
              </a:rPr>
              <a:t>Conduire </a:t>
            </a:r>
            <a:r>
              <a:rPr lang="fr-FR" sz="1000" dirty="0">
                <a:solidFill>
                  <a:schemeClr val="tx1"/>
                </a:solidFill>
                <a:highlight>
                  <a:srgbClr val="FFFF00"/>
                </a:highlight>
              </a:rPr>
              <a:t>des missions </a:t>
            </a:r>
            <a:r>
              <a:rPr lang="fr-FR" sz="1000" dirty="0">
                <a:solidFill>
                  <a:schemeClr val="tx1"/>
                </a:solidFill>
              </a:rPr>
              <a:t>dans un contexte d'écologie industrielle et territoriale</a:t>
            </a:r>
            <a:endParaRPr lang="fr-FR" sz="1000" dirty="0">
              <a:solidFill>
                <a:schemeClr val="tx1"/>
              </a:solidFill>
              <a:cs typeface="Calibri"/>
            </a:endParaRPr>
          </a:p>
          <a:p>
            <a:pPr lvl="0"/>
            <a:endParaRPr lang="fr-FR" sz="1000" dirty="0">
              <a:solidFill>
                <a:schemeClr val="tx1"/>
              </a:solidFill>
              <a:cs typeface="Calibri"/>
            </a:endParaRPr>
          </a:p>
          <a:p>
            <a:pPr algn="ctr">
              <a:spcAft>
                <a:spcPts val="600"/>
              </a:spcAft>
            </a:pPr>
            <a:r>
              <a:rPr lang="fr-FR" sz="1200" cap="all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RNCP38675BC04 RNCP38675BC05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605DB0-BE92-6E93-7B19-84C6265E49A1}"/>
              </a:ext>
            </a:extLst>
          </p:cNvPr>
          <p:cNvSpPr txBox="1"/>
          <p:nvPr/>
        </p:nvSpPr>
        <p:spPr>
          <a:xfrm>
            <a:off x="2059593" y="3771827"/>
            <a:ext cx="4603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Identifier l’organisation fonctionnelle de la structure d’accueil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S’intégrer et participer à une organisation (entreprise, collectivité locale, association, …)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Découvrir des méthodes et des pratiques professionnelles (organisation du travail, sécurité, politique développement durable)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Présenter à l’oral le fonctionnement d’une structure industrielle ou territoriale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E6F3CF-FFD3-70DA-2865-3E87347953A1}"/>
              </a:ext>
            </a:extLst>
          </p:cNvPr>
          <p:cNvSpPr txBox="1"/>
          <p:nvPr/>
        </p:nvSpPr>
        <p:spPr>
          <a:xfrm>
            <a:off x="2117912" y="4893050"/>
            <a:ext cx="45451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Times New Roman" panose="02020603050405020304" pitchFamily="18" charset="0"/>
              <a:buNone/>
            </a:pPr>
            <a:r>
              <a:rPr lang="fr-FR" sz="800" dirty="0"/>
              <a:t>- </a:t>
            </a:r>
            <a:r>
              <a:rPr lang="fr-FR" sz="800" dirty="0">
                <a:solidFill>
                  <a:schemeClr val="tx1"/>
                </a:solidFill>
              </a:rPr>
              <a:t>Formaliser les attendus  du cahier des charges du projet ;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800" dirty="0">
                <a:solidFill>
                  <a:schemeClr val="tx1"/>
                </a:solidFill>
              </a:rPr>
              <a:t>- Planifier les différentes tâches opérationnelles ; 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800" dirty="0">
                <a:solidFill>
                  <a:schemeClr val="tx1"/>
                </a:solidFill>
              </a:rPr>
              <a:t>- Interagir avec les parties prenantes ;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800" dirty="0">
                <a:solidFill>
                  <a:schemeClr val="tx1"/>
                </a:solidFill>
              </a:rPr>
              <a:t>- Utiliser des outils collaboratifs pour partager ses données ; 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800" dirty="0">
                <a:solidFill>
                  <a:schemeClr val="tx1"/>
                </a:solidFill>
              </a:rPr>
              <a:t>- Mobiliser des ressources de champs scientifiques et techniques spécifiques pour la réalisation des missions ; </a:t>
            </a:r>
          </a:p>
          <a:p>
            <a:pPr lvl="0">
              <a:buFont typeface="Times New Roman" panose="02020603050405020304" pitchFamily="18" charset="0"/>
              <a:buNone/>
            </a:pPr>
            <a:r>
              <a:rPr lang="fr-FR" sz="800" dirty="0">
                <a:solidFill>
                  <a:schemeClr val="tx1"/>
                </a:solidFill>
              </a:rPr>
              <a:t>- Rédiger un rapport technique et le présenter à l'oral.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F9BEC8-B056-5BE1-8F4B-EBA526BC1377}"/>
              </a:ext>
            </a:extLst>
          </p:cNvPr>
          <p:cNvSpPr/>
          <p:nvPr/>
        </p:nvSpPr>
        <p:spPr>
          <a:xfrm>
            <a:off x="2045926" y="6116307"/>
            <a:ext cx="4689078" cy="11919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694288C-379C-608E-9A75-C4222CE657CF}"/>
              </a:ext>
            </a:extLst>
          </p:cNvPr>
          <p:cNvSpPr txBox="1"/>
          <p:nvPr/>
        </p:nvSpPr>
        <p:spPr>
          <a:xfrm>
            <a:off x="2045926" y="6113043"/>
            <a:ext cx="4545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Identifier le contexte et les enjeux du projet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Opérer des choix en mettant en place une stratégie adaptée pour atteindre ses objectifs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Justifier ses choix en s’appuyant sur une analyse approfondie et une argumentation structurée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Identifier les contraintes (réglementaires, économiques, sociétales)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/>
              <a:t> </a:t>
            </a:r>
            <a:r>
              <a:rPr lang="fr-FR" sz="800" dirty="0">
                <a:solidFill>
                  <a:schemeClr val="tx1"/>
                </a:solidFill>
              </a:rPr>
              <a:t>Communiquer avec les parties prenantes internes et externes au projet ;</a:t>
            </a:r>
          </a:p>
          <a:p>
            <a:pPr lvl="0">
              <a:buFont typeface="Times New Roman" panose="02020603050405020304" pitchFamily="18" charset="0"/>
              <a:buChar char="-"/>
            </a:pPr>
            <a:r>
              <a:rPr lang="fr-FR" sz="800" dirty="0">
                <a:solidFill>
                  <a:schemeClr val="tx1"/>
                </a:solidFill>
              </a:rPr>
              <a:t> Rédiger un rapport technique et le présenter avec une vision globale du projet.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A1157D3-F5BE-2D07-27A4-AA301CE8FC82}"/>
              </a:ext>
            </a:extLst>
          </p:cNvPr>
          <p:cNvSpPr txBox="1"/>
          <p:nvPr/>
        </p:nvSpPr>
        <p:spPr bwMode="auto">
          <a:xfrm>
            <a:off x="115170" y="7990891"/>
            <a:ext cx="2828018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fr-FR" sz="800" dirty="0"/>
              <a:t>SAE : 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1 : PROJ 601 Stage Découverte du milieu professionnel</a:t>
            </a:r>
          </a:p>
          <a:p>
            <a:pPr lvl="0">
              <a:buFont typeface="Times New Roman"/>
              <a:buChar char="-"/>
              <a:defRPr/>
            </a:pPr>
            <a:r>
              <a:rPr lang="fr-FR" sz="800" dirty="0"/>
              <a:t> Niveau 2 : UE802 : Stage Assistant Ingénieur</a:t>
            </a:r>
          </a:p>
          <a:p>
            <a:pPr lvl="0">
              <a:defRPr/>
            </a:pPr>
            <a:r>
              <a:rPr lang="fr-FR" sz="800" dirty="0"/>
              <a:t>- Niveau 3 : UE001 Stage Ingénieur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33786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dfcd33df7f21bc1d96cac68e309c354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e67dd59e0820bf22da62f711b406a14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3699C8-6372-4A5C-BD5F-9D45EF57FB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7DD30F-A297-4FC9-B9BE-64DF109F2300}">
  <ds:schemaRefs>
    <ds:schemaRef ds:uri="64984f8b-2057-4450-93f2-8aa5e6a062ce"/>
    <ds:schemaRef ds:uri="http://www.w3.org/XML/1998/namespace"/>
    <ds:schemaRef ds:uri="5a932de8-014e-4395-a210-acace869bdb6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0DB9975-CBE6-4242-9CA3-2794DE2C5F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932de8-014e-4395-a210-acace869bdb6"/>
    <ds:schemaRef ds:uri="64984f8b-2057-4450-93f2-8aa5e6a062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1217</TotalTime>
  <Words>1133</Words>
  <Application>Microsoft Office PowerPoint</Application>
  <PresentationFormat>Affichage à l'écran (4:3)</PresentationFormat>
  <Paragraphs>150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Arnaud Stolz</dc:creator>
  <cp:lastModifiedBy>Sylvie Guittonneau-Cotton</cp:lastModifiedBy>
  <cp:revision>74</cp:revision>
  <dcterms:created xsi:type="dcterms:W3CDTF">2024-01-30T16:46:58Z</dcterms:created>
  <dcterms:modified xsi:type="dcterms:W3CDTF">2025-03-25T10:27:15Z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MediaServiceImageTags">
    <vt:lpwstr/>
  </property>
</Properties>
</file>