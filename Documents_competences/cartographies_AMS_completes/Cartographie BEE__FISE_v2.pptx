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66" r:id="rId5"/>
    <p:sldId id="272" r:id="rId6"/>
    <p:sldId id="277" r:id="rId7"/>
    <p:sldId id="271" r:id="rId8"/>
    <p:sldId id="274" r:id="rId9"/>
    <p:sldId id="275" r:id="rId10"/>
    <p:sldId id="260" r:id="rId11"/>
    <p:sldId id="278" r:id="rId12"/>
    <p:sldId id="276" r:id="rId13"/>
    <p:sldId id="261" r:id="rId14"/>
    <p:sldId id="279" r:id="rId15"/>
    <p:sldId id="280" r:id="rId16"/>
    <p:sldId id="273" r:id="rId17"/>
    <p:sldId id="267" r:id="rId18"/>
    <p:sldId id="264" r:id="rId19"/>
    <p:sldId id="265" r:id="rId20"/>
    <p:sldId id="259" r:id="rId21"/>
    <p:sldId id="269" r:id="rId22"/>
    <p:sldId id="270" r:id="rId23"/>
    <p:sldId id="262" r:id="rId24"/>
    <p:sldId id="263" r:id="rId25"/>
  </p:sldIdLst>
  <p:sldSz cx="18288000" cy="10287000"/>
  <p:notesSz cx="6858000" cy="9144000"/>
  <p:embeddedFontLst>
    <p:embeddedFont>
      <p:font typeface="Segoe UI" panose="020B0502040204020203" pitchFamily="34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9FE3"/>
    <a:srgbClr val="DDDCDC"/>
    <a:srgbClr val="8C4BE2"/>
    <a:srgbClr val="FBD49E"/>
    <a:srgbClr val="A8DBBA"/>
    <a:srgbClr val="A0C9EB"/>
    <a:srgbClr val="545454"/>
    <a:srgbClr val="4FA954"/>
    <a:srgbClr val="1E7ACC"/>
    <a:srgbClr val="F498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FF0395-3EBC-9502-38F9-3806BD60CE6F}" v="144" dt="2025-04-01T08:48:22.2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71" d="100"/>
          <a:sy n="71" d="100"/>
        </p:scale>
        <p:origin x="1304" y="4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AB-2C4E-4523-8E72-2AF2CAED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BAAC267A-D3C0-E23B-35B0-1D28CB942E7C}"/>
              </a:ext>
            </a:extLst>
          </p:cNvPr>
          <p:cNvSpPr/>
          <p:nvPr/>
        </p:nvSpPr>
        <p:spPr>
          <a:xfrm>
            <a:off x="0" y="1866900"/>
            <a:ext cx="18287999" cy="54102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CARTOGRAPHIE BEE</a:t>
            </a:r>
          </a:p>
        </p:txBody>
      </p:sp>
      <p:pic>
        <p:nvPicPr>
          <p:cNvPr id="124" name="Image 123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9133B9D9-D157-237C-81CB-5FE0ACB7F2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26" name="Image 12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68C9169-AB00-82FC-2A68-6D9DC23FE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1026" name="Picture 2" descr="Réseau Polytech — Wikipédia">
            <a:extLst>
              <a:ext uri="{FF2B5EF4-FFF2-40B4-BE49-F238E27FC236}">
                <a16:creationId xmlns:a16="http://schemas.microsoft.com/office/drawing/2014/main" id="{1200467D-24F8-A237-F85E-0DE8885B3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651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6D63B-7070-7F65-5789-F8E880B6E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31">
            <a:extLst>
              <a:ext uri="{FF2B5EF4-FFF2-40B4-BE49-F238E27FC236}">
                <a16:creationId xmlns:a16="http://schemas.microsoft.com/office/drawing/2014/main" id="{35516B13-A767-6CDC-8662-504C247F2E51}"/>
              </a:ext>
            </a:extLst>
          </p:cNvPr>
          <p:cNvSpPr/>
          <p:nvPr/>
        </p:nvSpPr>
        <p:spPr>
          <a:xfrm>
            <a:off x="1217459" y="8413693"/>
            <a:ext cx="5487573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AMS évaluée avec un soutenance</a:t>
            </a:r>
          </a:p>
        </p:txBody>
      </p:sp>
      <p:sp>
        <p:nvSpPr>
          <p:cNvPr id="121" name="Freeform 119">
            <a:extLst>
              <a:ext uri="{FF2B5EF4-FFF2-40B4-BE49-F238E27FC236}">
                <a16:creationId xmlns:a16="http://schemas.microsoft.com/office/drawing/2014/main" id="{2F14D7F4-4EC2-A04C-21B6-E64D15659519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LÉGENDE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EE8564C5-85DD-05A2-58D7-6DFFEA5DAF03}"/>
              </a:ext>
            </a:extLst>
          </p:cNvPr>
          <p:cNvSpPr/>
          <p:nvPr/>
        </p:nvSpPr>
        <p:spPr>
          <a:xfrm>
            <a:off x="1222904" y="415290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0E8FA7-1413-F0C8-6D87-5DC1ED1BD690}"/>
              </a:ext>
            </a:extLst>
          </p:cNvPr>
          <p:cNvSpPr/>
          <p:nvPr/>
        </p:nvSpPr>
        <p:spPr>
          <a:xfrm>
            <a:off x="1981200" y="415729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2DEA27EB-B6DB-3CA4-7D0C-18537DE3764A}"/>
              </a:ext>
            </a:extLst>
          </p:cNvPr>
          <p:cNvSpPr/>
          <p:nvPr/>
        </p:nvSpPr>
        <p:spPr>
          <a:xfrm>
            <a:off x="2743977" y="4154346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A6008B20-8A5D-C914-F5C0-2D8763AEC338}"/>
              </a:ext>
            </a:extLst>
          </p:cNvPr>
          <p:cNvSpPr/>
          <p:nvPr/>
        </p:nvSpPr>
        <p:spPr>
          <a:xfrm>
            <a:off x="3502273" y="4152901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16968B5-FC40-5AAF-AF42-56187E861708}"/>
              </a:ext>
            </a:extLst>
          </p:cNvPr>
          <p:cNvSpPr/>
          <p:nvPr/>
        </p:nvSpPr>
        <p:spPr>
          <a:xfrm>
            <a:off x="1222904" y="537434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D9CB7DB-21D5-247D-AD63-A370E58DFC2D}"/>
              </a:ext>
            </a:extLst>
          </p:cNvPr>
          <p:cNvSpPr/>
          <p:nvPr/>
        </p:nvSpPr>
        <p:spPr>
          <a:xfrm>
            <a:off x="1981200" y="537873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B6C557C-8EFF-4BBE-CC26-D2A0559AB8E9}"/>
              </a:ext>
            </a:extLst>
          </p:cNvPr>
          <p:cNvSpPr/>
          <p:nvPr/>
        </p:nvSpPr>
        <p:spPr>
          <a:xfrm>
            <a:off x="2743977" y="5375785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0FA1059-5EB0-37E3-9372-EF55C572C2A7}"/>
              </a:ext>
            </a:extLst>
          </p:cNvPr>
          <p:cNvSpPr/>
          <p:nvPr/>
        </p:nvSpPr>
        <p:spPr>
          <a:xfrm>
            <a:off x="3502273" y="5374340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C4B9547A-06C6-B855-067D-7421E7F1DA9B}"/>
              </a:ext>
            </a:extLst>
          </p:cNvPr>
          <p:cNvSpPr/>
          <p:nvPr/>
        </p:nvSpPr>
        <p:spPr>
          <a:xfrm>
            <a:off x="1217461" y="6633878"/>
            <a:ext cx="3291184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AMS non évaluée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3198A92A-00D1-F32B-1ADE-3A5374E663C7}"/>
              </a:ext>
            </a:extLst>
          </p:cNvPr>
          <p:cNvSpPr/>
          <p:nvPr/>
        </p:nvSpPr>
        <p:spPr>
          <a:xfrm>
            <a:off x="1217461" y="7523785"/>
            <a:ext cx="3291184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AMS évaluée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23468CE-6B90-8DC2-8B50-893B7BEC4704}"/>
              </a:ext>
            </a:extLst>
          </p:cNvPr>
          <p:cNvSpPr/>
          <p:nvPr/>
        </p:nvSpPr>
        <p:spPr>
          <a:xfrm>
            <a:off x="4940294" y="4152900"/>
            <a:ext cx="6489706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Compétences travaillées dans l’AMS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3E82B7BC-8A74-AE24-DB63-91CA69E19BE7}"/>
              </a:ext>
            </a:extLst>
          </p:cNvPr>
          <p:cNvSpPr/>
          <p:nvPr/>
        </p:nvSpPr>
        <p:spPr>
          <a:xfrm>
            <a:off x="4940294" y="5374339"/>
            <a:ext cx="6849412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Compétences à choisir au début de l’AMS</a:t>
            </a:r>
          </a:p>
        </p:txBody>
      </p:sp>
      <p:sp>
        <p:nvSpPr>
          <p:cNvPr id="14" name="Freeform 118">
            <a:extLst>
              <a:ext uri="{FF2B5EF4-FFF2-40B4-BE49-F238E27FC236}">
                <a16:creationId xmlns:a16="http://schemas.microsoft.com/office/drawing/2014/main" id="{7E7E61CE-3C34-7DCD-0ED1-A5C26D251017}"/>
              </a:ext>
            </a:extLst>
          </p:cNvPr>
          <p:cNvSpPr/>
          <p:nvPr/>
        </p:nvSpPr>
        <p:spPr>
          <a:xfrm>
            <a:off x="6889857" y="8470161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CC4E1216-18AA-3F98-8E50-335F4C0120A3}"/>
              </a:ext>
            </a:extLst>
          </p:cNvPr>
          <p:cNvSpPr/>
          <p:nvPr/>
        </p:nvSpPr>
        <p:spPr>
          <a:xfrm>
            <a:off x="1217459" y="9303600"/>
            <a:ext cx="5487571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anchor="ctr"/>
          <a:lstStyle/>
          <a:p>
            <a:pPr algn="ctr"/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AMS optionnelle</a:t>
            </a:r>
          </a:p>
        </p:txBody>
      </p:sp>
    </p:spTree>
    <p:extLst>
      <p:ext uri="{BB962C8B-B14F-4D97-AF65-F5344CB8AC3E}">
        <p14:creationId xmlns:p14="http://schemas.microsoft.com/office/powerpoint/2010/main" val="544100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53887-F143-01A2-208D-0B30DFB7F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85F193DA-4C9B-31CF-9E03-8506104987BB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COMPÉTENCES</a:t>
            </a:r>
          </a:p>
        </p:txBody>
      </p:sp>
      <p:sp>
        <p:nvSpPr>
          <p:cNvPr id="16" name="Freeform 119">
            <a:extLst>
              <a:ext uri="{FF2B5EF4-FFF2-40B4-BE49-F238E27FC236}">
                <a16:creationId xmlns:a16="http://schemas.microsoft.com/office/drawing/2014/main" id="{FCBE14E2-982F-D423-E4F8-756C0F60CBBF}"/>
              </a:ext>
            </a:extLst>
          </p:cNvPr>
          <p:cNvSpPr/>
          <p:nvPr/>
        </p:nvSpPr>
        <p:spPr>
          <a:xfrm>
            <a:off x="3810000" y="33909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3600" b="1" cap="all" dirty="0">
                <a:solidFill>
                  <a:schemeClr val="bg1"/>
                </a:solidFill>
                <a:ea typeface="Calibri"/>
                <a:cs typeface="Calibri"/>
              </a:rPr>
              <a:t>C1 - CONCEVOIR le système constructif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RNCP38859BC01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RNCP38859BC04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745EEB00-7DCF-B779-AE6F-D55C91C3B37B}"/>
              </a:ext>
            </a:extLst>
          </p:cNvPr>
          <p:cNvSpPr/>
          <p:nvPr/>
        </p:nvSpPr>
        <p:spPr>
          <a:xfrm>
            <a:off x="3808445" y="67437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cap="all" dirty="0">
                <a:solidFill>
                  <a:schemeClr val="bg1"/>
                </a:solidFill>
                <a:ea typeface="+mn-lt"/>
                <a:cs typeface="+mn-lt"/>
              </a:rPr>
              <a:t>C3 - Intégrer des solutions durables adaptées aux cycles de vie du bâtiment</a:t>
            </a:r>
            <a:endParaRPr lang="fr-FR" sz="2400" b="1" cap="all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RNCP38859BC03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77209B8F-DF4E-23B6-3477-DF742D32AC25}"/>
              </a:ext>
            </a:extLst>
          </p:cNvPr>
          <p:cNvSpPr/>
          <p:nvPr/>
        </p:nvSpPr>
        <p:spPr>
          <a:xfrm>
            <a:off x="9144000" y="3401008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3600" b="1" cap="all" dirty="0">
                <a:solidFill>
                  <a:schemeClr val="bg1"/>
                </a:solidFill>
                <a:ea typeface="Calibri"/>
                <a:cs typeface="Calibri"/>
              </a:rPr>
              <a:t>C2 - GARANTIR la performance 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RNCP38859BC02</a:t>
            </a:r>
            <a:endParaRPr lang="fr-FR" sz="2400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RNCP38859BC04</a:t>
            </a:r>
            <a:endParaRPr lang="fr-FR" sz="2400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BD996EC0-1B09-FED3-EB1D-0B6CCCA129EB}"/>
              </a:ext>
            </a:extLst>
          </p:cNvPr>
          <p:cNvSpPr/>
          <p:nvPr/>
        </p:nvSpPr>
        <p:spPr>
          <a:xfrm>
            <a:off x="9143999" y="67437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>
              <a:spcAft>
                <a:spcPts val="600"/>
              </a:spcAft>
            </a:pPr>
            <a:r>
              <a:rPr lang="fr-FR" sz="3600" b="1" cap="all" dirty="0">
                <a:solidFill>
                  <a:schemeClr val="bg1"/>
                </a:solidFill>
                <a:ea typeface="Calibri"/>
                <a:cs typeface="Calibri"/>
              </a:rPr>
              <a:t>C4 - Piloter un projet de bâtiment</a:t>
            </a:r>
          </a:p>
          <a:p>
            <a:pPr algn="ctr">
              <a:spcAft>
                <a:spcPts val="600"/>
              </a:spcAft>
            </a:pPr>
            <a:r>
              <a:rPr lang="fr-FR" sz="2400" cap="all" dirty="0">
                <a:solidFill>
                  <a:schemeClr val="bg1"/>
                </a:solidFill>
                <a:ea typeface="+mn-lt"/>
                <a:cs typeface="+mn-lt"/>
              </a:rPr>
              <a:t>RNCP38859BC05</a:t>
            </a:r>
            <a:endParaRPr lang="fr-F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965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6ACDF-F7F3-E3A5-EA49-DBB4640FB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BD57DD1A-B2E0-C6A9-8DA7-320194D619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EA41BE71-3279-679C-F159-01BEF143C3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8D62148-34D9-7B53-804E-2004F689C7A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45538A11-71D4-C1B4-6840-6C009355D8B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F50BA23A-81C9-E98D-4374-446CE2CBDB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D9848453-1C4D-1F6D-1DDF-9A02C2FDDA15}"/>
              </a:ext>
            </a:extLst>
          </p:cNvPr>
          <p:cNvSpPr>
            <a:spLocks/>
          </p:cNvSpPr>
          <p:nvPr/>
        </p:nvSpPr>
        <p:spPr>
          <a:xfrm>
            <a:off x="427182" y="1644791"/>
            <a:ext cx="17433636" cy="2992140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80214908-714E-1D11-41D1-217CBBECA63B}"/>
              </a:ext>
            </a:extLst>
          </p:cNvPr>
          <p:cNvSpPr>
            <a:spLocks/>
          </p:cNvSpPr>
          <p:nvPr/>
        </p:nvSpPr>
        <p:spPr>
          <a:xfrm>
            <a:off x="427182" y="5143499"/>
            <a:ext cx="17433636" cy="3155075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C07EE84B-735D-9AAF-E93B-5AE3B55C9063}"/>
              </a:ext>
            </a:extLst>
          </p:cNvPr>
          <p:cNvSpPr>
            <a:spLocks/>
          </p:cNvSpPr>
          <p:nvPr/>
        </p:nvSpPr>
        <p:spPr>
          <a:xfrm>
            <a:off x="427182" y="8804460"/>
            <a:ext cx="17433636" cy="1173218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 dirty="0"/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88DDC145-8B3D-45C5-13D2-FE2A57B227BF}"/>
              </a:ext>
            </a:extLst>
          </p:cNvPr>
          <p:cNvSpPr>
            <a:spLocks/>
          </p:cNvSpPr>
          <p:nvPr/>
        </p:nvSpPr>
        <p:spPr>
          <a:xfrm>
            <a:off x="771011" y="8417362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t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Stage</a:t>
            </a:r>
            <a:endParaRPr lang="fr-FR" dirty="0">
              <a:ea typeface="Calibri"/>
              <a:cs typeface="Calibri"/>
            </a:endParaRP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528C85AC-D911-F784-5D64-FC15D2C924AD}"/>
              </a:ext>
            </a:extLst>
          </p:cNvPr>
          <p:cNvSpPr>
            <a:spLocks/>
          </p:cNvSpPr>
          <p:nvPr/>
        </p:nvSpPr>
        <p:spPr>
          <a:xfrm>
            <a:off x="771012" y="4919143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t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TP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19ABAAD2-03F8-5218-3DBE-B633C5CA00E4}"/>
              </a:ext>
            </a:extLst>
          </p:cNvPr>
          <p:cNvSpPr>
            <a:spLocks/>
          </p:cNvSpPr>
          <p:nvPr/>
        </p:nvSpPr>
        <p:spPr>
          <a:xfrm>
            <a:off x="771012" y="1364241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Projets</a:t>
            </a:r>
            <a:endParaRPr lang="fr-FR" b="1" dirty="0"/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6A84399E-F74B-332F-8F6D-188FE8A79215}"/>
              </a:ext>
            </a:extLst>
          </p:cNvPr>
          <p:cNvSpPr/>
          <p:nvPr/>
        </p:nvSpPr>
        <p:spPr>
          <a:xfrm>
            <a:off x="771222" y="2085225"/>
            <a:ext cx="3824067" cy="7577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Fonctions et technologies du Bâtiment </a:t>
            </a:r>
            <a:r>
              <a:rPr lang="fr-FR" sz="2000" dirty="0">
                <a:latin typeface="Calibri"/>
                <a:ea typeface="Calibri"/>
                <a:cs typeface="Calibri"/>
              </a:rPr>
              <a:t>(PROJ580 APP)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8539CE36-66D0-A059-EFC5-DEDE70B8DECC}"/>
              </a:ext>
            </a:extLst>
          </p:cNvPr>
          <p:cNvSpPr/>
          <p:nvPr/>
        </p:nvSpPr>
        <p:spPr>
          <a:xfrm>
            <a:off x="778943" y="5800997"/>
            <a:ext cx="3816346" cy="72682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Bilan carbone d'une entreprise </a:t>
            </a:r>
            <a:r>
              <a:rPr lang="fr-FR" sz="2000" dirty="0">
                <a:latin typeface="Calibri"/>
                <a:ea typeface="Calibri"/>
                <a:cs typeface="Calibri"/>
              </a:rPr>
              <a:t>(DDRS501)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EA186CEA-EBDE-FD53-B631-FC9D84F9F912}"/>
              </a:ext>
            </a:extLst>
          </p:cNvPr>
          <p:cNvSpPr/>
          <p:nvPr/>
        </p:nvSpPr>
        <p:spPr>
          <a:xfrm>
            <a:off x="9158081" y="2768999"/>
            <a:ext cx="7186975" cy="4961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Acteurs du Bâtiment </a:t>
            </a:r>
            <a:r>
              <a:rPr lang="fr-FR" sz="2000" dirty="0">
                <a:latin typeface="Calibri"/>
                <a:ea typeface="Calibri"/>
                <a:cs typeface="Calibri"/>
              </a:rPr>
              <a:t>(PROJ611 APP)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59F04523-5EDF-CA85-E2C8-BD34A1D63B2B}"/>
              </a:ext>
            </a:extLst>
          </p:cNvPr>
          <p:cNvSpPr/>
          <p:nvPr/>
        </p:nvSpPr>
        <p:spPr>
          <a:xfrm>
            <a:off x="9158081" y="3513983"/>
            <a:ext cx="7205986" cy="56202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Introduction à la maquette numérique du bâtiment </a:t>
            </a:r>
            <a:r>
              <a:rPr lang="fr-FR" sz="2000" dirty="0">
                <a:latin typeface="Calibri"/>
                <a:ea typeface="Calibri"/>
                <a:cs typeface="Calibri"/>
              </a:rPr>
              <a:t>(PROJ680 APP) </a:t>
            </a: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9018FF16-5C3D-770D-9A19-52619B7305B5}"/>
              </a:ext>
            </a:extLst>
          </p:cNvPr>
          <p:cNvSpPr/>
          <p:nvPr/>
        </p:nvSpPr>
        <p:spPr>
          <a:xfrm>
            <a:off x="9158080" y="6840259"/>
            <a:ext cx="4403289" cy="57665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Gestion financière </a:t>
            </a:r>
            <a:r>
              <a:rPr lang="fr-FR" sz="2000" dirty="0">
                <a:ea typeface="Calibri"/>
                <a:cs typeface="Calibri"/>
              </a:rPr>
              <a:t>(SHES601)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8DF5C6E7-8EA2-4C66-8FC7-AC5F454A989F}"/>
              </a:ext>
            </a:extLst>
          </p:cNvPr>
          <p:cNvSpPr/>
          <p:nvPr/>
        </p:nvSpPr>
        <p:spPr>
          <a:xfrm>
            <a:off x="9158081" y="6076554"/>
            <a:ext cx="4432123" cy="57665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Energétique et fluides </a:t>
            </a:r>
            <a:r>
              <a:rPr lang="fr-FR" sz="2000" dirty="0">
                <a:ea typeface="Calibri"/>
                <a:cs typeface="Calibri"/>
              </a:rPr>
              <a:t>(ENER613 )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C5F0D630-1B40-75B1-0A9E-B20D66327826}"/>
              </a:ext>
            </a:extLst>
          </p:cNvPr>
          <p:cNvSpPr/>
          <p:nvPr/>
        </p:nvSpPr>
        <p:spPr>
          <a:xfrm>
            <a:off x="9158080" y="1988425"/>
            <a:ext cx="7186975" cy="56202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Acoustique et éclairage - projet de BE </a:t>
            </a:r>
            <a:r>
              <a:rPr lang="fr-FR" sz="2000" dirty="0">
                <a:ea typeface="Calibri"/>
                <a:cs typeface="Calibri"/>
              </a:rPr>
              <a:t>(GECH615)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4F05B0EF-69E1-9C71-16FE-4A9B35C2F58A}"/>
              </a:ext>
            </a:extLst>
          </p:cNvPr>
          <p:cNvSpPr/>
          <p:nvPr/>
        </p:nvSpPr>
        <p:spPr>
          <a:xfrm>
            <a:off x="9158081" y="5312134"/>
            <a:ext cx="4432123" cy="57665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Génie climatique </a:t>
            </a:r>
            <a:r>
              <a:rPr lang="fr-FR" sz="2000" dirty="0">
                <a:ea typeface="Calibri"/>
                <a:cs typeface="Calibri"/>
              </a:rPr>
              <a:t>(GECH611)</a:t>
            </a:r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D1F7458B-B8F5-1CCF-449F-120FDBE9EF67}"/>
              </a:ext>
            </a:extLst>
          </p:cNvPr>
          <p:cNvSpPr/>
          <p:nvPr/>
        </p:nvSpPr>
        <p:spPr>
          <a:xfrm>
            <a:off x="9158081" y="7603963"/>
            <a:ext cx="4432123" cy="57665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Matériaux de construction </a:t>
            </a:r>
            <a:r>
              <a:rPr lang="fr-FR" sz="2000" dirty="0">
                <a:ea typeface="Calibri"/>
                <a:cs typeface="Calibri"/>
              </a:rPr>
              <a:t>(MATE611)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589FF1F8-07A3-27B2-B1CA-412F1B36CE83}"/>
              </a:ext>
            </a:extLst>
          </p:cNvPr>
          <p:cNvSpPr/>
          <p:nvPr/>
        </p:nvSpPr>
        <p:spPr>
          <a:xfrm>
            <a:off x="9158081" y="9118691"/>
            <a:ext cx="4403287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ouvrier </a:t>
            </a:r>
            <a:r>
              <a:rPr lang="fr-FR" sz="2000" dirty="0">
                <a:ea typeface="Calibri"/>
                <a:cs typeface="Calibri"/>
              </a:rPr>
              <a:t>(Fi3)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60769C0B-15E5-859A-EDE4-201641029E25}"/>
              </a:ext>
            </a:extLst>
          </p:cNvPr>
          <p:cNvSpPr/>
          <p:nvPr/>
        </p:nvSpPr>
        <p:spPr>
          <a:xfrm>
            <a:off x="4726868" y="221208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BA83E9BA-9BFD-95DA-76B4-B3AE8DB1EA69}"/>
              </a:ext>
            </a:extLst>
          </p:cNvPr>
          <p:cNvSpPr/>
          <p:nvPr/>
        </p:nvSpPr>
        <p:spPr>
          <a:xfrm>
            <a:off x="5310387" y="2212084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C3EAEB45-FC16-8949-3EA6-CC414263DEF1}"/>
              </a:ext>
            </a:extLst>
          </p:cNvPr>
          <p:cNvSpPr/>
          <p:nvPr/>
        </p:nvSpPr>
        <p:spPr>
          <a:xfrm>
            <a:off x="4726868" y="58887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8E171D81-BBCF-B375-D0DD-37FC4D2EABDE}"/>
              </a:ext>
            </a:extLst>
          </p:cNvPr>
          <p:cNvSpPr/>
          <p:nvPr/>
        </p:nvSpPr>
        <p:spPr>
          <a:xfrm>
            <a:off x="16529121" y="198963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9004278B-0B03-C99F-6686-C0C64AB6B8A6}"/>
              </a:ext>
            </a:extLst>
          </p:cNvPr>
          <p:cNvSpPr/>
          <p:nvPr/>
        </p:nvSpPr>
        <p:spPr>
          <a:xfrm>
            <a:off x="16529121" y="275541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B135183-66F2-0E0E-1811-D457867D6B69}"/>
              </a:ext>
            </a:extLst>
          </p:cNvPr>
          <p:cNvSpPr/>
          <p:nvPr/>
        </p:nvSpPr>
        <p:spPr>
          <a:xfrm>
            <a:off x="16529121" y="357201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7618E418-CED7-AB2A-D7D5-FFA9BCE72E1C}"/>
              </a:ext>
            </a:extLst>
          </p:cNvPr>
          <p:cNvSpPr/>
          <p:nvPr/>
        </p:nvSpPr>
        <p:spPr>
          <a:xfrm>
            <a:off x="17060501" y="357201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661158C7-A5BB-58D4-E07A-7B6E25A39DC8}"/>
              </a:ext>
            </a:extLst>
          </p:cNvPr>
          <p:cNvSpPr/>
          <p:nvPr/>
        </p:nvSpPr>
        <p:spPr>
          <a:xfrm>
            <a:off x="13819936" y="5405284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90843F75-C275-DBEE-BB7E-C7055DCE4392}"/>
              </a:ext>
            </a:extLst>
          </p:cNvPr>
          <p:cNvSpPr/>
          <p:nvPr/>
        </p:nvSpPr>
        <p:spPr>
          <a:xfrm>
            <a:off x="13805162" y="608029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A4F8D0D1-8239-912A-C046-881732125BC8}"/>
              </a:ext>
            </a:extLst>
          </p:cNvPr>
          <p:cNvSpPr/>
          <p:nvPr/>
        </p:nvSpPr>
        <p:spPr>
          <a:xfrm>
            <a:off x="13805162" y="683828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62B239A7-1DB9-D90E-FAB3-93D7E3B1D312}"/>
              </a:ext>
            </a:extLst>
          </p:cNvPr>
          <p:cNvSpPr/>
          <p:nvPr/>
        </p:nvSpPr>
        <p:spPr>
          <a:xfrm>
            <a:off x="13805162" y="766653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0D3B0E69-4045-0A58-2DAC-A9402EE1030F}"/>
              </a:ext>
            </a:extLst>
          </p:cNvPr>
          <p:cNvSpPr/>
          <p:nvPr/>
        </p:nvSpPr>
        <p:spPr>
          <a:xfrm>
            <a:off x="14354471" y="766653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FB47DFE2-EA04-B7E6-A5AC-F8CFB521430A}"/>
              </a:ext>
            </a:extLst>
          </p:cNvPr>
          <p:cNvSpPr/>
          <p:nvPr/>
        </p:nvSpPr>
        <p:spPr>
          <a:xfrm>
            <a:off x="14915724" y="765691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D643679C-AAFE-3A0A-6051-D989191FCBDE}"/>
              </a:ext>
            </a:extLst>
          </p:cNvPr>
          <p:cNvSpPr/>
          <p:nvPr/>
        </p:nvSpPr>
        <p:spPr>
          <a:xfrm>
            <a:off x="15478153" y="914552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D4CE53FC-D9C2-355F-223C-317313DCFCA8}"/>
              </a:ext>
            </a:extLst>
          </p:cNvPr>
          <p:cNvSpPr/>
          <p:nvPr/>
        </p:nvSpPr>
        <p:spPr>
          <a:xfrm>
            <a:off x="13845333" y="9145524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844851F3-6D03-E731-AF2D-15CFD684567D}"/>
              </a:ext>
            </a:extLst>
          </p:cNvPr>
          <p:cNvSpPr/>
          <p:nvPr/>
        </p:nvSpPr>
        <p:spPr>
          <a:xfrm>
            <a:off x="14388481" y="91455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75DAEB02-4392-FF69-234D-CADCE113AA9B}"/>
              </a:ext>
            </a:extLst>
          </p:cNvPr>
          <p:cNvSpPr/>
          <p:nvPr/>
        </p:nvSpPr>
        <p:spPr>
          <a:xfrm>
            <a:off x="14936106" y="9145524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6" name="Freeform 118">
            <a:extLst>
              <a:ext uri="{FF2B5EF4-FFF2-40B4-BE49-F238E27FC236}">
                <a16:creationId xmlns:a16="http://schemas.microsoft.com/office/drawing/2014/main" id="{E2D1C1A9-EDE5-BBE5-49A1-674316304F64}"/>
              </a:ext>
            </a:extLst>
          </p:cNvPr>
          <p:cNvSpPr/>
          <p:nvPr/>
        </p:nvSpPr>
        <p:spPr>
          <a:xfrm>
            <a:off x="17188462" y="280455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7" name="Freeform 118">
            <a:extLst>
              <a:ext uri="{FF2B5EF4-FFF2-40B4-BE49-F238E27FC236}">
                <a16:creationId xmlns:a16="http://schemas.microsoft.com/office/drawing/2014/main" id="{3D0E3207-2461-BA2D-6C9D-F6617A433D32}"/>
              </a:ext>
            </a:extLst>
          </p:cNvPr>
          <p:cNvSpPr/>
          <p:nvPr/>
        </p:nvSpPr>
        <p:spPr>
          <a:xfrm>
            <a:off x="16147959" y="9202562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5221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CE351-3E05-9BB1-49F0-0254E183F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03B23FB0-5D69-46C4-683C-352270023D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51B47E4-18E5-379E-FDA3-AAF556087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856504E-A68B-ADDB-39D9-8054A25E35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B58614F3-CF7F-FE29-8856-6D12EB0AFC6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S7</a:t>
            </a: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F80FC56-E00A-AD90-9E14-7FE8169DCE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S8</a:t>
            </a:r>
            <a:endParaRPr lang="en-US" sz="4800" spc="-96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596FEB78-ADC0-D60A-8910-CDFF8D6A44BC}"/>
              </a:ext>
            </a:extLst>
          </p:cNvPr>
          <p:cNvSpPr>
            <a:spLocks/>
          </p:cNvSpPr>
          <p:nvPr/>
        </p:nvSpPr>
        <p:spPr>
          <a:xfrm>
            <a:off x="427182" y="1644791"/>
            <a:ext cx="17433636" cy="3986876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 dirty="0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9AF94619-92EA-3DC6-BB66-F71E2F2E9E77}"/>
              </a:ext>
            </a:extLst>
          </p:cNvPr>
          <p:cNvSpPr>
            <a:spLocks/>
          </p:cNvSpPr>
          <p:nvPr/>
        </p:nvSpPr>
        <p:spPr>
          <a:xfrm>
            <a:off x="427182" y="5414170"/>
            <a:ext cx="17433636" cy="3021714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 dirty="0">
              <a:ea typeface="+mn-lt"/>
              <a:cs typeface="+mn-lt"/>
            </a:endParaRPr>
          </a:p>
          <a:p>
            <a:endParaRPr lang="fr-FR" dirty="0">
              <a:ea typeface="+mn-lt"/>
              <a:cs typeface="+mn-lt"/>
            </a:endParaRPr>
          </a:p>
          <a:p>
            <a:endParaRPr lang="fr-FR" dirty="0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49801EC0-15FF-2814-D011-7B9AB5E41531}"/>
              </a:ext>
            </a:extLst>
          </p:cNvPr>
          <p:cNvSpPr>
            <a:spLocks/>
          </p:cNvSpPr>
          <p:nvPr/>
        </p:nvSpPr>
        <p:spPr>
          <a:xfrm>
            <a:off x="427182" y="8752740"/>
            <a:ext cx="17433636" cy="1253971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75C6C50C-6D35-478D-78F3-2F8C3B544591}"/>
              </a:ext>
            </a:extLst>
          </p:cNvPr>
          <p:cNvSpPr>
            <a:spLocks/>
          </p:cNvSpPr>
          <p:nvPr/>
        </p:nvSpPr>
        <p:spPr>
          <a:xfrm>
            <a:off x="774582" y="8464917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78F1E374-11CB-D197-093C-5D5D91CB7D43}"/>
              </a:ext>
            </a:extLst>
          </p:cNvPr>
          <p:cNvSpPr>
            <a:spLocks/>
          </p:cNvSpPr>
          <p:nvPr/>
        </p:nvSpPr>
        <p:spPr>
          <a:xfrm>
            <a:off x="774582" y="5116539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C116DAE6-5236-7374-80C2-C86EDEDACAD8}"/>
              </a:ext>
            </a:extLst>
          </p:cNvPr>
          <p:cNvSpPr>
            <a:spLocks/>
          </p:cNvSpPr>
          <p:nvPr/>
        </p:nvSpPr>
        <p:spPr>
          <a:xfrm>
            <a:off x="774582" y="1368347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720C9935-AE47-AC38-FE95-6E01101876BD}"/>
              </a:ext>
            </a:extLst>
          </p:cNvPr>
          <p:cNvSpPr/>
          <p:nvPr/>
        </p:nvSpPr>
        <p:spPr>
          <a:xfrm>
            <a:off x="655097" y="3861180"/>
            <a:ext cx="5126691" cy="67060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Conception et modélisation des structures – projet descente de charges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3A45E9AB-B7AF-6973-AFDE-5FD2C1D4057A}"/>
              </a:ext>
            </a:extLst>
          </p:cNvPr>
          <p:cNvSpPr/>
          <p:nvPr/>
        </p:nvSpPr>
        <p:spPr>
          <a:xfrm>
            <a:off x="655098" y="2954166"/>
            <a:ext cx="5126691" cy="67060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Réglementation thermique et environnementale – projet </a:t>
            </a:r>
            <a:r>
              <a:rPr lang="fr-FR" sz="2000" dirty="0">
                <a:ea typeface="+mn-lt"/>
                <a:cs typeface="+mn-lt"/>
              </a:rPr>
              <a:t>(</a:t>
            </a:r>
            <a:r>
              <a:rPr lang="fr-FR" sz="2000" dirty="0">
                <a:ea typeface="Calibri"/>
                <a:cs typeface="Calibri"/>
              </a:rPr>
              <a:t>GECH716)</a:t>
            </a:r>
            <a:endParaRPr lang="fr-FR" sz="2000" dirty="0">
              <a:ea typeface="+mn-lt"/>
              <a:cs typeface="+mn-lt"/>
            </a:endParaRP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2DCF63E1-48C3-A1EB-D39E-B40CB6CF59F7}"/>
              </a:ext>
            </a:extLst>
          </p:cNvPr>
          <p:cNvSpPr/>
          <p:nvPr/>
        </p:nvSpPr>
        <p:spPr>
          <a:xfrm>
            <a:off x="680271" y="2058494"/>
            <a:ext cx="5126691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APP BIM – BE </a:t>
            </a:r>
            <a:r>
              <a:rPr lang="fr-FR" sz="2000" dirty="0">
                <a:ea typeface="Calibri"/>
                <a:cs typeface="Calibri"/>
              </a:rPr>
              <a:t>(PROJ711 )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8A2FEA0E-8559-5263-D86C-CF91F0120B5F}"/>
              </a:ext>
            </a:extLst>
          </p:cNvPr>
          <p:cNvSpPr/>
          <p:nvPr/>
        </p:nvSpPr>
        <p:spPr>
          <a:xfrm>
            <a:off x="9143999" y="2566685"/>
            <a:ext cx="5126691" cy="49594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Béton armé - projet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0125B0F5-88A8-F6B8-BBE4-605C8240016D}"/>
              </a:ext>
            </a:extLst>
          </p:cNvPr>
          <p:cNvSpPr/>
          <p:nvPr/>
        </p:nvSpPr>
        <p:spPr>
          <a:xfrm>
            <a:off x="9132504" y="5876039"/>
            <a:ext cx="5871075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Énergies renouvelables – petits projets </a:t>
            </a:r>
            <a:r>
              <a:rPr lang="fr-FR" sz="2000" dirty="0">
                <a:ea typeface="+mn-lt"/>
                <a:cs typeface="+mn-lt"/>
              </a:rPr>
              <a:t>(</a:t>
            </a:r>
            <a:r>
              <a:rPr lang="fr-FR" sz="2000" dirty="0">
                <a:ea typeface="Calibri"/>
                <a:cs typeface="Calibri"/>
              </a:rPr>
              <a:t>ENER813)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F1C7B87E-2DD3-DE69-AADB-3B1D76274E59}"/>
              </a:ext>
            </a:extLst>
          </p:cNvPr>
          <p:cNvSpPr/>
          <p:nvPr/>
        </p:nvSpPr>
        <p:spPr>
          <a:xfrm>
            <a:off x="9143998" y="4806361"/>
            <a:ext cx="5150377" cy="50601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Construction bois </a:t>
            </a:r>
            <a:r>
              <a:rPr lang="fr-FR" sz="2000" dirty="0">
                <a:ea typeface="Calibri"/>
                <a:cs typeface="Calibri"/>
              </a:rPr>
              <a:t>(GECH8 )</a:t>
            </a:r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1D637A7F-8340-2BBB-BBF1-A1B645A64E3B}"/>
              </a:ext>
            </a:extLst>
          </p:cNvPr>
          <p:cNvSpPr/>
          <p:nvPr/>
        </p:nvSpPr>
        <p:spPr>
          <a:xfrm>
            <a:off x="9143999" y="1807488"/>
            <a:ext cx="5126691" cy="49594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Conduite de chantier </a:t>
            </a:r>
            <a:r>
              <a:rPr lang="fr-FR" sz="2000" dirty="0">
                <a:ea typeface="Calibri"/>
                <a:cs typeface="Calibri"/>
              </a:rPr>
              <a:t>(GECH814)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CD7CD6BA-6311-6A15-8149-6509CB257D0B}"/>
              </a:ext>
            </a:extLst>
          </p:cNvPr>
          <p:cNvSpPr/>
          <p:nvPr/>
        </p:nvSpPr>
        <p:spPr>
          <a:xfrm>
            <a:off x="9144000" y="3322241"/>
            <a:ext cx="5150378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Conception de réseaux fluides </a:t>
            </a:r>
            <a:r>
              <a:rPr lang="fr-FR" sz="2000" dirty="0">
                <a:ea typeface="Calibri"/>
                <a:cs typeface="Calibri"/>
              </a:rPr>
              <a:t>(ENER812)</a:t>
            </a: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665E673C-8B25-C733-6D9C-841CC7BB1F40}"/>
              </a:ext>
            </a:extLst>
          </p:cNvPr>
          <p:cNvSpPr/>
          <p:nvPr/>
        </p:nvSpPr>
        <p:spPr>
          <a:xfrm>
            <a:off x="655093" y="7126601"/>
            <a:ext cx="7268329" cy="54000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Ressources et dynamiques professionnelles – jeu de rôle </a:t>
            </a:r>
            <a:r>
              <a:rPr lang="fr-FR" sz="2000" dirty="0">
                <a:ea typeface="+mn-lt"/>
                <a:cs typeface="+mn-lt"/>
              </a:rPr>
              <a:t>(SHES703)</a:t>
            </a:r>
            <a:endParaRPr lang="en-US" sz="2000" dirty="0">
              <a:ea typeface="Calibri"/>
              <a:cs typeface="Calibri"/>
            </a:endParaRP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00FD80F8-5060-EF99-A2F4-A612B3DC64BD}"/>
              </a:ext>
            </a:extLst>
          </p:cNvPr>
          <p:cNvSpPr/>
          <p:nvPr/>
        </p:nvSpPr>
        <p:spPr>
          <a:xfrm>
            <a:off x="655093" y="6428644"/>
            <a:ext cx="7299384" cy="5242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Créativité et Management de l'innovation </a:t>
            </a:r>
            <a:r>
              <a:rPr lang="fr-FR" sz="2000" dirty="0">
                <a:ea typeface="+mn-lt"/>
                <a:cs typeface="+mn-lt"/>
              </a:rPr>
              <a:t>(</a:t>
            </a:r>
            <a:r>
              <a:rPr lang="fr-FR" sz="2000" dirty="0">
                <a:ea typeface="Calibri"/>
                <a:cs typeface="Calibri"/>
              </a:rPr>
              <a:t>SHES704)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05767078-4AEA-978C-34CF-A32258F42560}"/>
              </a:ext>
            </a:extLst>
          </p:cNvPr>
          <p:cNvSpPr/>
          <p:nvPr/>
        </p:nvSpPr>
        <p:spPr>
          <a:xfrm>
            <a:off x="655093" y="5747980"/>
            <a:ext cx="5126691" cy="52423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Géotechnique 1 </a:t>
            </a:r>
            <a:r>
              <a:rPr lang="fr-FR" sz="2000" dirty="0">
                <a:ea typeface="Calibri"/>
                <a:cs typeface="Calibri"/>
              </a:rPr>
              <a:t>(GECH713)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56BE5872-B771-F100-4286-B8F9741ED3FA}"/>
              </a:ext>
            </a:extLst>
          </p:cNvPr>
          <p:cNvSpPr/>
          <p:nvPr/>
        </p:nvSpPr>
        <p:spPr>
          <a:xfrm>
            <a:off x="655093" y="7840325"/>
            <a:ext cx="5126691" cy="38818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Génie climatique – BE </a:t>
            </a:r>
            <a:r>
              <a:rPr lang="fr-FR" sz="2000" dirty="0">
                <a:ea typeface="Calibri"/>
                <a:cs typeface="Calibri"/>
              </a:rPr>
              <a:t>(GECH715)</a:t>
            </a: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62564BF4-A6A6-A4EE-D875-0254FE5CFB17}"/>
              </a:ext>
            </a:extLst>
          </p:cNvPr>
          <p:cNvSpPr/>
          <p:nvPr/>
        </p:nvSpPr>
        <p:spPr>
          <a:xfrm>
            <a:off x="9143999" y="9100891"/>
            <a:ext cx="5150375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assistant ingénieur (Fi4)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AB4C9696-AE44-4737-36FF-03471CC8B96C}"/>
              </a:ext>
            </a:extLst>
          </p:cNvPr>
          <p:cNvSpPr/>
          <p:nvPr/>
        </p:nvSpPr>
        <p:spPr>
          <a:xfrm>
            <a:off x="5958341" y="213612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0D971F9-144D-342B-DC2A-31D36216FCEF}"/>
              </a:ext>
            </a:extLst>
          </p:cNvPr>
          <p:cNvSpPr/>
          <p:nvPr/>
        </p:nvSpPr>
        <p:spPr>
          <a:xfrm>
            <a:off x="6501487" y="2136124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6C45EB90-89C1-2D09-44D8-08C513E1347A}"/>
              </a:ext>
            </a:extLst>
          </p:cNvPr>
          <p:cNvSpPr/>
          <p:nvPr/>
        </p:nvSpPr>
        <p:spPr>
          <a:xfrm>
            <a:off x="7024978" y="213612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B53BC6A0-5E8C-D17F-3128-90C2CC270768}"/>
              </a:ext>
            </a:extLst>
          </p:cNvPr>
          <p:cNvSpPr/>
          <p:nvPr/>
        </p:nvSpPr>
        <p:spPr>
          <a:xfrm>
            <a:off x="9143998" y="4071914"/>
            <a:ext cx="5150377" cy="51386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Conception et étude </a:t>
            </a:r>
            <a:r>
              <a:rPr lang="fr-FR" sz="2000" dirty="0">
                <a:ea typeface="Calibri"/>
                <a:cs typeface="Calibri"/>
              </a:rPr>
              <a:t>(PROJ811 )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908D3B06-2826-922A-1720-D4F12137E971}"/>
              </a:ext>
            </a:extLst>
          </p:cNvPr>
          <p:cNvSpPr/>
          <p:nvPr/>
        </p:nvSpPr>
        <p:spPr>
          <a:xfrm>
            <a:off x="14457358" y="409040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5C782B72-8833-8A8E-2EBA-CAB8DF99F8AB}"/>
              </a:ext>
            </a:extLst>
          </p:cNvPr>
          <p:cNvSpPr/>
          <p:nvPr/>
        </p:nvSpPr>
        <p:spPr>
          <a:xfrm>
            <a:off x="14999512" y="4076004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3138EF11-E117-2034-4D05-E3E21F5E78D1}"/>
              </a:ext>
            </a:extLst>
          </p:cNvPr>
          <p:cNvSpPr/>
          <p:nvPr/>
        </p:nvSpPr>
        <p:spPr>
          <a:xfrm>
            <a:off x="15544403" y="409066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927FA767-EAC3-567B-4526-9C43E9DC496D}"/>
              </a:ext>
            </a:extLst>
          </p:cNvPr>
          <p:cNvSpPr/>
          <p:nvPr/>
        </p:nvSpPr>
        <p:spPr>
          <a:xfrm>
            <a:off x="16093221" y="4073862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B97BD796-C2BE-2A5E-AE41-DA8B04D81FB1}"/>
              </a:ext>
            </a:extLst>
          </p:cNvPr>
          <p:cNvSpPr/>
          <p:nvPr/>
        </p:nvSpPr>
        <p:spPr>
          <a:xfrm>
            <a:off x="5958341" y="303746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D33F2D7D-D65F-7C65-7707-13EFE58C03E7}"/>
              </a:ext>
            </a:extLst>
          </p:cNvPr>
          <p:cNvSpPr/>
          <p:nvPr/>
        </p:nvSpPr>
        <p:spPr>
          <a:xfrm>
            <a:off x="6555971" y="303746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B87A435B-45F5-005A-AE15-376A3A2A1643}"/>
              </a:ext>
            </a:extLst>
          </p:cNvPr>
          <p:cNvSpPr/>
          <p:nvPr/>
        </p:nvSpPr>
        <p:spPr>
          <a:xfrm>
            <a:off x="5958341" y="394448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0D516D72-9A19-80B6-543D-DA982BB03AE7}"/>
              </a:ext>
            </a:extLst>
          </p:cNvPr>
          <p:cNvSpPr/>
          <p:nvPr/>
        </p:nvSpPr>
        <p:spPr>
          <a:xfrm>
            <a:off x="5990686" y="575809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DA69E2E8-DBB6-72D1-79CD-DD644081FA5C}"/>
              </a:ext>
            </a:extLst>
          </p:cNvPr>
          <p:cNvSpPr/>
          <p:nvPr/>
        </p:nvSpPr>
        <p:spPr>
          <a:xfrm>
            <a:off x="6587733" y="575809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8EF73996-8909-53EF-A574-182ECDE12A1B}"/>
              </a:ext>
            </a:extLst>
          </p:cNvPr>
          <p:cNvSpPr/>
          <p:nvPr/>
        </p:nvSpPr>
        <p:spPr>
          <a:xfrm>
            <a:off x="8085614" y="711918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F724801B-56F9-9A34-6B26-8FC4E0056D47}"/>
              </a:ext>
            </a:extLst>
          </p:cNvPr>
          <p:cNvSpPr/>
          <p:nvPr/>
        </p:nvSpPr>
        <p:spPr>
          <a:xfrm>
            <a:off x="5935826" y="779055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3" name="Freeform 118">
            <a:extLst>
              <a:ext uri="{FF2B5EF4-FFF2-40B4-BE49-F238E27FC236}">
                <a16:creationId xmlns:a16="http://schemas.microsoft.com/office/drawing/2014/main" id="{EA6823C5-B8BF-0321-F4EA-6F256A5B8104}"/>
              </a:ext>
            </a:extLst>
          </p:cNvPr>
          <p:cNvSpPr/>
          <p:nvPr/>
        </p:nvSpPr>
        <p:spPr>
          <a:xfrm>
            <a:off x="7214588" y="3094505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4" name="Freeform 118">
            <a:extLst>
              <a:ext uri="{FF2B5EF4-FFF2-40B4-BE49-F238E27FC236}">
                <a16:creationId xmlns:a16="http://schemas.microsoft.com/office/drawing/2014/main" id="{D7462F28-E108-805A-1645-C42619273780}"/>
              </a:ext>
            </a:extLst>
          </p:cNvPr>
          <p:cNvSpPr/>
          <p:nvPr/>
        </p:nvSpPr>
        <p:spPr>
          <a:xfrm>
            <a:off x="8128619" y="646776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B15C5394-EBE7-2379-5766-1623DFECCD49}"/>
              </a:ext>
            </a:extLst>
          </p:cNvPr>
          <p:cNvSpPr/>
          <p:nvPr/>
        </p:nvSpPr>
        <p:spPr>
          <a:xfrm>
            <a:off x="14427447" y="181096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E068E513-C09D-FE64-56AB-7D2319A8A585}"/>
              </a:ext>
            </a:extLst>
          </p:cNvPr>
          <p:cNvSpPr/>
          <p:nvPr/>
        </p:nvSpPr>
        <p:spPr>
          <a:xfrm>
            <a:off x="14427447" y="255252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372400F3-6E5D-2599-259C-980F2A4A9B6C}"/>
              </a:ext>
            </a:extLst>
          </p:cNvPr>
          <p:cNvSpPr/>
          <p:nvPr/>
        </p:nvSpPr>
        <p:spPr>
          <a:xfrm>
            <a:off x="14427447" y="3349074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1ECD6919-B2A3-00F5-4FFA-CC398F6C1D5A}"/>
              </a:ext>
            </a:extLst>
          </p:cNvPr>
          <p:cNvSpPr/>
          <p:nvPr/>
        </p:nvSpPr>
        <p:spPr>
          <a:xfrm>
            <a:off x="14456041" y="474077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5375C350-9CD9-6B6B-29FE-7EB3C09A3A46}"/>
              </a:ext>
            </a:extLst>
          </p:cNvPr>
          <p:cNvSpPr/>
          <p:nvPr/>
        </p:nvSpPr>
        <p:spPr>
          <a:xfrm>
            <a:off x="15004545" y="473244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59AD7FE3-5F86-C248-352A-1677B9201012}"/>
              </a:ext>
            </a:extLst>
          </p:cNvPr>
          <p:cNvSpPr/>
          <p:nvPr/>
        </p:nvSpPr>
        <p:spPr>
          <a:xfrm>
            <a:off x="15570582" y="474083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65CE8435-896E-CE3B-96A8-46D7C383DAC7}"/>
              </a:ext>
            </a:extLst>
          </p:cNvPr>
          <p:cNvSpPr/>
          <p:nvPr/>
        </p:nvSpPr>
        <p:spPr>
          <a:xfrm>
            <a:off x="15232535" y="592929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23BC073A-287D-20CA-EF43-63A9BE51D187}"/>
              </a:ext>
            </a:extLst>
          </p:cNvPr>
          <p:cNvSpPr/>
          <p:nvPr/>
        </p:nvSpPr>
        <p:spPr>
          <a:xfrm>
            <a:off x="16075421" y="913133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D60F75C3-578C-5FB9-FEAE-71186DB310BD}"/>
              </a:ext>
            </a:extLst>
          </p:cNvPr>
          <p:cNvSpPr/>
          <p:nvPr/>
        </p:nvSpPr>
        <p:spPr>
          <a:xfrm>
            <a:off x="14460533" y="911905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84E16196-C0BF-DBE5-CCF7-6B1F1B551188}"/>
              </a:ext>
            </a:extLst>
          </p:cNvPr>
          <p:cNvSpPr/>
          <p:nvPr/>
        </p:nvSpPr>
        <p:spPr>
          <a:xfrm>
            <a:off x="14985749" y="912344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AF3CFE40-FB5C-2681-4FCA-75F4A97FDFF0}"/>
              </a:ext>
            </a:extLst>
          </p:cNvPr>
          <p:cNvSpPr/>
          <p:nvPr/>
        </p:nvSpPr>
        <p:spPr>
          <a:xfrm>
            <a:off x="15515444" y="9120501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60" name="Freeform 118">
            <a:extLst>
              <a:ext uri="{FF2B5EF4-FFF2-40B4-BE49-F238E27FC236}">
                <a16:creationId xmlns:a16="http://schemas.microsoft.com/office/drawing/2014/main" id="{6577F688-C86C-63D6-3776-0C3320C002D2}"/>
              </a:ext>
            </a:extLst>
          </p:cNvPr>
          <p:cNvSpPr/>
          <p:nvPr/>
        </p:nvSpPr>
        <p:spPr>
          <a:xfrm>
            <a:off x="15142322" y="340145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1" name="Freeform 118">
            <a:extLst>
              <a:ext uri="{FF2B5EF4-FFF2-40B4-BE49-F238E27FC236}">
                <a16:creationId xmlns:a16="http://schemas.microsoft.com/office/drawing/2014/main" id="{EB8D67A0-06E3-7C5D-D8E0-C21C3FF2FE75}"/>
              </a:ext>
            </a:extLst>
          </p:cNvPr>
          <p:cNvSpPr/>
          <p:nvPr/>
        </p:nvSpPr>
        <p:spPr>
          <a:xfrm>
            <a:off x="15136537" y="2616393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2" name="Freeform 118">
            <a:extLst>
              <a:ext uri="{FF2B5EF4-FFF2-40B4-BE49-F238E27FC236}">
                <a16:creationId xmlns:a16="http://schemas.microsoft.com/office/drawing/2014/main" id="{97FDC953-911C-5A21-716B-AF914AEB2FE4}"/>
              </a:ext>
            </a:extLst>
          </p:cNvPr>
          <p:cNvSpPr/>
          <p:nvPr/>
        </p:nvSpPr>
        <p:spPr>
          <a:xfrm>
            <a:off x="16745234" y="9156807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0396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42596-0F87-8AA9-1525-F03035039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E55A5079-7A4A-854F-3BB2-501520B799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9E76DF6F-5EB7-A0FA-1A97-3E2BCD9A0F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8718434"/>
            <a:ext cx="17433636" cy="1264183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757D7FD0-6EB0-D880-0271-312DE54E3F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1141FD6-3340-47D5-31CA-90E641BEBE4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2DC7768E-7F2E-4677-168A-0A2E6CED815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S9</a:t>
            </a: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0CDA02DE-1B1C-52F9-49F3-82BB6DA336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S10</a:t>
            </a: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A2786DC8-03B1-B515-E843-9CE11F5D7A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1644791"/>
            <a:ext cx="17433636" cy="3369634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 dirty="0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8AA5BAA4-BA06-CD0E-6BF3-2311EC88C6FE}"/>
              </a:ext>
            </a:extLst>
          </p:cNvPr>
          <p:cNvSpPr>
            <a:spLocks/>
          </p:cNvSpPr>
          <p:nvPr/>
        </p:nvSpPr>
        <p:spPr>
          <a:xfrm>
            <a:off x="427182" y="5414170"/>
            <a:ext cx="17433636" cy="2621112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57431DB5-63A6-3FBF-3213-63E358923C53}"/>
              </a:ext>
            </a:extLst>
          </p:cNvPr>
          <p:cNvSpPr>
            <a:spLocks/>
          </p:cNvSpPr>
          <p:nvPr/>
        </p:nvSpPr>
        <p:spPr>
          <a:xfrm>
            <a:off x="774582" y="5116539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30" name="Freeform 25">
            <a:extLst>
              <a:ext uri="{FF2B5EF4-FFF2-40B4-BE49-F238E27FC236}">
                <a16:creationId xmlns:a16="http://schemas.microsoft.com/office/drawing/2014/main" id="{C304504D-78C1-B4D1-6D54-E011C8BF5AAD}"/>
              </a:ext>
            </a:extLst>
          </p:cNvPr>
          <p:cNvSpPr>
            <a:spLocks/>
          </p:cNvSpPr>
          <p:nvPr/>
        </p:nvSpPr>
        <p:spPr>
          <a:xfrm>
            <a:off x="771147" y="8438253"/>
            <a:ext cx="2505608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256E6429-3EA7-A75F-0C18-08B7982E524D}"/>
              </a:ext>
            </a:extLst>
          </p:cNvPr>
          <p:cNvSpPr>
            <a:spLocks/>
          </p:cNvSpPr>
          <p:nvPr/>
        </p:nvSpPr>
        <p:spPr>
          <a:xfrm>
            <a:off x="900584" y="1389513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8EE98AAB-E843-AE21-80CC-D4F60C79FE20}"/>
              </a:ext>
            </a:extLst>
          </p:cNvPr>
          <p:cNvSpPr/>
          <p:nvPr/>
        </p:nvSpPr>
        <p:spPr>
          <a:xfrm>
            <a:off x="9264888" y="9074682"/>
            <a:ext cx="4599656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ingénieur (Fi5)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C9FFCC80-46B1-F2E7-D4B6-A866A8F1D4C1}"/>
              </a:ext>
            </a:extLst>
          </p:cNvPr>
          <p:cNvSpPr/>
          <p:nvPr/>
        </p:nvSpPr>
        <p:spPr>
          <a:xfrm>
            <a:off x="804178" y="2155935"/>
            <a:ext cx="4637501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Réhabilitation des bâtiments​ </a:t>
            </a:r>
            <a:r>
              <a:rPr lang="fr-FR" sz="2000" dirty="0">
                <a:cs typeface="Segoe UI"/>
              </a:rPr>
              <a:t>(GECH916)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E3E62564-819E-5B7C-EAD5-7FF14DA06311}"/>
              </a:ext>
            </a:extLst>
          </p:cNvPr>
          <p:cNvSpPr/>
          <p:nvPr/>
        </p:nvSpPr>
        <p:spPr>
          <a:xfrm>
            <a:off x="804178" y="3063701"/>
            <a:ext cx="4637500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APP Projet multi-technique - Conception et études​ </a:t>
            </a:r>
            <a:r>
              <a:rPr lang="fr-FR" sz="2000" dirty="0">
                <a:cs typeface="Segoe UI"/>
              </a:rPr>
              <a:t>(PROJ911)</a:t>
            </a:r>
            <a:endParaRPr lang="fr-FR" sz="2000" dirty="0">
              <a:ea typeface="Calibri"/>
              <a:cs typeface="Segoe UI"/>
            </a:endParaRP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91CE3C54-AEF4-DD33-4CB8-553580766482}"/>
              </a:ext>
            </a:extLst>
          </p:cNvPr>
          <p:cNvSpPr/>
          <p:nvPr/>
        </p:nvSpPr>
        <p:spPr>
          <a:xfrm>
            <a:off x="804179" y="3952193"/>
            <a:ext cx="4637500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PR&amp;D</a:t>
            </a:r>
            <a:r>
              <a:rPr lang="en-US" sz="2000" b="1" dirty="0">
                <a:cs typeface="Segoe UI"/>
              </a:rPr>
              <a:t>​ </a:t>
            </a:r>
            <a:r>
              <a:rPr lang="en-US" sz="2000" dirty="0">
                <a:cs typeface="Segoe UI"/>
              </a:rPr>
              <a:t>(</a:t>
            </a:r>
            <a:r>
              <a:rPr lang="fr-FR" sz="2000" dirty="0">
                <a:cs typeface="Segoe UI"/>
              </a:rPr>
              <a:t>PROJ901)</a:t>
            </a:r>
            <a:endParaRPr lang="en-US" sz="2000" dirty="0">
              <a:ea typeface="Calibri"/>
              <a:cs typeface="Segoe UI"/>
            </a:endParaRP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364DA7DB-26B2-349A-1B6C-8E9BD1E4CBB0}"/>
              </a:ext>
            </a:extLst>
          </p:cNvPr>
          <p:cNvSpPr/>
          <p:nvPr/>
        </p:nvSpPr>
        <p:spPr>
          <a:xfrm>
            <a:off x="856833" y="5838674"/>
            <a:ext cx="4584845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Energie Solaire Thermique </a:t>
            </a:r>
            <a:r>
              <a:rPr lang="fr-FR" sz="2000" dirty="0">
                <a:ea typeface="+mn-lt"/>
                <a:cs typeface="+mn-lt"/>
              </a:rPr>
              <a:t>(</a:t>
            </a:r>
            <a:r>
              <a:rPr lang="fr-FR" sz="2000" dirty="0">
                <a:cs typeface="Segoe UI"/>
              </a:rPr>
              <a:t>ENER913)</a:t>
            </a:r>
            <a:endParaRPr lang="fr-FR" sz="2000" dirty="0">
              <a:ea typeface="+mn-lt"/>
              <a:cs typeface="+mn-lt"/>
            </a:endParaRP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A5A7564B-8341-0558-4D94-CC9A45E9488D}"/>
              </a:ext>
            </a:extLst>
          </p:cNvPr>
          <p:cNvSpPr/>
          <p:nvPr/>
        </p:nvSpPr>
        <p:spPr>
          <a:xfrm>
            <a:off x="839411" y="6778116"/>
            <a:ext cx="4602267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Energie Solaire Photovoltaïque </a:t>
            </a:r>
            <a:r>
              <a:rPr lang="fr-FR" sz="2000" dirty="0">
                <a:ea typeface="+mn-lt"/>
                <a:cs typeface="+mn-lt"/>
              </a:rPr>
              <a:t>(ENER914)</a:t>
            </a:r>
            <a:endParaRPr lang="fr-FR" sz="2000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AABB508-FC12-6F03-7686-46391AD3E54C}"/>
              </a:ext>
            </a:extLst>
          </p:cNvPr>
          <p:cNvSpPr/>
          <p:nvPr/>
        </p:nvSpPr>
        <p:spPr>
          <a:xfrm>
            <a:off x="15627189" y="910151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1BE34697-8803-02A3-CF07-7763BCD78904}"/>
              </a:ext>
            </a:extLst>
          </p:cNvPr>
          <p:cNvSpPr/>
          <p:nvPr/>
        </p:nvSpPr>
        <p:spPr>
          <a:xfrm>
            <a:off x="13940584" y="9101515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B513DD73-FE35-B93B-32D8-88538674C988}"/>
              </a:ext>
            </a:extLst>
          </p:cNvPr>
          <p:cNvSpPr/>
          <p:nvPr/>
        </p:nvSpPr>
        <p:spPr>
          <a:xfrm>
            <a:off x="14483729" y="9101515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B450A294-095A-6DAD-3E8E-AB00DB297034}"/>
              </a:ext>
            </a:extLst>
          </p:cNvPr>
          <p:cNvSpPr/>
          <p:nvPr/>
        </p:nvSpPr>
        <p:spPr>
          <a:xfrm>
            <a:off x="15049284" y="9101515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" name="Freeform 118">
            <a:extLst>
              <a:ext uri="{FF2B5EF4-FFF2-40B4-BE49-F238E27FC236}">
                <a16:creationId xmlns:a16="http://schemas.microsoft.com/office/drawing/2014/main" id="{C61E7C55-2C63-EDA6-AECC-B55E224F5747}"/>
              </a:ext>
            </a:extLst>
          </p:cNvPr>
          <p:cNvSpPr/>
          <p:nvPr/>
        </p:nvSpPr>
        <p:spPr>
          <a:xfrm>
            <a:off x="16314930" y="9156807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81866571-2449-FE6A-76E8-C58A906CBAA7}"/>
              </a:ext>
            </a:extLst>
          </p:cNvPr>
          <p:cNvSpPr/>
          <p:nvPr/>
        </p:nvSpPr>
        <p:spPr>
          <a:xfrm>
            <a:off x="5637134" y="314300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8ABA1A91-988E-12AA-0A34-20D5EA930D2A}"/>
              </a:ext>
            </a:extLst>
          </p:cNvPr>
          <p:cNvSpPr/>
          <p:nvPr/>
        </p:nvSpPr>
        <p:spPr>
          <a:xfrm>
            <a:off x="6180278" y="3147396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0EB06938-3BAB-17ED-93A1-FE87ECF6CE30}"/>
              </a:ext>
            </a:extLst>
          </p:cNvPr>
          <p:cNvSpPr/>
          <p:nvPr/>
        </p:nvSpPr>
        <p:spPr>
          <a:xfrm>
            <a:off x="7296779" y="3148102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114EE5E7-5614-1BAC-A6EF-DD9C0D7263C7}"/>
              </a:ext>
            </a:extLst>
          </p:cNvPr>
          <p:cNvSpPr/>
          <p:nvPr/>
        </p:nvSpPr>
        <p:spPr>
          <a:xfrm>
            <a:off x="6753643" y="3143006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" name="Freeform 118">
            <a:extLst>
              <a:ext uri="{FF2B5EF4-FFF2-40B4-BE49-F238E27FC236}">
                <a16:creationId xmlns:a16="http://schemas.microsoft.com/office/drawing/2014/main" id="{C6EC9902-9EA7-B0FD-E63E-F3CE83EFEDA7}"/>
              </a:ext>
            </a:extLst>
          </p:cNvPr>
          <p:cNvSpPr/>
          <p:nvPr/>
        </p:nvSpPr>
        <p:spPr>
          <a:xfrm>
            <a:off x="8060180" y="320004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619F7C2E-1CB5-90A0-63DB-8057CB5F9648}"/>
              </a:ext>
            </a:extLst>
          </p:cNvPr>
          <p:cNvSpPr/>
          <p:nvPr/>
        </p:nvSpPr>
        <p:spPr>
          <a:xfrm>
            <a:off x="5637134" y="6855746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48465EAA-9568-88D9-E10A-E15A4A1E0408}"/>
              </a:ext>
            </a:extLst>
          </p:cNvPr>
          <p:cNvSpPr/>
          <p:nvPr/>
        </p:nvSpPr>
        <p:spPr>
          <a:xfrm>
            <a:off x="5637134" y="5941346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22B36439-F551-B8D2-7CA7-E147CB008746}"/>
              </a:ext>
            </a:extLst>
          </p:cNvPr>
          <p:cNvSpPr/>
          <p:nvPr/>
        </p:nvSpPr>
        <p:spPr>
          <a:xfrm>
            <a:off x="5623961" y="218721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78231299-DF32-C5C5-D380-24B20336607B}"/>
              </a:ext>
            </a:extLst>
          </p:cNvPr>
          <p:cNvSpPr/>
          <p:nvPr/>
        </p:nvSpPr>
        <p:spPr>
          <a:xfrm>
            <a:off x="6167105" y="219160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7447AC50-C529-9A95-AC3B-01F59D1E6B4B}"/>
              </a:ext>
            </a:extLst>
          </p:cNvPr>
          <p:cNvSpPr/>
          <p:nvPr/>
        </p:nvSpPr>
        <p:spPr>
          <a:xfrm>
            <a:off x="6704854" y="2200196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CDDC0E99-D51B-EE8C-EE6C-AF6563DB6ACD}"/>
              </a:ext>
            </a:extLst>
          </p:cNvPr>
          <p:cNvSpPr/>
          <p:nvPr/>
        </p:nvSpPr>
        <p:spPr>
          <a:xfrm>
            <a:off x="7349677" y="402982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F08A5592-97DB-4F0F-94A8-3E860DF6034D}"/>
              </a:ext>
            </a:extLst>
          </p:cNvPr>
          <p:cNvSpPr/>
          <p:nvPr/>
        </p:nvSpPr>
        <p:spPr>
          <a:xfrm>
            <a:off x="6206221" y="4029823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F25E7BBF-3D6B-0B1C-ACD5-A838295FD7A8}"/>
              </a:ext>
            </a:extLst>
          </p:cNvPr>
          <p:cNvSpPr/>
          <p:nvPr/>
        </p:nvSpPr>
        <p:spPr>
          <a:xfrm>
            <a:off x="6789704" y="402982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3" name="Freeform 118">
            <a:extLst>
              <a:ext uri="{FF2B5EF4-FFF2-40B4-BE49-F238E27FC236}">
                <a16:creationId xmlns:a16="http://schemas.microsoft.com/office/drawing/2014/main" id="{2CF6856D-690A-CB54-A339-B5D04CB1C400}"/>
              </a:ext>
            </a:extLst>
          </p:cNvPr>
          <p:cNvSpPr/>
          <p:nvPr/>
        </p:nvSpPr>
        <p:spPr>
          <a:xfrm>
            <a:off x="8037417" y="4086861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9FEEDA96-8B81-D169-F1CA-5528CADCDDC9}"/>
              </a:ext>
            </a:extLst>
          </p:cNvPr>
          <p:cNvSpPr/>
          <p:nvPr/>
        </p:nvSpPr>
        <p:spPr>
          <a:xfrm>
            <a:off x="5637134" y="4029823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</p:spTree>
    <p:extLst>
      <p:ext uri="{BB962C8B-B14F-4D97-AF65-F5344CB8AC3E}">
        <p14:creationId xmlns:p14="http://schemas.microsoft.com/office/powerpoint/2010/main" val="3998302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eeform 14">
            <a:extLst>
              <a:ext uri="{FF2B5EF4-FFF2-40B4-BE49-F238E27FC236}">
                <a16:creationId xmlns:a16="http://schemas.microsoft.com/office/drawing/2014/main" id="{1ACD8479-A752-5998-837F-E46B3B7B9A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4" name="Freeform 17">
            <a:extLst>
              <a:ext uri="{FF2B5EF4-FFF2-40B4-BE49-F238E27FC236}">
                <a16:creationId xmlns:a16="http://schemas.microsoft.com/office/drawing/2014/main" id="{40F22B95-F381-AC17-9672-C791D69BB0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2051426"/>
            <a:ext cx="17835899" cy="8037969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198111" y="74733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89" name="TextBox 8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10CEA72B-D696-8FF0-A29B-18B7B3331463}"/>
              </a:ext>
            </a:extLst>
          </p:cNvPr>
          <p:cNvSpPr>
            <a:spLocks/>
          </p:cNvSpPr>
          <p:nvPr/>
        </p:nvSpPr>
        <p:spPr>
          <a:xfrm>
            <a:off x="430570" y="1714500"/>
            <a:ext cx="247032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6AB701B3-28BF-1573-726E-29D2B1AE936E}"/>
              </a:ext>
            </a:extLst>
          </p:cNvPr>
          <p:cNvSpPr/>
          <p:nvPr/>
        </p:nvSpPr>
        <p:spPr>
          <a:xfrm>
            <a:off x="355443" y="2311009"/>
            <a:ext cx="2683543" cy="138245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Fonctions et technologies du Bâtiment </a:t>
            </a:r>
          </a:p>
          <a:p>
            <a:r>
              <a:rPr lang="fr-FR" sz="2000" dirty="0">
                <a:latin typeface="Calibri"/>
                <a:ea typeface="Calibri"/>
                <a:cs typeface="Calibri"/>
              </a:rPr>
              <a:t>(PROJ580 APP)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992FCB3F-9C8B-089D-E83C-6A2003F879AC}"/>
              </a:ext>
            </a:extLst>
          </p:cNvPr>
          <p:cNvSpPr/>
          <p:nvPr/>
        </p:nvSpPr>
        <p:spPr>
          <a:xfrm>
            <a:off x="3426686" y="4067873"/>
            <a:ext cx="2677665" cy="88050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Acteurs du Bâtiment </a:t>
            </a:r>
            <a:r>
              <a:rPr lang="fr-FR" sz="2000" dirty="0">
                <a:latin typeface="Calibri"/>
                <a:ea typeface="Calibri"/>
                <a:cs typeface="Calibri"/>
              </a:rPr>
              <a:t>(PROJ611 APP)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B0EB5FA4-396F-9CCD-749C-C404EFD1E783}"/>
              </a:ext>
            </a:extLst>
          </p:cNvPr>
          <p:cNvSpPr/>
          <p:nvPr/>
        </p:nvSpPr>
        <p:spPr>
          <a:xfrm>
            <a:off x="3448946" y="5914466"/>
            <a:ext cx="2677665" cy="13551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Introduction à la maquette numérique du bâtiment </a:t>
            </a:r>
            <a:r>
              <a:rPr lang="fr-FR" sz="2000" dirty="0">
                <a:latin typeface="Calibri"/>
                <a:ea typeface="Calibri"/>
                <a:cs typeface="Calibri"/>
              </a:rPr>
              <a:t>(PROJ680 APP) </a:t>
            </a:r>
          </a:p>
        </p:txBody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6D792CF7-BA9F-F7FE-F9FD-B5235EC373E5}"/>
              </a:ext>
            </a:extLst>
          </p:cNvPr>
          <p:cNvSpPr/>
          <p:nvPr/>
        </p:nvSpPr>
        <p:spPr>
          <a:xfrm>
            <a:off x="3451503" y="2213574"/>
            <a:ext cx="2652848" cy="94043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Acoustique et éclairage - projet de BE </a:t>
            </a:r>
            <a:r>
              <a:rPr lang="fr-FR" sz="2000" dirty="0">
                <a:ea typeface="Calibri"/>
                <a:cs typeface="Calibri"/>
              </a:rPr>
              <a:t>(GECH615)</a:t>
            </a: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CCEB22B9-8F1C-FDB4-7C2E-728C5F6AEA95}"/>
              </a:ext>
            </a:extLst>
          </p:cNvPr>
          <p:cNvSpPr/>
          <p:nvPr/>
        </p:nvSpPr>
        <p:spPr>
          <a:xfrm>
            <a:off x="6493180" y="6618191"/>
            <a:ext cx="2472462" cy="137545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Conception et modélisation des structures – projet descente de charges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E88DCF9C-F769-3A65-6EBC-A25A35386FE4}"/>
              </a:ext>
            </a:extLst>
          </p:cNvPr>
          <p:cNvSpPr/>
          <p:nvPr/>
        </p:nvSpPr>
        <p:spPr>
          <a:xfrm>
            <a:off x="6493180" y="4062932"/>
            <a:ext cx="2491472" cy="137545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Réglementation thermique et environnementale – projet </a:t>
            </a:r>
            <a:r>
              <a:rPr lang="fr-FR" sz="2000" dirty="0">
                <a:ea typeface="+mn-lt"/>
                <a:cs typeface="+mn-lt"/>
              </a:rPr>
              <a:t>(</a:t>
            </a:r>
            <a:r>
              <a:rPr lang="fr-FR" sz="2000" dirty="0">
                <a:ea typeface="Calibri"/>
                <a:cs typeface="Calibri"/>
              </a:rPr>
              <a:t>GECH716)</a:t>
            </a:r>
            <a:endParaRPr lang="fr-FR" sz="2000" dirty="0">
              <a:ea typeface="+mn-lt"/>
              <a:cs typeface="+mn-lt"/>
            </a:endParaRPr>
          </a:p>
        </p:txBody>
      </p:sp>
      <p:sp>
        <p:nvSpPr>
          <p:cNvPr id="21" name="Freeform 31">
            <a:extLst>
              <a:ext uri="{FF2B5EF4-FFF2-40B4-BE49-F238E27FC236}">
                <a16:creationId xmlns:a16="http://schemas.microsoft.com/office/drawing/2014/main" id="{3DFF2CFC-29B2-8FEE-B62E-B115C99518D7}"/>
              </a:ext>
            </a:extLst>
          </p:cNvPr>
          <p:cNvSpPr/>
          <p:nvPr/>
        </p:nvSpPr>
        <p:spPr>
          <a:xfrm>
            <a:off x="6478656" y="2259721"/>
            <a:ext cx="2505996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APP BIM – BE </a:t>
            </a:r>
            <a:r>
              <a:rPr lang="fr-FR" sz="2000" dirty="0">
                <a:ea typeface="Calibri"/>
                <a:cs typeface="Calibri"/>
              </a:rPr>
              <a:t>(PROJ711 )</a:t>
            </a:r>
          </a:p>
        </p:txBody>
      </p:sp>
      <p:sp>
        <p:nvSpPr>
          <p:cNvPr id="22" name="Freeform 31">
            <a:extLst>
              <a:ext uri="{FF2B5EF4-FFF2-40B4-BE49-F238E27FC236}">
                <a16:creationId xmlns:a16="http://schemas.microsoft.com/office/drawing/2014/main" id="{3E2F5820-1B39-A579-C147-68E1C25C84A8}"/>
              </a:ext>
            </a:extLst>
          </p:cNvPr>
          <p:cNvSpPr/>
          <p:nvPr/>
        </p:nvSpPr>
        <p:spPr>
          <a:xfrm>
            <a:off x="9439598" y="3750163"/>
            <a:ext cx="2558860" cy="49594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Béton armé - projet</a:t>
            </a: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9619E978-5294-0377-DCD8-BDAE02B9BBB5}"/>
              </a:ext>
            </a:extLst>
          </p:cNvPr>
          <p:cNvSpPr/>
          <p:nvPr/>
        </p:nvSpPr>
        <p:spPr>
          <a:xfrm>
            <a:off x="9414115" y="2259721"/>
            <a:ext cx="2558859" cy="74542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Conduite de chantier </a:t>
            </a:r>
            <a:r>
              <a:rPr lang="fr-FR" sz="2000" dirty="0">
                <a:ea typeface="Calibri"/>
                <a:cs typeface="Calibri"/>
              </a:rPr>
              <a:t>(GECH814)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9808B13-6A8A-073B-D84A-B404C4DD5FF3}"/>
              </a:ext>
            </a:extLst>
          </p:cNvPr>
          <p:cNvSpPr/>
          <p:nvPr/>
        </p:nvSpPr>
        <p:spPr>
          <a:xfrm>
            <a:off x="405885" y="373608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6B835D70-9EDE-8620-3091-BA05DAC6B092}"/>
              </a:ext>
            </a:extLst>
          </p:cNvPr>
          <p:cNvSpPr/>
          <p:nvPr/>
        </p:nvSpPr>
        <p:spPr>
          <a:xfrm>
            <a:off x="989404" y="373608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AE668872-C953-080B-04EF-B385C39DE0A7}"/>
              </a:ext>
            </a:extLst>
          </p:cNvPr>
          <p:cNvSpPr/>
          <p:nvPr/>
        </p:nvSpPr>
        <p:spPr>
          <a:xfrm>
            <a:off x="3535374" y="3198199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C1FEF17B-21AD-207D-6F70-7B6AB6B052DA}"/>
              </a:ext>
            </a:extLst>
          </p:cNvPr>
          <p:cNvSpPr/>
          <p:nvPr/>
        </p:nvSpPr>
        <p:spPr>
          <a:xfrm>
            <a:off x="3512381" y="499659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5" name="Freeform 118">
            <a:extLst>
              <a:ext uri="{FF2B5EF4-FFF2-40B4-BE49-F238E27FC236}">
                <a16:creationId xmlns:a16="http://schemas.microsoft.com/office/drawing/2014/main" id="{A32AB4A9-1513-8234-679B-BF0995143AC7}"/>
              </a:ext>
            </a:extLst>
          </p:cNvPr>
          <p:cNvSpPr/>
          <p:nvPr/>
        </p:nvSpPr>
        <p:spPr>
          <a:xfrm>
            <a:off x="4171722" y="504572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E46745A2-2322-F247-E25B-06779BE715FE}"/>
              </a:ext>
            </a:extLst>
          </p:cNvPr>
          <p:cNvSpPr/>
          <p:nvPr/>
        </p:nvSpPr>
        <p:spPr>
          <a:xfrm>
            <a:off x="3494450" y="733718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BF350B2D-7C71-37AD-99BC-9ED8CD990461}"/>
              </a:ext>
            </a:extLst>
          </p:cNvPr>
          <p:cNvSpPr/>
          <p:nvPr/>
        </p:nvSpPr>
        <p:spPr>
          <a:xfrm>
            <a:off x="4025830" y="733718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02C4B3D8-4CC8-24EC-04E6-879D998E00BC}"/>
              </a:ext>
            </a:extLst>
          </p:cNvPr>
          <p:cNvSpPr/>
          <p:nvPr/>
        </p:nvSpPr>
        <p:spPr>
          <a:xfrm>
            <a:off x="6567941" y="297880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64B79F7A-6D32-C112-F2B6-3012EB25D41E}"/>
              </a:ext>
            </a:extLst>
          </p:cNvPr>
          <p:cNvSpPr/>
          <p:nvPr/>
        </p:nvSpPr>
        <p:spPr>
          <a:xfrm>
            <a:off x="7146945" y="297880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4A234776-2656-6E7B-FEC4-3B78C78B5541}"/>
              </a:ext>
            </a:extLst>
          </p:cNvPr>
          <p:cNvSpPr/>
          <p:nvPr/>
        </p:nvSpPr>
        <p:spPr>
          <a:xfrm>
            <a:off x="7706294" y="297880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D52B3964-AA21-C6BB-D910-46F6A80847B2}"/>
              </a:ext>
            </a:extLst>
          </p:cNvPr>
          <p:cNvSpPr/>
          <p:nvPr/>
        </p:nvSpPr>
        <p:spPr>
          <a:xfrm>
            <a:off x="6567941" y="549379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CAD98058-F76D-356F-7125-BDF8A4D9A29A}"/>
              </a:ext>
            </a:extLst>
          </p:cNvPr>
          <p:cNvSpPr/>
          <p:nvPr/>
        </p:nvSpPr>
        <p:spPr>
          <a:xfrm>
            <a:off x="7165571" y="5493792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3" name="Freeform 118">
            <a:extLst>
              <a:ext uri="{FF2B5EF4-FFF2-40B4-BE49-F238E27FC236}">
                <a16:creationId xmlns:a16="http://schemas.microsoft.com/office/drawing/2014/main" id="{2C5A09B5-CACD-9242-2A55-8E218C407C6C}"/>
              </a:ext>
            </a:extLst>
          </p:cNvPr>
          <p:cNvSpPr/>
          <p:nvPr/>
        </p:nvSpPr>
        <p:spPr>
          <a:xfrm>
            <a:off x="7824188" y="555083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96DE1249-C5F7-D531-F602-85BEE21771EB}"/>
              </a:ext>
            </a:extLst>
          </p:cNvPr>
          <p:cNvSpPr/>
          <p:nvPr/>
        </p:nvSpPr>
        <p:spPr>
          <a:xfrm>
            <a:off x="6558978" y="804385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8" name="Freeform 31">
            <a:extLst>
              <a:ext uri="{FF2B5EF4-FFF2-40B4-BE49-F238E27FC236}">
                <a16:creationId xmlns:a16="http://schemas.microsoft.com/office/drawing/2014/main" id="{9F71322B-C71C-9BD7-E557-AEF68F56535B}"/>
              </a:ext>
            </a:extLst>
          </p:cNvPr>
          <p:cNvSpPr/>
          <p:nvPr/>
        </p:nvSpPr>
        <p:spPr>
          <a:xfrm>
            <a:off x="9429269" y="8235574"/>
            <a:ext cx="2543705" cy="68904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Construction bois </a:t>
            </a:r>
            <a:r>
              <a:rPr lang="fr-FR" sz="2000" dirty="0">
                <a:ea typeface="Calibri"/>
                <a:cs typeface="Calibri"/>
              </a:rPr>
              <a:t>(GECH8 )</a:t>
            </a:r>
          </a:p>
        </p:txBody>
      </p:sp>
      <p:sp>
        <p:nvSpPr>
          <p:cNvPr id="39" name="Freeform 31">
            <a:extLst>
              <a:ext uri="{FF2B5EF4-FFF2-40B4-BE49-F238E27FC236}">
                <a16:creationId xmlns:a16="http://schemas.microsoft.com/office/drawing/2014/main" id="{D130E2E9-F74E-F34D-CFD6-77414F3669FF}"/>
              </a:ext>
            </a:extLst>
          </p:cNvPr>
          <p:cNvSpPr/>
          <p:nvPr/>
        </p:nvSpPr>
        <p:spPr>
          <a:xfrm>
            <a:off x="9429655" y="4989338"/>
            <a:ext cx="2543319" cy="91961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Conception de réseaux fluides </a:t>
            </a:r>
            <a:r>
              <a:rPr lang="fr-FR" sz="2000" dirty="0">
                <a:ea typeface="Calibri"/>
                <a:cs typeface="Calibri"/>
              </a:rPr>
              <a:t>(ENER812)</a:t>
            </a:r>
          </a:p>
        </p:txBody>
      </p:sp>
      <p:sp>
        <p:nvSpPr>
          <p:cNvPr id="40" name="Freeform 31">
            <a:extLst>
              <a:ext uri="{FF2B5EF4-FFF2-40B4-BE49-F238E27FC236}">
                <a16:creationId xmlns:a16="http://schemas.microsoft.com/office/drawing/2014/main" id="{4539D80A-DE3F-46DE-7CB6-2F619676D50F}"/>
              </a:ext>
            </a:extLst>
          </p:cNvPr>
          <p:cNvSpPr/>
          <p:nvPr/>
        </p:nvSpPr>
        <p:spPr>
          <a:xfrm>
            <a:off x="9429653" y="6653410"/>
            <a:ext cx="2568805" cy="78288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Conception et étude </a:t>
            </a:r>
            <a:r>
              <a:rPr lang="fr-FR" sz="2000" dirty="0">
                <a:ea typeface="Calibri"/>
                <a:cs typeface="Calibri"/>
              </a:rPr>
              <a:t>(PROJ811 )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6D053317-0743-D871-3A15-699ABD27D3CC}"/>
              </a:ext>
            </a:extLst>
          </p:cNvPr>
          <p:cNvSpPr/>
          <p:nvPr/>
        </p:nvSpPr>
        <p:spPr>
          <a:xfrm>
            <a:off x="9460998" y="304810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AB5E75CB-260F-A92E-D88F-DCBD25EC7D4D}"/>
              </a:ext>
            </a:extLst>
          </p:cNvPr>
          <p:cNvSpPr/>
          <p:nvPr/>
        </p:nvSpPr>
        <p:spPr>
          <a:xfrm>
            <a:off x="9496866" y="429167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3" name="Freeform 118">
            <a:extLst>
              <a:ext uri="{FF2B5EF4-FFF2-40B4-BE49-F238E27FC236}">
                <a16:creationId xmlns:a16="http://schemas.microsoft.com/office/drawing/2014/main" id="{3815F09F-FFF6-53F3-0102-BD1CFE42F968}"/>
              </a:ext>
            </a:extLst>
          </p:cNvPr>
          <p:cNvSpPr/>
          <p:nvPr/>
        </p:nvSpPr>
        <p:spPr>
          <a:xfrm>
            <a:off x="10205956" y="4355545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CF34052F-675F-1AB6-1366-B1A321D55648}"/>
              </a:ext>
            </a:extLst>
          </p:cNvPr>
          <p:cNvSpPr/>
          <p:nvPr/>
        </p:nvSpPr>
        <p:spPr>
          <a:xfrm>
            <a:off x="9478933" y="596676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5" name="Freeform 118">
            <a:extLst>
              <a:ext uri="{FF2B5EF4-FFF2-40B4-BE49-F238E27FC236}">
                <a16:creationId xmlns:a16="http://schemas.microsoft.com/office/drawing/2014/main" id="{3F7E626F-B165-53A8-4188-CF42EDEE709C}"/>
              </a:ext>
            </a:extLst>
          </p:cNvPr>
          <p:cNvSpPr/>
          <p:nvPr/>
        </p:nvSpPr>
        <p:spPr>
          <a:xfrm>
            <a:off x="10193808" y="6019141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560D769B-1E3B-7E37-0BCA-DC63989CE7A0}"/>
              </a:ext>
            </a:extLst>
          </p:cNvPr>
          <p:cNvSpPr/>
          <p:nvPr/>
        </p:nvSpPr>
        <p:spPr>
          <a:xfrm>
            <a:off x="19567236" y="1751952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9B2FF052-4B82-1C86-CAEA-7FDCBA6767D4}"/>
              </a:ext>
            </a:extLst>
          </p:cNvPr>
          <p:cNvSpPr/>
          <p:nvPr/>
        </p:nvSpPr>
        <p:spPr>
          <a:xfrm>
            <a:off x="20109390" y="1750512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5FBC92B7-FF17-37B8-2536-33955A403773}"/>
              </a:ext>
            </a:extLst>
          </p:cNvPr>
          <p:cNvSpPr/>
          <p:nvPr/>
        </p:nvSpPr>
        <p:spPr>
          <a:xfrm>
            <a:off x="20654281" y="175197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4899255A-2492-564B-B7A7-B965E1D6803E}"/>
              </a:ext>
            </a:extLst>
          </p:cNvPr>
          <p:cNvSpPr/>
          <p:nvPr/>
        </p:nvSpPr>
        <p:spPr>
          <a:xfrm>
            <a:off x="21221028" y="1748505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BA586A85-F9DB-F009-C2A6-890F6FD5F373}"/>
              </a:ext>
            </a:extLst>
          </p:cNvPr>
          <p:cNvSpPr/>
          <p:nvPr/>
        </p:nvSpPr>
        <p:spPr>
          <a:xfrm>
            <a:off x="9472982" y="747906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F0B15FF0-AA7F-DA11-426F-7AED62E08B8D}"/>
              </a:ext>
            </a:extLst>
          </p:cNvPr>
          <p:cNvSpPr/>
          <p:nvPr/>
        </p:nvSpPr>
        <p:spPr>
          <a:xfrm>
            <a:off x="10015136" y="746466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CED5724D-D85F-D577-7B72-A3E0EE71F8FA}"/>
              </a:ext>
            </a:extLst>
          </p:cNvPr>
          <p:cNvSpPr/>
          <p:nvPr/>
        </p:nvSpPr>
        <p:spPr>
          <a:xfrm>
            <a:off x="10560027" y="7479325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EB0541DF-C787-63DF-4E08-4FAB2B997E91}"/>
              </a:ext>
            </a:extLst>
          </p:cNvPr>
          <p:cNvSpPr/>
          <p:nvPr/>
        </p:nvSpPr>
        <p:spPr>
          <a:xfrm>
            <a:off x="11126774" y="746251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81E50525-3449-AAB4-64AA-E7D0573B842A}"/>
              </a:ext>
            </a:extLst>
          </p:cNvPr>
          <p:cNvSpPr/>
          <p:nvPr/>
        </p:nvSpPr>
        <p:spPr>
          <a:xfrm>
            <a:off x="9464018" y="895823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53BDD701-A50A-D71D-10D9-E9090C43BEF9}"/>
              </a:ext>
            </a:extLst>
          </p:cNvPr>
          <p:cNvSpPr/>
          <p:nvPr/>
        </p:nvSpPr>
        <p:spPr>
          <a:xfrm>
            <a:off x="10006172" y="8943834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F50E1248-99EA-D6A9-DDFD-862A7E203465}"/>
              </a:ext>
            </a:extLst>
          </p:cNvPr>
          <p:cNvSpPr/>
          <p:nvPr/>
        </p:nvSpPr>
        <p:spPr>
          <a:xfrm>
            <a:off x="10551063" y="895849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7" name="Freeform 31">
            <a:extLst>
              <a:ext uri="{FF2B5EF4-FFF2-40B4-BE49-F238E27FC236}">
                <a16:creationId xmlns:a16="http://schemas.microsoft.com/office/drawing/2014/main" id="{7CE1A4F9-7734-63EF-6AD0-7DD08838499C}"/>
              </a:ext>
            </a:extLst>
          </p:cNvPr>
          <p:cNvSpPr/>
          <p:nvPr/>
        </p:nvSpPr>
        <p:spPr>
          <a:xfrm>
            <a:off x="12381249" y="2274861"/>
            <a:ext cx="2521639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Réhabilitation des bâtiments​ </a:t>
            </a:r>
            <a:r>
              <a:rPr lang="fr-FR" sz="2000" dirty="0">
                <a:cs typeface="Segoe UI"/>
              </a:rPr>
              <a:t>(GECH916)</a:t>
            </a:r>
          </a:p>
        </p:txBody>
      </p:sp>
      <p:sp>
        <p:nvSpPr>
          <p:cNvPr id="58" name="Freeform 31">
            <a:extLst>
              <a:ext uri="{FF2B5EF4-FFF2-40B4-BE49-F238E27FC236}">
                <a16:creationId xmlns:a16="http://schemas.microsoft.com/office/drawing/2014/main" id="{B23BA716-F837-C21F-DBE5-C9AFE89AEF6E}"/>
              </a:ext>
            </a:extLst>
          </p:cNvPr>
          <p:cNvSpPr/>
          <p:nvPr/>
        </p:nvSpPr>
        <p:spPr>
          <a:xfrm>
            <a:off x="12381249" y="4150811"/>
            <a:ext cx="2521639" cy="128484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APP Projet multi-technique - Conception et études​ </a:t>
            </a:r>
            <a:r>
              <a:rPr lang="fr-FR" sz="2000" dirty="0">
                <a:cs typeface="Segoe UI"/>
              </a:rPr>
              <a:t>(PROJ911)</a:t>
            </a:r>
            <a:endParaRPr lang="fr-FR" sz="2000" dirty="0">
              <a:ea typeface="Calibri"/>
              <a:cs typeface="Segoe UI"/>
            </a:endParaRPr>
          </a:p>
        </p:txBody>
      </p:sp>
      <p:sp>
        <p:nvSpPr>
          <p:cNvPr id="59" name="Freeform 31">
            <a:extLst>
              <a:ext uri="{FF2B5EF4-FFF2-40B4-BE49-F238E27FC236}">
                <a16:creationId xmlns:a16="http://schemas.microsoft.com/office/drawing/2014/main" id="{F06690F9-893F-8569-D17E-D1DA19E611E4}"/>
              </a:ext>
            </a:extLst>
          </p:cNvPr>
          <p:cNvSpPr/>
          <p:nvPr/>
        </p:nvSpPr>
        <p:spPr>
          <a:xfrm>
            <a:off x="12381249" y="6618191"/>
            <a:ext cx="2521639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PR&amp;D</a:t>
            </a:r>
            <a:r>
              <a:rPr lang="en-US" sz="2000" b="1" dirty="0">
                <a:cs typeface="Segoe UI"/>
              </a:rPr>
              <a:t>​ </a:t>
            </a:r>
            <a:r>
              <a:rPr lang="en-US" sz="2000" dirty="0">
                <a:cs typeface="Segoe UI"/>
              </a:rPr>
              <a:t>(</a:t>
            </a:r>
            <a:r>
              <a:rPr lang="fr-FR" sz="2000" dirty="0">
                <a:cs typeface="Segoe UI"/>
              </a:rPr>
              <a:t>PROJ901)</a:t>
            </a:r>
            <a:endParaRPr lang="en-US" sz="2000" dirty="0">
              <a:ea typeface="Calibri"/>
              <a:cs typeface="Segoe UI"/>
            </a:endParaRP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C02E64A0-BCFB-954C-869E-23131443625B}"/>
              </a:ext>
            </a:extLst>
          </p:cNvPr>
          <p:cNvSpPr/>
          <p:nvPr/>
        </p:nvSpPr>
        <p:spPr>
          <a:xfrm>
            <a:off x="12466715" y="299674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C6AD122D-2EE2-90BB-D63A-9F92AC0BF37C}"/>
              </a:ext>
            </a:extLst>
          </p:cNvPr>
          <p:cNvSpPr/>
          <p:nvPr/>
        </p:nvSpPr>
        <p:spPr>
          <a:xfrm>
            <a:off x="13009861" y="299674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A197209A-99F1-1584-CD32-CBD29DC7019E}"/>
              </a:ext>
            </a:extLst>
          </p:cNvPr>
          <p:cNvSpPr/>
          <p:nvPr/>
        </p:nvSpPr>
        <p:spPr>
          <a:xfrm>
            <a:off x="13533352" y="299674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3DC5B1E9-16B6-5631-3A35-B54048E0BEEC}"/>
              </a:ext>
            </a:extLst>
          </p:cNvPr>
          <p:cNvSpPr/>
          <p:nvPr/>
        </p:nvSpPr>
        <p:spPr>
          <a:xfrm>
            <a:off x="12450303" y="547382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A70C1D84-BD1A-52E7-1136-E6FCC6B10417}"/>
              </a:ext>
            </a:extLst>
          </p:cNvPr>
          <p:cNvSpPr/>
          <p:nvPr/>
        </p:nvSpPr>
        <p:spPr>
          <a:xfrm>
            <a:off x="12993447" y="547821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8C3797B6-A878-BC10-A194-1106FC3F394A}"/>
              </a:ext>
            </a:extLst>
          </p:cNvPr>
          <p:cNvSpPr/>
          <p:nvPr/>
        </p:nvSpPr>
        <p:spPr>
          <a:xfrm>
            <a:off x="14109948" y="5478921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9E7A24A2-CBB3-DA12-8B61-30EB09DE82B2}"/>
              </a:ext>
            </a:extLst>
          </p:cNvPr>
          <p:cNvSpPr/>
          <p:nvPr/>
        </p:nvSpPr>
        <p:spPr>
          <a:xfrm>
            <a:off x="13566812" y="5473825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67" name="Freeform 118">
            <a:extLst>
              <a:ext uri="{FF2B5EF4-FFF2-40B4-BE49-F238E27FC236}">
                <a16:creationId xmlns:a16="http://schemas.microsoft.com/office/drawing/2014/main" id="{E069CAA1-1D41-90D5-EB77-F031AB49B1C1}"/>
              </a:ext>
            </a:extLst>
          </p:cNvPr>
          <p:cNvSpPr/>
          <p:nvPr/>
        </p:nvSpPr>
        <p:spPr>
          <a:xfrm>
            <a:off x="12506674" y="6014953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82C79D99-B66D-0F4B-0D96-519422906C02}"/>
              </a:ext>
            </a:extLst>
          </p:cNvPr>
          <p:cNvSpPr/>
          <p:nvPr/>
        </p:nvSpPr>
        <p:spPr>
          <a:xfrm>
            <a:off x="14162849" y="732883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885A6288-DB5F-5484-FEE5-FB6AE9C24A4C}"/>
              </a:ext>
            </a:extLst>
          </p:cNvPr>
          <p:cNvSpPr/>
          <p:nvPr/>
        </p:nvSpPr>
        <p:spPr>
          <a:xfrm>
            <a:off x="13019393" y="7328837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D5F7F538-C296-A26D-0583-EEDF05083754}"/>
              </a:ext>
            </a:extLst>
          </p:cNvPr>
          <p:cNvSpPr/>
          <p:nvPr/>
        </p:nvSpPr>
        <p:spPr>
          <a:xfrm>
            <a:off x="13602876" y="732883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71" name="Freeform 118">
            <a:extLst>
              <a:ext uri="{FF2B5EF4-FFF2-40B4-BE49-F238E27FC236}">
                <a16:creationId xmlns:a16="http://schemas.microsoft.com/office/drawing/2014/main" id="{E163499F-8CE6-90EB-9DAE-00210C89B864}"/>
              </a:ext>
            </a:extLst>
          </p:cNvPr>
          <p:cNvSpPr/>
          <p:nvPr/>
        </p:nvSpPr>
        <p:spPr>
          <a:xfrm>
            <a:off x="12519769" y="7869966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DBBDC05C-E4D2-7BA5-7883-82B7D69DB5FA}"/>
              </a:ext>
            </a:extLst>
          </p:cNvPr>
          <p:cNvSpPr/>
          <p:nvPr/>
        </p:nvSpPr>
        <p:spPr>
          <a:xfrm>
            <a:off x="12450306" y="7328837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8069C-4619-F728-9D10-A18DDC0D9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eeform 14">
            <a:extLst>
              <a:ext uri="{FF2B5EF4-FFF2-40B4-BE49-F238E27FC236}">
                <a16:creationId xmlns:a16="http://schemas.microsoft.com/office/drawing/2014/main" id="{7A64D0B5-4606-0BDE-B263-78AD78F4DB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4" name="Freeform 17">
            <a:extLst>
              <a:ext uri="{FF2B5EF4-FFF2-40B4-BE49-F238E27FC236}">
                <a16:creationId xmlns:a16="http://schemas.microsoft.com/office/drawing/2014/main" id="{6948B2C9-E953-D4F5-CCA1-C053326FF8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2051427"/>
            <a:ext cx="17835899" cy="7980550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3479B87-8CF1-61AB-EDF6-81E023ED0172}"/>
              </a:ext>
            </a:extLst>
          </p:cNvPr>
          <p:cNvSpPr txBox="1"/>
          <p:nvPr/>
        </p:nvSpPr>
        <p:spPr>
          <a:xfrm>
            <a:off x="198111" y="74733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93BD12B-D0AD-D7DF-CC44-DCA2FE8A8606}"/>
              </a:ext>
            </a:extLst>
          </p:cNvPr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41950039-A0D2-DFBC-7E06-EC5E947314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7BAC405-F4DF-F0A9-2503-7AC7B2412C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04AFE850-8689-443C-7AF9-F6FC9D77B5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D51D4B7-B1AC-167A-0DCF-177AF09BC2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59C5AEAB-15B9-218A-1BB7-4163B2753D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2E9615E-EAEC-8EE2-0441-46736E82CC3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7BAE5EBC-A19A-FAF9-E6F1-0FD67BE155A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5853D067-EB0E-BFDA-ED1D-DC92D30E9B7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CCC8BC89-9583-6896-DE14-8F30E9C03A7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04E3CBAF-34EF-53E8-E863-4C5E1F3BE99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108B4736-4D35-58D6-653A-1D5C396DDD2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823166A2-B65F-6AB2-C6CB-27ECC9AD6A0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9D0EA778-4E39-7F8B-BB6A-B1A05F073058}"/>
              </a:ext>
            </a:extLst>
          </p:cNvPr>
          <p:cNvSpPr>
            <a:spLocks/>
          </p:cNvSpPr>
          <p:nvPr/>
        </p:nvSpPr>
        <p:spPr>
          <a:xfrm>
            <a:off x="430570" y="1714500"/>
            <a:ext cx="247032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90EBCB69-91F3-A316-1778-4D4361CBFF56}"/>
              </a:ext>
            </a:extLst>
          </p:cNvPr>
          <p:cNvSpPr/>
          <p:nvPr/>
        </p:nvSpPr>
        <p:spPr>
          <a:xfrm>
            <a:off x="430570" y="2404188"/>
            <a:ext cx="2469975" cy="94861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Bilan carbone d'une entreprise </a:t>
            </a:r>
            <a:r>
              <a:rPr lang="fr-FR" sz="2000" dirty="0">
                <a:latin typeface="Calibri"/>
                <a:ea typeface="Calibri"/>
                <a:cs typeface="Calibri"/>
              </a:rPr>
              <a:t>(DDRS501)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0911D224-1208-3851-8A67-9825D9E87025}"/>
              </a:ext>
            </a:extLst>
          </p:cNvPr>
          <p:cNvSpPr/>
          <p:nvPr/>
        </p:nvSpPr>
        <p:spPr>
          <a:xfrm>
            <a:off x="3645071" y="5306807"/>
            <a:ext cx="2320839" cy="57665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Gestion financière </a:t>
            </a:r>
            <a:r>
              <a:rPr lang="fr-FR" sz="2000" dirty="0">
                <a:ea typeface="Calibri"/>
                <a:cs typeface="Calibri"/>
              </a:rPr>
              <a:t>(SHES601)</a:t>
            </a:r>
          </a:p>
        </p:txBody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EBEAC854-D255-1ADC-0CA3-C539EF23114E}"/>
              </a:ext>
            </a:extLst>
          </p:cNvPr>
          <p:cNvSpPr/>
          <p:nvPr/>
        </p:nvSpPr>
        <p:spPr>
          <a:xfrm>
            <a:off x="3645071" y="3814950"/>
            <a:ext cx="2320839" cy="57665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Energétique et fluides </a:t>
            </a:r>
            <a:r>
              <a:rPr lang="fr-FR" sz="2000" dirty="0">
                <a:ea typeface="Calibri"/>
                <a:cs typeface="Calibri"/>
              </a:rPr>
              <a:t>(ENER613 )</a:t>
            </a: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C605AA75-643E-A4B3-D462-85E58648FE84}"/>
              </a:ext>
            </a:extLst>
          </p:cNvPr>
          <p:cNvSpPr/>
          <p:nvPr/>
        </p:nvSpPr>
        <p:spPr>
          <a:xfrm>
            <a:off x="3645071" y="2404188"/>
            <a:ext cx="2320839" cy="57665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Génie climatique </a:t>
            </a:r>
            <a:r>
              <a:rPr lang="fr-FR" sz="2000" dirty="0">
                <a:ea typeface="Calibri"/>
                <a:cs typeface="Calibri"/>
              </a:rPr>
              <a:t>(GECH611)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91641A99-3192-7340-4639-6DFCDFC043E8}"/>
              </a:ext>
            </a:extLst>
          </p:cNvPr>
          <p:cNvSpPr/>
          <p:nvPr/>
        </p:nvSpPr>
        <p:spPr>
          <a:xfrm>
            <a:off x="3639595" y="6852493"/>
            <a:ext cx="2301830" cy="98101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Matériaux de construction </a:t>
            </a:r>
            <a:r>
              <a:rPr lang="fr-FR" sz="2000" dirty="0">
                <a:ea typeface="Calibri"/>
                <a:cs typeface="Calibri"/>
              </a:rPr>
              <a:t>(MATE611)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D62F962A-5902-11C4-E5E4-12D78275E45D}"/>
              </a:ext>
            </a:extLst>
          </p:cNvPr>
          <p:cNvSpPr/>
          <p:nvPr/>
        </p:nvSpPr>
        <p:spPr>
          <a:xfrm>
            <a:off x="9423219" y="2300421"/>
            <a:ext cx="2558860" cy="115614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Énergies renouvelables – petits projets </a:t>
            </a:r>
            <a:r>
              <a:rPr lang="fr-FR" sz="2000" dirty="0">
                <a:ea typeface="+mn-lt"/>
                <a:cs typeface="+mn-lt"/>
              </a:rPr>
              <a:t>(</a:t>
            </a:r>
            <a:r>
              <a:rPr lang="fr-FR" sz="2000" dirty="0">
                <a:ea typeface="Calibri"/>
                <a:cs typeface="Calibri"/>
              </a:rPr>
              <a:t>ENER813)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1360D36-623C-4933-DEAA-70667CE4511A}"/>
              </a:ext>
            </a:extLst>
          </p:cNvPr>
          <p:cNvSpPr/>
          <p:nvPr/>
        </p:nvSpPr>
        <p:spPr>
          <a:xfrm>
            <a:off x="495536" y="3396604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04934A3D-1F0E-98A6-19AD-D84D12D00D4E}"/>
              </a:ext>
            </a:extLst>
          </p:cNvPr>
          <p:cNvSpPr/>
          <p:nvPr/>
        </p:nvSpPr>
        <p:spPr>
          <a:xfrm>
            <a:off x="6505372" y="6069196"/>
            <a:ext cx="2438319" cy="127485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Ressources et dynamiques professionnelles – jeu de rôle </a:t>
            </a:r>
            <a:r>
              <a:rPr lang="fr-FR" sz="2000" dirty="0">
                <a:ea typeface="+mn-lt"/>
                <a:cs typeface="+mn-lt"/>
              </a:rPr>
              <a:t>(SHES703)</a:t>
            </a:r>
            <a:endParaRPr lang="en-US" sz="2000" dirty="0">
              <a:ea typeface="Calibri"/>
              <a:cs typeface="Calibri"/>
            </a:endParaRP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0415A221-79E9-6B14-C6C7-5896EEA6EED8}"/>
              </a:ext>
            </a:extLst>
          </p:cNvPr>
          <p:cNvSpPr/>
          <p:nvPr/>
        </p:nvSpPr>
        <p:spPr>
          <a:xfrm>
            <a:off x="6505372" y="4119569"/>
            <a:ext cx="2438319" cy="11872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Créativité et Management de l'innovation </a:t>
            </a:r>
            <a:r>
              <a:rPr lang="fr-FR" sz="2000" dirty="0">
                <a:ea typeface="+mn-lt"/>
                <a:cs typeface="+mn-lt"/>
              </a:rPr>
              <a:t>(</a:t>
            </a:r>
            <a:r>
              <a:rPr lang="fr-FR" sz="2000" dirty="0">
                <a:ea typeface="Calibri"/>
                <a:cs typeface="Calibri"/>
              </a:rPr>
              <a:t>SHES704)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9CCCE8BD-B016-CA9D-DB03-4F135F576813}"/>
              </a:ext>
            </a:extLst>
          </p:cNvPr>
          <p:cNvSpPr/>
          <p:nvPr/>
        </p:nvSpPr>
        <p:spPr>
          <a:xfrm>
            <a:off x="6536427" y="2404188"/>
            <a:ext cx="2438319" cy="62675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Géotechnique 1 </a:t>
            </a:r>
            <a:r>
              <a:rPr lang="fr-FR" sz="2000" dirty="0">
                <a:ea typeface="Calibri"/>
                <a:cs typeface="Calibri"/>
              </a:rPr>
              <a:t>(GECH713)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B60F7210-309B-17D4-7858-F72203F4F2FE}"/>
              </a:ext>
            </a:extLst>
          </p:cNvPr>
          <p:cNvSpPr/>
          <p:nvPr/>
        </p:nvSpPr>
        <p:spPr>
          <a:xfrm>
            <a:off x="6536428" y="8301632"/>
            <a:ext cx="2377240" cy="73479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Génie climatique – BE </a:t>
            </a:r>
            <a:r>
              <a:rPr lang="fr-FR" sz="2000" dirty="0">
                <a:ea typeface="Calibri"/>
                <a:cs typeface="Calibri"/>
              </a:rPr>
              <a:t>(GECH715)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8C0621BC-1650-0543-B1E2-582E510E3F17}"/>
              </a:ext>
            </a:extLst>
          </p:cNvPr>
          <p:cNvSpPr/>
          <p:nvPr/>
        </p:nvSpPr>
        <p:spPr>
          <a:xfrm>
            <a:off x="3707754" y="3038604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17877639-EDA8-09FC-BB78-DCB7E67958C0}"/>
              </a:ext>
            </a:extLst>
          </p:cNvPr>
          <p:cNvSpPr/>
          <p:nvPr/>
        </p:nvSpPr>
        <p:spPr>
          <a:xfrm>
            <a:off x="3707762" y="445503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E9AAB956-4711-A6EC-03D7-7801853E4C8C}"/>
              </a:ext>
            </a:extLst>
          </p:cNvPr>
          <p:cNvSpPr/>
          <p:nvPr/>
        </p:nvSpPr>
        <p:spPr>
          <a:xfrm>
            <a:off x="3710909" y="594181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42545ED3-5EDE-3FD1-3B28-02AF27AF408D}"/>
              </a:ext>
            </a:extLst>
          </p:cNvPr>
          <p:cNvSpPr/>
          <p:nvPr/>
        </p:nvSpPr>
        <p:spPr>
          <a:xfrm>
            <a:off x="3710911" y="78816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27EF6B61-1C69-4DB2-DCA9-F425DFD1C86C}"/>
              </a:ext>
            </a:extLst>
          </p:cNvPr>
          <p:cNvSpPr/>
          <p:nvPr/>
        </p:nvSpPr>
        <p:spPr>
          <a:xfrm>
            <a:off x="4260220" y="788168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E4E4EAA1-0D2A-1465-0865-EC464FC4A5B7}"/>
              </a:ext>
            </a:extLst>
          </p:cNvPr>
          <p:cNvSpPr/>
          <p:nvPr/>
        </p:nvSpPr>
        <p:spPr>
          <a:xfrm>
            <a:off x="4821473" y="787206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644D94DB-376B-438B-FB1E-A967F353B99B}"/>
              </a:ext>
            </a:extLst>
          </p:cNvPr>
          <p:cNvSpPr/>
          <p:nvPr/>
        </p:nvSpPr>
        <p:spPr>
          <a:xfrm>
            <a:off x="6600286" y="308662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032AC165-CA3A-F291-C912-89C83D9AB1F2}"/>
              </a:ext>
            </a:extLst>
          </p:cNvPr>
          <p:cNvSpPr/>
          <p:nvPr/>
        </p:nvSpPr>
        <p:spPr>
          <a:xfrm>
            <a:off x="7197333" y="3086621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0" name="Freeform 118">
            <a:extLst>
              <a:ext uri="{FF2B5EF4-FFF2-40B4-BE49-F238E27FC236}">
                <a16:creationId xmlns:a16="http://schemas.microsoft.com/office/drawing/2014/main" id="{81371077-95CC-87CA-941D-FDF231683E22}"/>
              </a:ext>
            </a:extLst>
          </p:cNvPr>
          <p:cNvSpPr/>
          <p:nvPr/>
        </p:nvSpPr>
        <p:spPr>
          <a:xfrm>
            <a:off x="6586692" y="5374078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8EEE8E65-520A-1A64-5459-60893A10C7AF}"/>
              </a:ext>
            </a:extLst>
          </p:cNvPr>
          <p:cNvSpPr/>
          <p:nvPr/>
        </p:nvSpPr>
        <p:spPr>
          <a:xfrm>
            <a:off x="6579551" y="738812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6638FEE1-5BDE-68CE-79B3-B0EBF6966408}"/>
              </a:ext>
            </a:extLst>
          </p:cNvPr>
          <p:cNvSpPr/>
          <p:nvPr/>
        </p:nvSpPr>
        <p:spPr>
          <a:xfrm>
            <a:off x="6617142" y="9081464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9003C0E0-FE50-157D-6782-FF51D1E0B169}"/>
              </a:ext>
            </a:extLst>
          </p:cNvPr>
          <p:cNvSpPr/>
          <p:nvPr/>
        </p:nvSpPr>
        <p:spPr>
          <a:xfrm>
            <a:off x="9477200" y="350883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4" name="Freeform 31">
            <a:extLst>
              <a:ext uri="{FF2B5EF4-FFF2-40B4-BE49-F238E27FC236}">
                <a16:creationId xmlns:a16="http://schemas.microsoft.com/office/drawing/2014/main" id="{0906AB71-1D19-47AF-0D15-860DB1A56193}"/>
              </a:ext>
            </a:extLst>
          </p:cNvPr>
          <p:cNvSpPr/>
          <p:nvPr/>
        </p:nvSpPr>
        <p:spPr>
          <a:xfrm>
            <a:off x="12525421" y="2272649"/>
            <a:ext cx="2367562" cy="118391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Energie Solaire Thermique </a:t>
            </a:r>
            <a:r>
              <a:rPr lang="fr-FR" sz="2000" dirty="0">
                <a:ea typeface="+mn-lt"/>
                <a:cs typeface="+mn-lt"/>
              </a:rPr>
              <a:t>(</a:t>
            </a:r>
            <a:r>
              <a:rPr lang="fr-FR" sz="2000" dirty="0">
                <a:cs typeface="Segoe UI"/>
              </a:rPr>
              <a:t>ENER913)</a:t>
            </a:r>
            <a:endParaRPr lang="fr-FR" sz="2000" dirty="0">
              <a:ea typeface="+mn-lt"/>
              <a:cs typeface="+mn-lt"/>
            </a:endParaRPr>
          </a:p>
        </p:txBody>
      </p:sp>
      <p:sp>
        <p:nvSpPr>
          <p:cNvPr id="35" name="Freeform 31">
            <a:extLst>
              <a:ext uri="{FF2B5EF4-FFF2-40B4-BE49-F238E27FC236}">
                <a16:creationId xmlns:a16="http://schemas.microsoft.com/office/drawing/2014/main" id="{17FA0DAF-A7E0-8339-9985-BE26491F4654}"/>
              </a:ext>
            </a:extLst>
          </p:cNvPr>
          <p:cNvSpPr/>
          <p:nvPr/>
        </p:nvSpPr>
        <p:spPr>
          <a:xfrm>
            <a:off x="12507998" y="4822393"/>
            <a:ext cx="2384985" cy="106106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Energie Solaire Photovoltaïque </a:t>
            </a:r>
            <a:r>
              <a:rPr lang="fr-FR" sz="2000" dirty="0">
                <a:ea typeface="+mn-lt"/>
                <a:cs typeface="+mn-lt"/>
              </a:rPr>
              <a:t>(ENER914)</a:t>
            </a:r>
            <a:endParaRPr lang="fr-FR" sz="2000" dirty="0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779B8EDD-CDAC-AAAD-FCBC-4117F2EDEFC4}"/>
              </a:ext>
            </a:extLst>
          </p:cNvPr>
          <p:cNvSpPr/>
          <p:nvPr/>
        </p:nvSpPr>
        <p:spPr>
          <a:xfrm>
            <a:off x="12605880" y="351780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B0CA9B52-35D1-3469-7137-3394AEC05650}"/>
              </a:ext>
            </a:extLst>
          </p:cNvPr>
          <p:cNvSpPr/>
          <p:nvPr/>
        </p:nvSpPr>
        <p:spPr>
          <a:xfrm>
            <a:off x="12587955" y="595619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4079499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85561-7228-61C1-58F0-884D92DB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eeform 14">
            <a:extLst>
              <a:ext uri="{FF2B5EF4-FFF2-40B4-BE49-F238E27FC236}">
                <a16:creationId xmlns:a16="http://schemas.microsoft.com/office/drawing/2014/main" id="{612E82CD-F237-E15B-9FFF-2D4AE12039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3" name="Freeform 8">
            <a:extLst>
              <a:ext uri="{FF2B5EF4-FFF2-40B4-BE49-F238E27FC236}">
                <a16:creationId xmlns:a16="http://schemas.microsoft.com/office/drawing/2014/main" id="{5AB9CB41-9422-74C2-EEE4-1897AB165F39}"/>
              </a:ext>
            </a:extLst>
          </p:cNvPr>
          <p:cNvSpPr>
            <a:spLocks/>
          </p:cNvSpPr>
          <p:nvPr/>
        </p:nvSpPr>
        <p:spPr>
          <a:xfrm>
            <a:off x="198111" y="7389441"/>
            <a:ext cx="17835899" cy="2699955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4" name="Freeform 17">
            <a:extLst>
              <a:ext uri="{FF2B5EF4-FFF2-40B4-BE49-F238E27FC236}">
                <a16:creationId xmlns:a16="http://schemas.microsoft.com/office/drawing/2014/main" id="{4098D997-2C4E-ACBB-C6B7-8A3D37F8D7A9}"/>
              </a:ext>
            </a:extLst>
          </p:cNvPr>
          <p:cNvSpPr>
            <a:spLocks/>
          </p:cNvSpPr>
          <p:nvPr/>
        </p:nvSpPr>
        <p:spPr>
          <a:xfrm>
            <a:off x="198111" y="2051427"/>
            <a:ext cx="17835899" cy="4811964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1E09842-3C7C-E2CA-5375-D2E75BC0911C}"/>
              </a:ext>
            </a:extLst>
          </p:cNvPr>
          <p:cNvSpPr txBox="1"/>
          <p:nvPr/>
        </p:nvSpPr>
        <p:spPr>
          <a:xfrm>
            <a:off x="198111" y="74733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B6B764-B705-4D5B-F179-81EC03587EA6}"/>
              </a:ext>
            </a:extLst>
          </p:cNvPr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CC692E9-2AFD-3267-1566-990694F094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DE2EBF7-24E4-4BDE-9891-71347F4B70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28560BB-3E5E-E44C-53AD-B0C5120C5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289126F-0915-E188-8528-7498C8EA37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DDDDD3B-408C-A8A8-DD5B-8D44102816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CBBAAE4-7C54-120E-4FE6-06814A1501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D382CC2F-3A21-7B3B-9102-F8E5F3F27E3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E644B751-C7C3-6F33-2767-6130FE3F2F2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46BDBE6-CE35-18BE-862F-8CD5DCCA2B7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38F40A07-D8F5-A15B-3F28-272967224A5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0B8B9C16-335A-FD78-4F70-AD9B9AC831C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C9D433BC-9482-66F6-91AC-6C9AB4F6E6E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59" name="Freeform 25">
            <a:extLst>
              <a:ext uri="{FF2B5EF4-FFF2-40B4-BE49-F238E27FC236}">
                <a16:creationId xmlns:a16="http://schemas.microsoft.com/office/drawing/2014/main" id="{21097BCF-F0BF-B629-0EE6-97116A6F7CFE}"/>
              </a:ext>
            </a:extLst>
          </p:cNvPr>
          <p:cNvSpPr>
            <a:spLocks/>
          </p:cNvSpPr>
          <p:nvPr/>
        </p:nvSpPr>
        <p:spPr>
          <a:xfrm>
            <a:off x="422712" y="7048500"/>
            <a:ext cx="24778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Autres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117A8F86-52B9-BDF8-487B-A9CF759933C2}"/>
              </a:ext>
            </a:extLst>
          </p:cNvPr>
          <p:cNvSpPr>
            <a:spLocks/>
          </p:cNvSpPr>
          <p:nvPr/>
        </p:nvSpPr>
        <p:spPr>
          <a:xfrm>
            <a:off x="430570" y="1714500"/>
            <a:ext cx="247032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Stages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65CB4A17-AED9-89E8-BD6B-F2C17D3E1CF4}"/>
              </a:ext>
            </a:extLst>
          </p:cNvPr>
          <p:cNvSpPr/>
          <p:nvPr/>
        </p:nvSpPr>
        <p:spPr>
          <a:xfrm>
            <a:off x="3492388" y="2431021"/>
            <a:ext cx="2617856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ouvrier </a:t>
            </a:r>
            <a:r>
              <a:rPr lang="fr-FR" sz="2000" dirty="0">
                <a:ea typeface="Calibri"/>
                <a:cs typeface="Calibri"/>
              </a:rPr>
              <a:t>(Fi3)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46B5580-1335-4425-1388-B6613AB9DFE2}"/>
              </a:ext>
            </a:extLst>
          </p:cNvPr>
          <p:cNvSpPr/>
          <p:nvPr/>
        </p:nvSpPr>
        <p:spPr>
          <a:xfrm>
            <a:off x="5204601" y="3067451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1F6E96B-AD82-B8E1-4D0C-9235E4D2D318}"/>
              </a:ext>
            </a:extLst>
          </p:cNvPr>
          <p:cNvSpPr/>
          <p:nvPr/>
        </p:nvSpPr>
        <p:spPr>
          <a:xfrm>
            <a:off x="3571781" y="306745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4CABF6A6-384C-7A7E-F566-F283C066B070}"/>
              </a:ext>
            </a:extLst>
          </p:cNvPr>
          <p:cNvSpPr/>
          <p:nvPr/>
        </p:nvSpPr>
        <p:spPr>
          <a:xfrm>
            <a:off x="4114929" y="3067451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37B7CA7D-98F8-9094-5364-BC54B6028BDE}"/>
              </a:ext>
            </a:extLst>
          </p:cNvPr>
          <p:cNvSpPr/>
          <p:nvPr/>
        </p:nvSpPr>
        <p:spPr>
          <a:xfrm>
            <a:off x="4662554" y="3067451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3" name="Freeform 118">
            <a:extLst>
              <a:ext uri="{FF2B5EF4-FFF2-40B4-BE49-F238E27FC236}">
                <a16:creationId xmlns:a16="http://schemas.microsoft.com/office/drawing/2014/main" id="{B492134E-954A-5FD7-32AD-6FECE7943CA9}"/>
              </a:ext>
            </a:extLst>
          </p:cNvPr>
          <p:cNvSpPr/>
          <p:nvPr/>
        </p:nvSpPr>
        <p:spPr>
          <a:xfrm>
            <a:off x="3687019" y="3680296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7EE84F0F-E72B-C2FD-C3D4-ADDE2C2E0F3A}"/>
              </a:ext>
            </a:extLst>
          </p:cNvPr>
          <p:cNvSpPr/>
          <p:nvPr/>
        </p:nvSpPr>
        <p:spPr>
          <a:xfrm>
            <a:off x="9412843" y="2274861"/>
            <a:ext cx="2551502" cy="71382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assistant ingénieur (Fi4)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4042A49-38E3-99BA-0077-643FA850BBFF}"/>
              </a:ext>
            </a:extLst>
          </p:cNvPr>
          <p:cNvSpPr/>
          <p:nvPr/>
        </p:nvSpPr>
        <p:spPr>
          <a:xfrm>
            <a:off x="11073017" y="307107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0B3B7213-6EE2-BC5B-800E-D267CDA07B52}"/>
              </a:ext>
            </a:extLst>
          </p:cNvPr>
          <p:cNvSpPr/>
          <p:nvPr/>
        </p:nvSpPr>
        <p:spPr>
          <a:xfrm>
            <a:off x="9458129" y="3058787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A42CC3A1-292A-F7AD-8291-178E31B313F6}"/>
              </a:ext>
            </a:extLst>
          </p:cNvPr>
          <p:cNvSpPr/>
          <p:nvPr/>
        </p:nvSpPr>
        <p:spPr>
          <a:xfrm>
            <a:off x="9983345" y="3063177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E5C39662-0558-17D5-C9C1-CEB932845871}"/>
              </a:ext>
            </a:extLst>
          </p:cNvPr>
          <p:cNvSpPr/>
          <p:nvPr/>
        </p:nvSpPr>
        <p:spPr>
          <a:xfrm>
            <a:off x="10513040" y="3060232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1" name="Freeform 118">
            <a:extLst>
              <a:ext uri="{FF2B5EF4-FFF2-40B4-BE49-F238E27FC236}">
                <a16:creationId xmlns:a16="http://schemas.microsoft.com/office/drawing/2014/main" id="{F93E556F-9182-2A35-F31A-2AAF7EF3EF69}"/>
              </a:ext>
            </a:extLst>
          </p:cNvPr>
          <p:cNvSpPr/>
          <p:nvPr/>
        </p:nvSpPr>
        <p:spPr>
          <a:xfrm>
            <a:off x="9573374" y="370613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2" name="Freeform 31">
            <a:extLst>
              <a:ext uri="{FF2B5EF4-FFF2-40B4-BE49-F238E27FC236}">
                <a16:creationId xmlns:a16="http://schemas.microsoft.com/office/drawing/2014/main" id="{437E0C1D-DF36-A06E-A34D-F47A8ED91068}"/>
              </a:ext>
            </a:extLst>
          </p:cNvPr>
          <p:cNvSpPr/>
          <p:nvPr/>
        </p:nvSpPr>
        <p:spPr>
          <a:xfrm>
            <a:off x="15440402" y="2352940"/>
            <a:ext cx="2289573" cy="70112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ingénieur (Fi5)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DF7138D8-9AE8-0151-F382-2D829FB8A95A}"/>
              </a:ext>
            </a:extLst>
          </p:cNvPr>
          <p:cNvSpPr/>
          <p:nvPr/>
        </p:nvSpPr>
        <p:spPr>
          <a:xfrm>
            <a:off x="17169119" y="313102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48803CF7-B553-C01E-AB85-A54FCE8E66A4}"/>
              </a:ext>
            </a:extLst>
          </p:cNvPr>
          <p:cNvSpPr/>
          <p:nvPr/>
        </p:nvSpPr>
        <p:spPr>
          <a:xfrm>
            <a:off x="15482514" y="3131029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AE13AC57-1339-8A75-BCD9-0B333128EBC0}"/>
              </a:ext>
            </a:extLst>
          </p:cNvPr>
          <p:cNvSpPr/>
          <p:nvPr/>
        </p:nvSpPr>
        <p:spPr>
          <a:xfrm>
            <a:off x="16025659" y="3131029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017D89DA-32BE-EF91-973A-C4763E6F281D}"/>
              </a:ext>
            </a:extLst>
          </p:cNvPr>
          <p:cNvSpPr/>
          <p:nvPr/>
        </p:nvSpPr>
        <p:spPr>
          <a:xfrm>
            <a:off x="16591214" y="3131029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" name="Freeform 118">
            <a:extLst>
              <a:ext uri="{FF2B5EF4-FFF2-40B4-BE49-F238E27FC236}">
                <a16:creationId xmlns:a16="http://schemas.microsoft.com/office/drawing/2014/main" id="{BDA5EDAE-828C-BD87-CB3A-BAAAC3BE494A}"/>
              </a:ext>
            </a:extLst>
          </p:cNvPr>
          <p:cNvSpPr/>
          <p:nvPr/>
        </p:nvSpPr>
        <p:spPr>
          <a:xfrm>
            <a:off x="15543966" y="376005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5372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A9C7A302-E4A0-1C25-EE28-4E031A3E91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CA3E26DF-4776-E449-94E5-254854AC1E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3FC70CEF-184B-ED27-1416-824325F176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52E39F20-6B78-B060-B8D8-7962CBB092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/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/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1 (S5 et S6)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D1FEB683-06A4-CCD3-8562-BDF42EE98F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1AA48609-46E1-0F2C-13FC-5F1EAB8305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D7578E63-72AC-34B8-B80E-5026EEB545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BACF490B-1AD1-405D-E822-8D000B3B66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311D30B4-DB52-4606-7D3A-8D41AAD76160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A01E554A-C7A8-6AF5-CFB5-DED4CB949D14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255B75E5-EC03-7E85-0C5B-BB46BB71459D}"/>
              </a:ext>
            </a:extLst>
          </p:cNvPr>
          <p:cNvSpPr/>
          <p:nvPr/>
        </p:nvSpPr>
        <p:spPr>
          <a:xfrm>
            <a:off x="4684118" y="7315201"/>
            <a:ext cx="4380029" cy="2829244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0E0281FE-BF1F-6D9B-C1FB-5E4E66886E41}"/>
              </a:ext>
            </a:extLst>
          </p:cNvPr>
          <p:cNvSpPr/>
          <p:nvPr/>
        </p:nvSpPr>
        <p:spPr>
          <a:xfrm>
            <a:off x="151141" y="7853082"/>
            <a:ext cx="4380029" cy="2288211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DA48E357-B4AB-097D-A567-208FBAB0AFC8}"/>
              </a:ext>
            </a:extLst>
          </p:cNvPr>
          <p:cNvSpPr/>
          <p:nvPr/>
        </p:nvSpPr>
        <p:spPr>
          <a:xfrm>
            <a:off x="13754680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2" name="Freeform 31">
            <a:extLst>
              <a:ext uri="{FF2B5EF4-FFF2-40B4-BE49-F238E27FC236}">
                <a16:creationId xmlns:a16="http://schemas.microsoft.com/office/drawing/2014/main" id="{EEF9DB02-7E92-40DA-E80A-1665B203D668}"/>
              </a:ext>
            </a:extLst>
          </p:cNvPr>
          <p:cNvSpPr/>
          <p:nvPr/>
        </p:nvSpPr>
        <p:spPr>
          <a:xfrm>
            <a:off x="337820" y="8227002"/>
            <a:ext cx="4036954" cy="7577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Fonctions et technologies du Bâtiment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001C1817-24C0-459B-B55C-5A55A96F9447}"/>
              </a:ext>
            </a:extLst>
          </p:cNvPr>
          <p:cNvSpPr/>
          <p:nvPr/>
        </p:nvSpPr>
        <p:spPr>
          <a:xfrm>
            <a:off x="4863230" y="7528481"/>
            <a:ext cx="4036954" cy="7577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Fonctions et technologies du Bâtiment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935E3185-6715-3D01-47D5-6CA69BFE12F8}"/>
              </a:ext>
            </a:extLst>
          </p:cNvPr>
          <p:cNvSpPr/>
          <p:nvPr/>
        </p:nvSpPr>
        <p:spPr>
          <a:xfrm>
            <a:off x="4847288" y="8430861"/>
            <a:ext cx="4036953" cy="89989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Introduction à la maquette numérique du bâtiment 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AE0EDA38-D598-1102-B05C-BCF8527C872B}"/>
              </a:ext>
            </a:extLst>
          </p:cNvPr>
          <p:cNvSpPr/>
          <p:nvPr/>
        </p:nvSpPr>
        <p:spPr>
          <a:xfrm>
            <a:off x="4847287" y="9465991"/>
            <a:ext cx="4036953" cy="53399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Acoustique et éclairage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673FD23F-2668-81C6-B1BE-F72B2E3BA62E}"/>
              </a:ext>
            </a:extLst>
          </p:cNvPr>
          <p:cNvSpPr/>
          <p:nvPr/>
        </p:nvSpPr>
        <p:spPr>
          <a:xfrm>
            <a:off x="13979702" y="8941198"/>
            <a:ext cx="3970476" cy="64734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Acteurs du Bâtiment</a:t>
            </a:r>
            <a:endParaRPr lang="fr-FR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B2DFD0BB-0931-701F-A916-DC9213A527AF}"/>
              </a:ext>
            </a:extLst>
          </p:cNvPr>
          <p:cNvSpPr/>
          <p:nvPr/>
        </p:nvSpPr>
        <p:spPr>
          <a:xfrm>
            <a:off x="4993712" y="3585828"/>
            <a:ext cx="3719982" cy="57665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Energétique et fluides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BA54B6EF-3CE2-52FC-AC5F-91DCFFB68AFB}"/>
              </a:ext>
            </a:extLst>
          </p:cNvPr>
          <p:cNvSpPr/>
          <p:nvPr/>
        </p:nvSpPr>
        <p:spPr>
          <a:xfrm>
            <a:off x="4993712" y="2748372"/>
            <a:ext cx="3719982" cy="57665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Génie climatique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A892FAC0-F56B-9A90-1ABF-E40C071CD3F2}"/>
              </a:ext>
            </a:extLst>
          </p:cNvPr>
          <p:cNvSpPr/>
          <p:nvPr/>
        </p:nvSpPr>
        <p:spPr>
          <a:xfrm>
            <a:off x="5008946" y="4408285"/>
            <a:ext cx="3689513" cy="57665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Matériaux de construction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C2A90EAC-213C-CB24-6A35-99E2181460EF}"/>
              </a:ext>
            </a:extLst>
          </p:cNvPr>
          <p:cNvSpPr/>
          <p:nvPr/>
        </p:nvSpPr>
        <p:spPr>
          <a:xfrm>
            <a:off x="337820" y="2799501"/>
            <a:ext cx="4036953" cy="62459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Matériaux de construction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0BF316C2-0E4F-B822-A0DF-2671FCE71B98}"/>
              </a:ext>
            </a:extLst>
          </p:cNvPr>
          <p:cNvSpPr/>
          <p:nvPr/>
        </p:nvSpPr>
        <p:spPr>
          <a:xfrm>
            <a:off x="9563796" y="2748372"/>
            <a:ext cx="3689513" cy="57665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Matériaux de construction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EB4CBEEB-522D-A715-2FC7-BBC36F81036D}"/>
              </a:ext>
            </a:extLst>
          </p:cNvPr>
          <p:cNvSpPr/>
          <p:nvPr/>
        </p:nvSpPr>
        <p:spPr>
          <a:xfrm>
            <a:off x="14066424" y="2758215"/>
            <a:ext cx="3883754" cy="57665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Gestion financière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21" name="Freeform 31">
            <a:extLst>
              <a:ext uri="{FF2B5EF4-FFF2-40B4-BE49-F238E27FC236}">
                <a16:creationId xmlns:a16="http://schemas.microsoft.com/office/drawing/2014/main" id="{F0CE775D-6A94-ACB0-6399-BEDA6D8E61B7}"/>
              </a:ext>
            </a:extLst>
          </p:cNvPr>
          <p:cNvSpPr/>
          <p:nvPr/>
        </p:nvSpPr>
        <p:spPr>
          <a:xfrm>
            <a:off x="9563796" y="3527370"/>
            <a:ext cx="3689513" cy="63511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Bilan carbone d'une entreprise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5F4261CD-F88F-52E2-4AE8-EBE86BAA9144}"/>
              </a:ext>
            </a:extLst>
          </p:cNvPr>
          <p:cNvSpPr/>
          <p:nvPr/>
        </p:nvSpPr>
        <p:spPr>
          <a:xfrm>
            <a:off x="322678" y="9124210"/>
            <a:ext cx="4036953" cy="89989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Introduction à la maquette numérique du bâtiment </a:t>
            </a:r>
            <a:endParaRPr lang="fr-FR" sz="20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E33E4-CE3F-3F22-5AAF-BA19F8C54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B7C9287D-A83F-A153-4CDD-2DBFC8A54F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5113ABD8-C670-A062-D397-D59B898E4C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BE617AA7-BF33-AF4E-F06F-01C27189D4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4A4DFA06-B3B7-2C51-BEF3-D4107DABC3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D12A22C2-2F7B-EDDD-C476-604E96054EEB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2C3B321-5501-E85A-5D51-754815616C44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7D80819-0E6C-2E42-2C21-D68773182494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32405E0-22BC-11B0-573D-DE1AFC31369D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7CA2C5BA-E589-6F27-A388-C09F549F2511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B4746F81-E5EC-E3F8-5BF2-2EEEE74333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2 (S7 et S8)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CBC0B8C2-0B91-54CD-0072-DD321A303F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29C583DF-B190-5E05-98FA-FE7BDDC922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FCFB2565-7C8B-EFF7-24BE-0A26E1C7F3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09D8F965-9A2F-F5FA-BCF3-A3366625E8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28394688-BAB0-3A74-CB14-B7B0E5D2EB42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A10A70F1-AF26-82A7-653E-CEBAEDC06AB6}"/>
              </a:ext>
            </a:extLst>
          </p:cNvPr>
          <p:cNvSpPr/>
          <p:nvPr/>
        </p:nvSpPr>
        <p:spPr>
          <a:xfrm>
            <a:off x="9218539" y="7121664"/>
            <a:ext cx="4380029" cy="3022779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82719F7F-59E3-2CF1-B60C-5446CE4AF00A}"/>
              </a:ext>
            </a:extLst>
          </p:cNvPr>
          <p:cNvSpPr/>
          <p:nvPr/>
        </p:nvSpPr>
        <p:spPr>
          <a:xfrm>
            <a:off x="4684118" y="6347012"/>
            <a:ext cx="4380029" cy="3797433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889D9FBE-51C2-D903-9043-4329CAF316BB}"/>
              </a:ext>
            </a:extLst>
          </p:cNvPr>
          <p:cNvSpPr/>
          <p:nvPr/>
        </p:nvSpPr>
        <p:spPr>
          <a:xfrm>
            <a:off x="151141" y="6347012"/>
            <a:ext cx="4380029" cy="3794281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EFA5592A-24BA-0A5C-0ECD-73136AF038DD}"/>
              </a:ext>
            </a:extLst>
          </p:cNvPr>
          <p:cNvSpPr/>
          <p:nvPr/>
        </p:nvSpPr>
        <p:spPr>
          <a:xfrm>
            <a:off x="13754680" y="7784432"/>
            <a:ext cx="4380029" cy="236001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848287CF-D9E6-C4E8-A283-66754260A56F}"/>
              </a:ext>
            </a:extLst>
          </p:cNvPr>
          <p:cNvSpPr/>
          <p:nvPr/>
        </p:nvSpPr>
        <p:spPr>
          <a:xfrm>
            <a:off x="372319" y="9245746"/>
            <a:ext cx="3930738" cy="67812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Conception et modélisation des structures 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A56A8D3A-2611-2342-AE09-5FE1F47E7877}"/>
              </a:ext>
            </a:extLst>
          </p:cNvPr>
          <p:cNvSpPr/>
          <p:nvPr/>
        </p:nvSpPr>
        <p:spPr>
          <a:xfrm>
            <a:off x="372319" y="8626310"/>
            <a:ext cx="3930739" cy="47624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APP BIM – BE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8B69502E-A4F3-FC29-5C67-E42D8BC5092F}"/>
              </a:ext>
            </a:extLst>
          </p:cNvPr>
          <p:cNvSpPr/>
          <p:nvPr/>
        </p:nvSpPr>
        <p:spPr>
          <a:xfrm>
            <a:off x="4908762" y="8464948"/>
            <a:ext cx="3930739" cy="47624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APP BIM – BE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3EAABB69-1084-5AF4-9868-4C49F2BA7AD9}"/>
              </a:ext>
            </a:extLst>
          </p:cNvPr>
          <p:cNvSpPr/>
          <p:nvPr/>
        </p:nvSpPr>
        <p:spPr>
          <a:xfrm>
            <a:off x="4913709" y="9084385"/>
            <a:ext cx="3925791" cy="78719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Réglementation thermique et environnementale</a:t>
            </a:r>
            <a:endParaRPr lang="fr-FR" sz="2000" dirty="0">
              <a:ea typeface="+mn-lt"/>
              <a:cs typeface="+mn-lt"/>
            </a:endParaRPr>
          </a:p>
        </p:txBody>
      </p:sp>
      <p:sp>
        <p:nvSpPr>
          <p:cNvPr id="21" name="Freeform 31">
            <a:extLst>
              <a:ext uri="{FF2B5EF4-FFF2-40B4-BE49-F238E27FC236}">
                <a16:creationId xmlns:a16="http://schemas.microsoft.com/office/drawing/2014/main" id="{A7664182-31BA-0AEB-3211-B0F7F86FA3BF}"/>
              </a:ext>
            </a:extLst>
          </p:cNvPr>
          <p:cNvSpPr/>
          <p:nvPr/>
        </p:nvSpPr>
        <p:spPr>
          <a:xfrm>
            <a:off x="4908762" y="6480423"/>
            <a:ext cx="3930738" cy="64124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Construction bois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22" name="Freeform 31">
            <a:extLst>
              <a:ext uri="{FF2B5EF4-FFF2-40B4-BE49-F238E27FC236}">
                <a16:creationId xmlns:a16="http://schemas.microsoft.com/office/drawing/2014/main" id="{0D013628-9DC9-3E78-88AA-16221543E6A5}"/>
              </a:ext>
            </a:extLst>
          </p:cNvPr>
          <p:cNvSpPr/>
          <p:nvPr/>
        </p:nvSpPr>
        <p:spPr>
          <a:xfrm>
            <a:off x="4908762" y="7264852"/>
            <a:ext cx="3930738" cy="51958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Conception de réseaux fluides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3C15AB70-E05E-4FFA-C217-B21528579791}"/>
              </a:ext>
            </a:extLst>
          </p:cNvPr>
          <p:cNvSpPr/>
          <p:nvPr/>
        </p:nvSpPr>
        <p:spPr>
          <a:xfrm>
            <a:off x="4908762" y="7890849"/>
            <a:ext cx="3930738" cy="42724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Conception et étude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26" name="Freeform 31">
            <a:extLst>
              <a:ext uri="{FF2B5EF4-FFF2-40B4-BE49-F238E27FC236}">
                <a16:creationId xmlns:a16="http://schemas.microsoft.com/office/drawing/2014/main" id="{836FA873-2187-347C-8A88-8AAA9B904094}"/>
              </a:ext>
            </a:extLst>
          </p:cNvPr>
          <p:cNvSpPr/>
          <p:nvPr/>
        </p:nvSpPr>
        <p:spPr>
          <a:xfrm>
            <a:off x="372319" y="7945793"/>
            <a:ext cx="3930738" cy="49594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Béton armé - projet</a:t>
            </a:r>
          </a:p>
        </p:txBody>
      </p:sp>
      <p:sp>
        <p:nvSpPr>
          <p:cNvPr id="28" name="Freeform 31">
            <a:extLst>
              <a:ext uri="{FF2B5EF4-FFF2-40B4-BE49-F238E27FC236}">
                <a16:creationId xmlns:a16="http://schemas.microsoft.com/office/drawing/2014/main" id="{41DEF821-910C-1010-6A8C-96A0D5E0875A}"/>
              </a:ext>
            </a:extLst>
          </p:cNvPr>
          <p:cNvSpPr/>
          <p:nvPr/>
        </p:nvSpPr>
        <p:spPr>
          <a:xfrm>
            <a:off x="379949" y="7384032"/>
            <a:ext cx="3930738" cy="42724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Conception et étude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29" name="Freeform 31">
            <a:extLst>
              <a:ext uri="{FF2B5EF4-FFF2-40B4-BE49-F238E27FC236}">
                <a16:creationId xmlns:a16="http://schemas.microsoft.com/office/drawing/2014/main" id="{D0B530AC-C219-F888-5105-81B89CA38527}"/>
              </a:ext>
            </a:extLst>
          </p:cNvPr>
          <p:cNvSpPr/>
          <p:nvPr/>
        </p:nvSpPr>
        <p:spPr>
          <a:xfrm>
            <a:off x="372319" y="6558217"/>
            <a:ext cx="3930738" cy="64124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Construction bois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30" name="Freeform 31">
            <a:extLst>
              <a:ext uri="{FF2B5EF4-FFF2-40B4-BE49-F238E27FC236}">
                <a16:creationId xmlns:a16="http://schemas.microsoft.com/office/drawing/2014/main" id="{FC9EF43B-B1E7-C63D-3C19-4E9A7F4FDACB}"/>
              </a:ext>
            </a:extLst>
          </p:cNvPr>
          <p:cNvSpPr/>
          <p:nvPr/>
        </p:nvSpPr>
        <p:spPr>
          <a:xfrm>
            <a:off x="9447430" y="9229046"/>
            <a:ext cx="3925791" cy="78719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Réglementation thermique et environnementale</a:t>
            </a:r>
            <a:endParaRPr lang="fr-FR" sz="2000" dirty="0">
              <a:ea typeface="+mn-lt"/>
              <a:cs typeface="+mn-lt"/>
            </a:endParaRP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65B56216-C974-4887-663A-3FD04B9F330D}"/>
              </a:ext>
            </a:extLst>
          </p:cNvPr>
          <p:cNvSpPr/>
          <p:nvPr/>
        </p:nvSpPr>
        <p:spPr>
          <a:xfrm>
            <a:off x="9442483" y="8564805"/>
            <a:ext cx="3930738" cy="51958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Conception de réseaux fluides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65BADFFA-4736-C6C5-C689-F8F555F849CB}"/>
              </a:ext>
            </a:extLst>
          </p:cNvPr>
          <p:cNvSpPr/>
          <p:nvPr/>
        </p:nvSpPr>
        <p:spPr>
          <a:xfrm>
            <a:off x="9442483" y="7890849"/>
            <a:ext cx="3930738" cy="46759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Construction bois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33" name="Freeform 31">
            <a:extLst>
              <a:ext uri="{FF2B5EF4-FFF2-40B4-BE49-F238E27FC236}">
                <a16:creationId xmlns:a16="http://schemas.microsoft.com/office/drawing/2014/main" id="{74933AE5-EA4E-E237-7E50-BA66894B8E56}"/>
              </a:ext>
            </a:extLst>
          </p:cNvPr>
          <p:cNvSpPr/>
          <p:nvPr/>
        </p:nvSpPr>
        <p:spPr>
          <a:xfrm>
            <a:off x="13947414" y="7945793"/>
            <a:ext cx="3960637" cy="57461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Conduite de chantier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34" name="Freeform 31">
            <a:extLst>
              <a:ext uri="{FF2B5EF4-FFF2-40B4-BE49-F238E27FC236}">
                <a16:creationId xmlns:a16="http://schemas.microsoft.com/office/drawing/2014/main" id="{F6450813-38FF-B644-D09A-820A604E5805}"/>
              </a:ext>
            </a:extLst>
          </p:cNvPr>
          <p:cNvSpPr/>
          <p:nvPr/>
        </p:nvSpPr>
        <p:spPr>
          <a:xfrm>
            <a:off x="13947414" y="8758171"/>
            <a:ext cx="3930739" cy="47624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APP BIM – BE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35" name="Freeform 31">
            <a:extLst>
              <a:ext uri="{FF2B5EF4-FFF2-40B4-BE49-F238E27FC236}">
                <a16:creationId xmlns:a16="http://schemas.microsoft.com/office/drawing/2014/main" id="{EED52F74-84B8-EF00-D3C2-0D62B0CFD6A6}"/>
              </a:ext>
            </a:extLst>
          </p:cNvPr>
          <p:cNvSpPr/>
          <p:nvPr/>
        </p:nvSpPr>
        <p:spPr>
          <a:xfrm>
            <a:off x="13947414" y="9444339"/>
            <a:ext cx="3930738" cy="42724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Conception et étude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36" name="Freeform 31">
            <a:extLst>
              <a:ext uri="{FF2B5EF4-FFF2-40B4-BE49-F238E27FC236}">
                <a16:creationId xmlns:a16="http://schemas.microsoft.com/office/drawing/2014/main" id="{F9D8E03C-A3C8-E2B7-79B4-A52700BB417D}"/>
              </a:ext>
            </a:extLst>
          </p:cNvPr>
          <p:cNvSpPr/>
          <p:nvPr/>
        </p:nvSpPr>
        <p:spPr>
          <a:xfrm>
            <a:off x="379950" y="2873720"/>
            <a:ext cx="3923108" cy="62675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Géotechnique 1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37" name="Freeform 31">
            <a:extLst>
              <a:ext uri="{FF2B5EF4-FFF2-40B4-BE49-F238E27FC236}">
                <a16:creationId xmlns:a16="http://schemas.microsoft.com/office/drawing/2014/main" id="{A2B367B4-47DD-81AD-34DA-96117BAB79D9}"/>
              </a:ext>
            </a:extLst>
          </p:cNvPr>
          <p:cNvSpPr/>
          <p:nvPr/>
        </p:nvSpPr>
        <p:spPr>
          <a:xfrm>
            <a:off x="5045857" y="3792546"/>
            <a:ext cx="3793642" cy="73479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Énergies renouvelables – petits projets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38" name="Freeform 31">
            <a:extLst>
              <a:ext uri="{FF2B5EF4-FFF2-40B4-BE49-F238E27FC236}">
                <a16:creationId xmlns:a16="http://schemas.microsoft.com/office/drawing/2014/main" id="{85A461FA-4FEC-BDA1-5570-D739D75F05D4}"/>
              </a:ext>
            </a:extLst>
          </p:cNvPr>
          <p:cNvSpPr/>
          <p:nvPr/>
        </p:nvSpPr>
        <p:spPr>
          <a:xfrm>
            <a:off x="5045856" y="2873721"/>
            <a:ext cx="3793643" cy="62675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Génie climatique – BE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39" name="Freeform 31">
            <a:extLst>
              <a:ext uri="{FF2B5EF4-FFF2-40B4-BE49-F238E27FC236}">
                <a16:creationId xmlns:a16="http://schemas.microsoft.com/office/drawing/2014/main" id="{77B5DA33-D0B4-CBF0-C1DC-3F2CC0A87678}"/>
              </a:ext>
            </a:extLst>
          </p:cNvPr>
          <p:cNvSpPr/>
          <p:nvPr/>
        </p:nvSpPr>
        <p:spPr>
          <a:xfrm>
            <a:off x="9431156" y="2858220"/>
            <a:ext cx="3923108" cy="62675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Géotechnique 1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40" name="Freeform 31">
            <a:extLst>
              <a:ext uri="{FF2B5EF4-FFF2-40B4-BE49-F238E27FC236}">
                <a16:creationId xmlns:a16="http://schemas.microsoft.com/office/drawing/2014/main" id="{1EADD97C-9ACB-9CCD-EA96-FE459CC58202}"/>
              </a:ext>
            </a:extLst>
          </p:cNvPr>
          <p:cNvSpPr/>
          <p:nvPr/>
        </p:nvSpPr>
        <p:spPr>
          <a:xfrm>
            <a:off x="13998207" y="2858221"/>
            <a:ext cx="3879945" cy="93432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Ressources et dynamiques professionnelles </a:t>
            </a:r>
            <a:endParaRPr lang="en-US" sz="2000" dirty="0">
              <a:ea typeface="Calibri"/>
              <a:cs typeface="Calibri"/>
            </a:endParaRPr>
          </a:p>
        </p:txBody>
      </p:sp>
      <p:sp>
        <p:nvSpPr>
          <p:cNvPr id="2" name="Freeform 31">
            <a:extLst>
              <a:ext uri="{FF2B5EF4-FFF2-40B4-BE49-F238E27FC236}">
                <a16:creationId xmlns:a16="http://schemas.microsoft.com/office/drawing/2014/main" id="{C544FE32-0412-3FE9-4E98-0A27D63C93B8}"/>
              </a:ext>
            </a:extLst>
          </p:cNvPr>
          <p:cNvSpPr/>
          <p:nvPr/>
        </p:nvSpPr>
        <p:spPr>
          <a:xfrm>
            <a:off x="9423526" y="7256897"/>
            <a:ext cx="3930738" cy="42724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Conception et étude</a:t>
            </a:r>
            <a:endParaRPr lang="fr-FR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2804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ED5B7-6114-8CC3-D7C4-BD6EAF767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73BEEB5D-41A4-CE63-24E2-0E9F4FC94A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A7773FC2-A60D-D633-B856-C021415F77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8F3DDDAE-DA29-C9F4-DB33-9CB3B4D3EE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71B8F1B6-B799-A05E-058C-8C37031029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BB8ED711-F328-A554-DCB0-A0AB968ADC53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6961449-A3F9-423C-F2D3-2D607B4A8AED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BB8BC0D-7A5B-DFC7-A514-7A45FCBB855C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6D83A40-BEE0-6DA4-7F2E-7FE39EE89D07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5C7A5EA4-A0B3-A523-F422-C776DEBC3F13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6340C7B4-EF4E-5870-0612-8D19715AFF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3 (S9 et S10)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A658823F-DDA9-BAD8-D1BC-B5072BD165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6E1F0A23-8761-D474-9A6C-6979F585AA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8E086664-E136-AC9F-35F0-8BB132E64E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4153AD19-EE35-8489-C865-6A0D9A17A9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A659E89F-C479-071E-3DD2-283C7934BE32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27223673-A897-414C-9E13-5FC38982F282}"/>
              </a:ext>
            </a:extLst>
          </p:cNvPr>
          <p:cNvSpPr/>
          <p:nvPr/>
        </p:nvSpPr>
        <p:spPr>
          <a:xfrm>
            <a:off x="9218539" y="6920752"/>
            <a:ext cx="4380029" cy="3223691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F85EEFFC-BBD8-D0C6-5083-6AB68A694C03}"/>
              </a:ext>
            </a:extLst>
          </p:cNvPr>
          <p:cNvSpPr/>
          <p:nvPr/>
        </p:nvSpPr>
        <p:spPr>
          <a:xfrm>
            <a:off x="4684118" y="6920753"/>
            <a:ext cx="4380029" cy="322369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F245417B-7C1B-B119-364B-F4A0A57E2876}"/>
              </a:ext>
            </a:extLst>
          </p:cNvPr>
          <p:cNvSpPr/>
          <p:nvPr/>
        </p:nvSpPr>
        <p:spPr>
          <a:xfrm>
            <a:off x="151141" y="6920753"/>
            <a:ext cx="4380029" cy="3220540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5C903446-0701-5D81-1D24-A83AE7951C97}"/>
              </a:ext>
            </a:extLst>
          </p:cNvPr>
          <p:cNvSpPr/>
          <p:nvPr/>
        </p:nvSpPr>
        <p:spPr>
          <a:xfrm>
            <a:off x="13754680" y="7678465"/>
            <a:ext cx="4380029" cy="2465979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2" name="Freeform 31">
            <a:extLst>
              <a:ext uri="{FF2B5EF4-FFF2-40B4-BE49-F238E27FC236}">
                <a16:creationId xmlns:a16="http://schemas.microsoft.com/office/drawing/2014/main" id="{D954EF8E-47BE-02D7-2971-CA1710DA88C6}"/>
              </a:ext>
            </a:extLst>
          </p:cNvPr>
          <p:cNvSpPr/>
          <p:nvPr/>
        </p:nvSpPr>
        <p:spPr>
          <a:xfrm>
            <a:off x="543679" y="7296489"/>
            <a:ext cx="3687662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Réhabilitation des bâtiments​</a:t>
            </a:r>
            <a:endParaRPr lang="fr-FR" sz="2000" dirty="0">
              <a:cs typeface="Segoe UI"/>
            </a:endParaRPr>
          </a:p>
        </p:txBody>
      </p:sp>
      <p:sp>
        <p:nvSpPr>
          <p:cNvPr id="3" name="Freeform 31">
            <a:extLst>
              <a:ext uri="{FF2B5EF4-FFF2-40B4-BE49-F238E27FC236}">
                <a16:creationId xmlns:a16="http://schemas.microsoft.com/office/drawing/2014/main" id="{2ACC3E4D-B3A8-5CBD-C060-C02F51E9F2F9}"/>
              </a:ext>
            </a:extLst>
          </p:cNvPr>
          <p:cNvSpPr/>
          <p:nvPr/>
        </p:nvSpPr>
        <p:spPr>
          <a:xfrm>
            <a:off x="543679" y="8180023"/>
            <a:ext cx="3687662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APP Projet multi-technique - Conception et études​</a:t>
            </a:r>
            <a:endParaRPr lang="fr-FR" sz="2000" dirty="0">
              <a:ea typeface="Calibri"/>
              <a:cs typeface="Segoe UI"/>
            </a:endParaRP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EB0184EB-D264-9F14-73E7-B173417A357D}"/>
              </a:ext>
            </a:extLst>
          </p:cNvPr>
          <p:cNvSpPr/>
          <p:nvPr/>
        </p:nvSpPr>
        <p:spPr>
          <a:xfrm>
            <a:off x="543679" y="9063557"/>
            <a:ext cx="3687662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PR&amp;D</a:t>
            </a:r>
            <a:r>
              <a:rPr lang="en-US" sz="2000" b="1" dirty="0">
                <a:cs typeface="Segoe UI"/>
              </a:rPr>
              <a:t>​</a:t>
            </a:r>
            <a:endParaRPr lang="en-US" sz="2000" dirty="0">
              <a:ea typeface="Calibri"/>
              <a:cs typeface="Segoe UI"/>
            </a:endParaRP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85EC809D-430A-E3B2-17FA-3928B1108359}"/>
              </a:ext>
            </a:extLst>
          </p:cNvPr>
          <p:cNvSpPr/>
          <p:nvPr/>
        </p:nvSpPr>
        <p:spPr>
          <a:xfrm>
            <a:off x="5037876" y="7296489"/>
            <a:ext cx="3687662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Réhabilitation des bâtiments​</a:t>
            </a:r>
            <a:endParaRPr lang="fr-FR" sz="2000" dirty="0">
              <a:cs typeface="Segoe UI"/>
            </a:endParaRP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3E110721-0681-1BA2-DF2C-5611CD8E47DC}"/>
              </a:ext>
            </a:extLst>
          </p:cNvPr>
          <p:cNvSpPr/>
          <p:nvPr/>
        </p:nvSpPr>
        <p:spPr>
          <a:xfrm>
            <a:off x="5037876" y="8180023"/>
            <a:ext cx="3687662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APP Projet multi-technique - Conception et études​</a:t>
            </a:r>
            <a:endParaRPr lang="fr-FR" sz="2000" dirty="0">
              <a:ea typeface="Calibri"/>
              <a:cs typeface="Segoe UI"/>
            </a:endParaRP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C0A998D9-03BF-84D9-8F1C-7155A4D26028}"/>
              </a:ext>
            </a:extLst>
          </p:cNvPr>
          <p:cNvSpPr/>
          <p:nvPr/>
        </p:nvSpPr>
        <p:spPr>
          <a:xfrm>
            <a:off x="5037876" y="9063557"/>
            <a:ext cx="3687662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PR&amp;D</a:t>
            </a:r>
            <a:r>
              <a:rPr lang="en-US" sz="2000" b="1" dirty="0">
                <a:cs typeface="Segoe UI"/>
              </a:rPr>
              <a:t>​</a:t>
            </a:r>
            <a:endParaRPr lang="en-US" sz="2000" dirty="0">
              <a:ea typeface="Calibri"/>
              <a:cs typeface="Segoe UI"/>
            </a:endParaRP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089BDC4B-A36B-90DC-31A4-F7E945AA906C}"/>
              </a:ext>
            </a:extLst>
          </p:cNvPr>
          <p:cNvSpPr/>
          <p:nvPr/>
        </p:nvSpPr>
        <p:spPr>
          <a:xfrm>
            <a:off x="9564021" y="8180297"/>
            <a:ext cx="3687662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APP Projet multi-technique - Conception et études​</a:t>
            </a:r>
            <a:endParaRPr lang="fr-FR" sz="2000" dirty="0">
              <a:ea typeface="Calibri"/>
              <a:cs typeface="Segoe UI"/>
            </a:endParaRP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2B003390-D6F6-CFBF-0F08-CEBF2C0042A4}"/>
              </a:ext>
            </a:extLst>
          </p:cNvPr>
          <p:cNvSpPr/>
          <p:nvPr/>
        </p:nvSpPr>
        <p:spPr>
          <a:xfrm>
            <a:off x="9564021" y="9063831"/>
            <a:ext cx="3687662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PR&amp;D</a:t>
            </a:r>
            <a:r>
              <a:rPr lang="en-US" sz="2000" b="1" dirty="0">
                <a:cs typeface="Segoe UI"/>
              </a:rPr>
              <a:t>​</a:t>
            </a:r>
            <a:endParaRPr lang="en-US" sz="2000" dirty="0">
              <a:ea typeface="Calibri"/>
              <a:cs typeface="Segoe UI"/>
            </a:endParaRP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9E37F9DC-B21F-835B-FF31-DDD3C21BECC9}"/>
              </a:ext>
            </a:extLst>
          </p:cNvPr>
          <p:cNvSpPr/>
          <p:nvPr/>
        </p:nvSpPr>
        <p:spPr>
          <a:xfrm>
            <a:off x="9564021" y="7296489"/>
            <a:ext cx="3687662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Réhabilitation des bâtiments​</a:t>
            </a:r>
            <a:endParaRPr lang="fr-FR" sz="2000" dirty="0">
              <a:cs typeface="Segoe UI"/>
            </a:endParaRPr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EBCBA083-C793-CE2E-3861-E680433C5DE9}"/>
              </a:ext>
            </a:extLst>
          </p:cNvPr>
          <p:cNvSpPr/>
          <p:nvPr/>
        </p:nvSpPr>
        <p:spPr>
          <a:xfrm>
            <a:off x="14056659" y="8180023"/>
            <a:ext cx="3687662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APP Projet multi-technique - Conception et études​</a:t>
            </a:r>
            <a:endParaRPr lang="fr-FR" sz="2000" dirty="0">
              <a:ea typeface="Calibri"/>
              <a:cs typeface="Segoe UI"/>
            </a:endParaRP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86369AEA-600B-843A-E9E8-E299ACD13382}"/>
              </a:ext>
            </a:extLst>
          </p:cNvPr>
          <p:cNvSpPr/>
          <p:nvPr/>
        </p:nvSpPr>
        <p:spPr>
          <a:xfrm>
            <a:off x="14056659" y="9063557"/>
            <a:ext cx="3687662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PR&amp;D</a:t>
            </a:r>
            <a:r>
              <a:rPr lang="en-US" sz="2000" b="1" dirty="0">
                <a:cs typeface="Segoe UI"/>
              </a:rPr>
              <a:t>​</a:t>
            </a:r>
            <a:endParaRPr lang="en-US" sz="2000" dirty="0">
              <a:ea typeface="Calibri"/>
              <a:cs typeface="Segoe UI"/>
            </a:endParaRPr>
          </a:p>
        </p:txBody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0E196F73-8EB4-6E32-A12B-BBE25150FC10}"/>
              </a:ext>
            </a:extLst>
          </p:cNvPr>
          <p:cNvSpPr/>
          <p:nvPr/>
        </p:nvSpPr>
        <p:spPr>
          <a:xfrm>
            <a:off x="5037876" y="2891466"/>
            <a:ext cx="3687661" cy="76854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Energie Solaire Thermique</a:t>
            </a:r>
            <a:endParaRPr lang="fr-FR" sz="2000" dirty="0">
              <a:ea typeface="+mn-lt"/>
              <a:cs typeface="+mn-lt"/>
            </a:endParaRP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38AAD039-4489-CBE7-5B2B-34EFA7E7EC7E}"/>
              </a:ext>
            </a:extLst>
          </p:cNvPr>
          <p:cNvSpPr/>
          <p:nvPr/>
        </p:nvSpPr>
        <p:spPr>
          <a:xfrm>
            <a:off x="5037876" y="4062787"/>
            <a:ext cx="3687661" cy="64182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Energie Solaire Photovoltaïque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1418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AE528-8157-8C3D-7311-480F987BA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1DBB8293-AF5E-1D4E-8F68-29E5FB252FFD}"/>
              </a:ext>
            </a:extLst>
          </p:cNvPr>
          <p:cNvSpPr/>
          <p:nvPr/>
        </p:nvSpPr>
        <p:spPr>
          <a:xfrm>
            <a:off x="0" y="1866900"/>
            <a:ext cx="18287999" cy="4953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5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EXEMPLE</a:t>
            </a:r>
          </a:p>
        </p:txBody>
      </p:sp>
      <p:sp>
        <p:nvSpPr>
          <p:cNvPr id="17" name="Freeform 119">
            <a:extLst>
              <a:ext uri="{FF2B5EF4-FFF2-40B4-BE49-F238E27FC236}">
                <a16:creationId xmlns:a16="http://schemas.microsoft.com/office/drawing/2014/main" id="{F8A4DEB3-66AC-E0D3-4294-3121F791F729}"/>
              </a:ext>
            </a:extLst>
          </p:cNvPr>
          <p:cNvSpPr/>
          <p:nvPr/>
        </p:nvSpPr>
        <p:spPr>
          <a:xfrm>
            <a:off x="1" y="5721016"/>
            <a:ext cx="18287999" cy="2197768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t"/>
          <a:lstStyle/>
          <a:p>
            <a:pPr algn="ctr"/>
            <a:r>
              <a:rPr lang="fr-FR" sz="7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Issu de la spécialité GPSE, Polytech Orléans</a:t>
            </a:r>
          </a:p>
        </p:txBody>
      </p:sp>
      <p:pic>
        <p:nvPicPr>
          <p:cNvPr id="18" name="Image 17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7CBC3AE8-C142-D203-8812-AE6BA155C5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9" name="Image 18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E88C8335-C6EC-670A-14C7-84E41C1E01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20" name="Picture 2" descr="Réseau Polytech — Wikipédia">
            <a:extLst>
              <a:ext uri="{FF2B5EF4-FFF2-40B4-BE49-F238E27FC236}">
                <a16:creationId xmlns:a16="http://schemas.microsoft.com/office/drawing/2014/main" id="{0659F995-BA32-9983-49A7-949021955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Freeform 31">
            <a:extLst>
              <a:ext uri="{FF2B5EF4-FFF2-40B4-BE49-F238E27FC236}">
                <a16:creationId xmlns:a16="http://schemas.microsoft.com/office/drawing/2014/main" id="{79C534EA-0BCE-A63E-2FA9-9F3FE8EF9862}"/>
              </a:ext>
            </a:extLst>
          </p:cNvPr>
          <p:cNvSpPr/>
          <p:nvPr/>
        </p:nvSpPr>
        <p:spPr>
          <a:xfrm>
            <a:off x="990600" y="8485298"/>
            <a:ext cx="6934200" cy="123838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7, 8, 9 : vue par année</a:t>
            </a:r>
          </a:p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10, 11 : vue globale</a:t>
            </a:r>
          </a:p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12, 13, 14 : vue par compétences</a:t>
            </a:r>
          </a:p>
        </p:txBody>
      </p:sp>
    </p:spTree>
    <p:extLst>
      <p:ext uri="{BB962C8B-B14F-4D97-AF65-F5344CB8AC3E}">
        <p14:creationId xmlns:p14="http://schemas.microsoft.com/office/powerpoint/2010/main" val="2859143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7BE2-3D35-B1F7-64FB-CA71F174A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13">
            <a:extLst>
              <a:ext uri="{FF2B5EF4-FFF2-40B4-BE49-F238E27FC236}">
                <a16:creationId xmlns:a16="http://schemas.microsoft.com/office/drawing/2014/main" id="{5B76849F-943D-DF75-4222-F5B53C26E5DF}"/>
              </a:ext>
            </a:extLst>
          </p:cNvPr>
          <p:cNvSpPr/>
          <p:nvPr/>
        </p:nvSpPr>
        <p:spPr>
          <a:xfrm>
            <a:off x="427182" y="8718434"/>
            <a:ext cx="17433636" cy="1264183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B446EB5F-B3BD-9DF0-3E8B-46142C80D2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44FF5CA-0CE3-2832-19B8-8E0500F144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6FD269D-9598-6019-2831-3D2A98758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2FB36C15-295B-6F99-191E-11D82408CB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7C33804F-6137-EF84-FBA4-E1891DF0BA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BDF4810E-CBF5-8C6B-FDA4-5753AB27D312}"/>
              </a:ext>
            </a:extLst>
          </p:cNvPr>
          <p:cNvSpPr/>
          <p:nvPr/>
        </p:nvSpPr>
        <p:spPr>
          <a:xfrm>
            <a:off x="427182" y="1644791"/>
            <a:ext cx="17433636" cy="3369634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118D64A1-4C4B-EACF-81A5-01EDCE39FEDE}"/>
              </a:ext>
            </a:extLst>
          </p:cNvPr>
          <p:cNvSpPr/>
          <p:nvPr/>
        </p:nvSpPr>
        <p:spPr>
          <a:xfrm>
            <a:off x="9274241" y="3467455"/>
            <a:ext cx="38993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Sources mesures photométriques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57799C34-DBED-7911-C774-FC1DCB11DE5A}"/>
              </a:ext>
            </a:extLst>
          </p:cNvPr>
          <p:cNvSpPr/>
          <p:nvPr/>
        </p:nvSpPr>
        <p:spPr>
          <a:xfrm>
            <a:off x="9274240" y="2749703"/>
            <a:ext cx="257153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Filtrage +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9264F351-BE64-E67A-295D-F81CD79C45A6}"/>
              </a:ext>
            </a:extLst>
          </p:cNvPr>
          <p:cNvSpPr/>
          <p:nvPr/>
        </p:nvSpPr>
        <p:spPr>
          <a:xfrm>
            <a:off x="9274240" y="2031951"/>
            <a:ext cx="352235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Info (programmation avancée)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7590CD44-77A0-AA46-CE7C-0446D091A151}"/>
              </a:ext>
            </a:extLst>
          </p:cNvPr>
          <p:cNvSpPr/>
          <p:nvPr/>
        </p:nvSpPr>
        <p:spPr>
          <a:xfrm>
            <a:off x="705909" y="9096334"/>
            <a:ext cx="342852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Classe puzzle couches-minces</a:t>
            </a: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0DA68585-A34A-A720-BC42-D85F20432B88}"/>
              </a:ext>
            </a:extLst>
          </p:cNvPr>
          <p:cNvSpPr/>
          <p:nvPr/>
        </p:nvSpPr>
        <p:spPr>
          <a:xfrm>
            <a:off x="427182" y="5414170"/>
            <a:ext cx="17433636" cy="1253466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D4287C13-EAAE-DFFF-FE0F-DB390FA4B8BB}"/>
              </a:ext>
            </a:extLst>
          </p:cNvPr>
          <p:cNvSpPr/>
          <p:nvPr/>
        </p:nvSpPr>
        <p:spPr>
          <a:xfrm>
            <a:off x="427182" y="7067381"/>
            <a:ext cx="17433636" cy="1253971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90956A1F-F557-A829-6737-0893340A3255}"/>
              </a:ext>
            </a:extLst>
          </p:cNvPr>
          <p:cNvSpPr/>
          <p:nvPr/>
        </p:nvSpPr>
        <p:spPr>
          <a:xfrm>
            <a:off x="9276716" y="7439161"/>
            <a:ext cx="291033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Expérience pro (1,5 mois)</a:t>
            </a: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305BA7A6-2F92-F019-A295-4C1DF2B7A19F}"/>
              </a:ext>
            </a:extLst>
          </p:cNvPr>
          <p:cNvSpPr/>
          <p:nvPr/>
        </p:nvSpPr>
        <p:spPr>
          <a:xfrm>
            <a:off x="9274836" y="5874391"/>
            <a:ext cx="150370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05EA1A9C-0DA9-6112-CF37-BF525D60A4A9}"/>
              </a:ext>
            </a:extLst>
          </p:cNvPr>
          <p:cNvSpPr/>
          <p:nvPr/>
        </p:nvSpPr>
        <p:spPr>
          <a:xfrm>
            <a:off x="720987" y="5855464"/>
            <a:ext cx="235281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(thermique)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90DD5F61-4086-04AE-D0C0-920378080EA5}"/>
              </a:ext>
            </a:extLst>
          </p:cNvPr>
          <p:cNvSpPr/>
          <p:nvPr/>
        </p:nvSpPr>
        <p:spPr>
          <a:xfrm>
            <a:off x="718433" y="2743170"/>
            <a:ext cx="194856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1D01D331-2D94-3288-F8B9-59110D6F5609}"/>
              </a:ext>
            </a:extLst>
          </p:cNvPr>
          <p:cNvSpPr/>
          <p:nvPr/>
        </p:nvSpPr>
        <p:spPr>
          <a:xfrm>
            <a:off x="774583" y="6743700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7BB1C589-7B52-C774-0D18-D7DFE74E02F1}"/>
              </a:ext>
            </a:extLst>
          </p:cNvPr>
          <p:cNvSpPr/>
          <p:nvPr/>
        </p:nvSpPr>
        <p:spPr>
          <a:xfrm>
            <a:off x="713768" y="2045298"/>
            <a:ext cx="7505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</a:p>
        </p:txBody>
      </p:sp>
      <p:sp>
        <p:nvSpPr>
          <p:cNvPr id="24" name="Freeform 114">
            <a:extLst>
              <a:ext uri="{FF2B5EF4-FFF2-40B4-BE49-F238E27FC236}">
                <a16:creationId xmlns:a16="http://schemas.microsoft.com/office/drawing/2014/main" id="{FECD8B98-8089-B294-DC42-D50F91526455}"/>
              </a:ext>
            </a:extLst>
          </p:cNvPr>
          <p:cNvSpPr/>
          <p:nvPr/>
        </p:nvSpPr>
        <p:spPr>
          <a:xfrm>
            <a:off x="2209800" y="3534376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Freeform 117">
            <a:extLst>
              <a:ext uri="{FF2B5EF4-FFF2-40B4-BE49-F238E27FC236}">
                <a16:creationId xmlns:a16="http://schemas.microsoft.com/office/drawing/2014/main" id="{FEE82307-B3BF-D163-6ED5-4D06F57073F4}"/>
              </a:ext>
            </a:extLst>
          </p:cNvPr>
          <p:cNvSpPr/>
          <p:nvPr/>
        </p:nvSpPr>
        <p:spPr>
          <a:xfrm>
            <a:off x="3232257" y="590550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Freeform 118">
            <a:extLst>
              <a:ext uri="{FF2B5EF4-FFF2-40B4-BE49-F238E27FC236}">
                <a16:creationId xmlns:a16="http://schemas.microsoft.com/office/drawing/2014/main" id="{A2AFDD2A-9477-36D8-0BED-F3166436613C}"/>
              </a:ext>
            </a:extLst>
          </p:cNvPr>
          <p:cNvSpPr/>
          <p:nvPr/>
        </p:nvSpPr>
        <p:spPr>
          <a:xfrm>
            <a:off x="10972800" y="5915267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Freeform 119">
            <a:extLst>
              <a:ext uri="{FF2B5EF4-FFF2-40B4-BE49-F238E27FC236}">
                <a16:creationId xmlns:a16="http://schemas.microsoft.com/office/drawing/2014/main" id="{B11DE081-7274-EB2E-3447-1AEF373676E3}"/>
              </a:ext>
            </a:extLst>
          </p:cNvPr>
          <p:cNvSpPr/>
          <p:nvPr/>
        </p:nvSpPr>
        <p:spPr>
          <a:xfrm>
            <a:off x="12344400" y="7495628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C27274F4-E3CF-B924-46C2-894122D46AB1}"/>
              </a:ext>
            </a:extLst>
          </p:cNvPr>
          <p:cNvSpPr/>
          <p:nvPr/>
        </p:nvSpPr>
        <p:spPr>
          <a:xfrm>
            <a:off x="774582" y="5116539"/>
            <a:ext cx="172100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30" name="Freeform 25">
            <a:extLst>
              <a:ext uri="{FF2B5EF4-FFF2-40B4-BE49-F238E27FC236}">
                <a16:creationId xmlns:a16="http://schemas.microsoft.com/office/drawing/2014/main" id="{B34CE512-D563-1C06-CA6B-E6511214FCB1}"/>
              </a:ext>
            </a:extLst>
          </p:cNvPr>
          <p:cNvSpPr/>
          <p:nvPr/>
        </p:nvSpPr>
        <p:spPr>
          <a:xfrm>
            <a:off x="771147" y="8438253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CD5AB715-F08D-E900-EBEC-6BE77383DCFC}"/>
              </a:ext>
            </a:extLst>
          </p:cNvPr>
          <p:cNvSpPr/>
          <p:nvPr/>
        </p:nvSpPr>
        <p:spPr>
          <a:xfrm>
            <a:off x="714632" y="3443732"/>
            <a:ext cx="1315540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Final IMA</a:t>
            </a:r>
          </a:p>
        </p:txBody>
      </p:sp>
      <p:sp>
        <p:nvSpPr>
          <p:cNvPr id="33" name="Freeform 31">
            <a:extLst>
              <a:ext uri="{FF2B5EF4-FFF2-40B4-BE49-F238E27FC236}">
                <a16:creationId xmlns:a16="http://schemas.microsoft.com/office/drawing/2014/main" id="{9EE95496-B87B-D6C7-0E16-80F0AEFAC404}"/>
              </a:ext>
            </a:extLst>
          </p:cNvPr>
          <p:cNvSpPr/>
          <p:nvPr/>
        </p:nvSpPr>
        <p:spPr>
          <a:xfrm>
            <a:off x="716656" y="4133988"/>
            <a:ext cx="276497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Remise à niveau optique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878D2541-6A5F-73A9-1AD2-C9769176F8F4}"/>
              </a:ext>
            </a:extLst>
          </p:cNvPr>
          <p:cNvSpPr/>
          <p:nvPr/>
        </p:nvSpPr>
        <p:spPr>
          <a:xfrm>
            <a:off x="14649184" y="5852843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9E47AF6A-B1FD-408E-0323-81770EEC98C1}"/>
              </a:ext>
            </a:extLst>
          </p:cNvPr>
          <p:cNvSpPr/>
          <p:nvPr/>
        </p:nvSpPr>
        <p:spPr>
          <a:xfrm>
            <a:off x="15390471" y="5852843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3F45EDFA-E92D-9A3A-7403-D64F2188CEA7}"/>
              </a:ext>
            </a:extLst>
          </p:cNvPr>
          <p:cNvSpPr/>
          <p:nvPr/>
        </p:nvSpPr>
        <p:spPr>
          <a:xfrm>
            <a:off x="16153248" y="585284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849B0850-CE76-D5C3-5747-A3433BF3AB70}"/>
              </a:ext>
            </a:extLst>
          </p:cNvPr>
          <p:cNvSpPr/>
          <p:nvPr/>
        </p:nvSpPr>
        <p:spPr>
          <a:xfrm>
            <a:off x="16916025" y="587325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948138BC-84DE-BDBD-E793-F927E843D776}"/>
              </a:ext>
            </a:extLst>
          </p:cNvPr>
          <p:cNvSpPr/>
          <p:nvPr/>
        </p:nvSpPr>
        <p:spPr>
          <a:xfrm>
            <a:off x="14628763" y="743802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91799B7A-461C-8DDA-B42F-808EA2558F73}"/>
              </a:ext>
            </a:extLst>
          </p:cNvPr>
          <p:cNvSpPr/>
          <p:nvPr/>
        </p:nvSpPr>
        <p:spPr>
          <a:xfrm>
            <a:off x="15390471" y="743802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547A0C7C-CFAE-B079-62F1-345D43D93D0D}"/>
              </a:ext>
            </a:extLst>
          </p:cNvPr>
          <p:cNvSpPr/>
          <p:nvPr/>
        </p:nvSpPr>
        <p:spPr>
          <a:xfrm>
            <a:off x="16153248" y="743802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9DDB0B42-DB84-E9E1-AAE2-C363656FBC65}"/>
              </a:ext>
            </a:extLst>
          </p:cNvPr>
          <p:cNvSpPr/>
          <p:nvPr/>
        </p:nvSpPr>
        <p:spPr>
          <a:xfrm>
            <a:off x="16912156" y="743802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A7993998-669E-B989-AAC2-59D6E319C00D}"/>
              </a:ext>
            </a:extLst>
          </p:cNvPr>
          <p:cNvSpPr/>
          <p:nvPr/>
        </p:nvSpPr>
        <p:spPr>
          <a:xfrm>
            <a:off x="14628763" y="274578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571DCE31-22F2-F357-5219-DFA24D35ED51}"/>
              </a:ext>
            </a:extLst>
          </p:cNvPr>
          <p:cNvSpPr/>
          <p:nvPr/>
        </p:nvSpPr>
        <p:spPr>
          <a:xfrm>
            <a:off x="16153248" y="274970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03C55C17-6263-A32A-6DB0-10F70538F296}"/>
              </a:ext>
            </a:extLst>
          </p:cNvPr>
          <p:cNvSpPr/>
          <p:nvPr/>
        </p:nvSpPr>
        <p:spPr>
          <a:xfrm>
            <a:off x="14628763" y="344081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3D2E96A9-42E0-4198-FAB6-0E9596D3C273}"/>
              </a:ext>
            </a:extLst>
          </p:cNvPr>
          <p:cNvSpPr/>
          <p:nvPr/>
        </p:nvSpPr>
        <p:spPr>
          <a:xfrm>
            <a:off x="15390471" y="344906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1175BA4B-F9BE-2AB3-3206-5DB7353A7412}"/>
              </a:ext>
            </a:extLst>
          </p:cNvPr>
          <p:cNvSpPr/>
          <p:nvPr/>
        </p:nvSpPr>
        <p:spPr>
          <a:xfrm>
            <a:off x="5716775" y="20452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E68AD700-3767-3604-7DB4-D883BD783920}"/>
              </a:ext>
            </a:extLst>
          </p:cNvPr>
          <p:cNvSpPr/>
          <p:nvPr/>
        </p:nvSpPr>
        <p:spPr>
          <a:xfrm>
            <a:off x="6475071" y="20496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BA421EF3-93F9-030A-4C8C-DE5006D76C89}"/>
              </a:ext>
            </a:extLst>
          </p:cNvPr>
          <p:cNvSpPr/>
          <p:nvPr/>
        </p:nvSpPr>
        <p:spPr>
          <a:xfrm>
            <a:off x="7237848" y="20467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ED8E4D82-6113-166E-AE58-159FFB69EAC6}"/>
              </a:ext>
            </a:extLst>
          </p:cNvPr>
          <p:cNvSpPr/>
          <p:nvPr/>
        </p:nvSpPr>
        <p:spPr>
          <a:xfrm>
            <a:off x="5716775" y="274317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467788D1-7484-52E9-15B9-5A043B917446}"/>
              </a:ext>
            </a:extLst>
          </p:cNvPr>
          <p:cNvSpPr/>
          <p:nvPr/>
        </p:nvSpPr>
        <p:spPr>
          <a:xfrm>
            <a:off x="5716775" y="344081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E8D24A50-7FBC-8C98-5624-678A20E246DE}"/>
              </a:ext>
            </a:extLst>
          </p:cNvPr>
          <p:cNvSpPr/>
          <p:nvPr/>
        </p:nvSpPr>
        <p:spPr>
          <a:xfrm>
            <a:off x="5716775" y="413398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AB023735-D393-E10A-C25F-1A71DA671ED5}"/>
              </a:ext>
            </a:extLst>
          </p:cNvPr>
          <p:cNvSpPr/>
          <p:nvPr/>
        </p:nvSpPr>
        <p:spPr>
          <a:xfrm>
            <a:off x="6475071" y="585284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50C89E98-892C-7C44-FBDE-55E5B111B835}"/>
              </a:ext>
            </a:extLst>
          </p:cNvPr>
          <p:cNvSpPr/>
          <p:nvPr/>
        </p:nvSpPr>
        <p:spPr>
          <a:xfrm>
            <a:off x="7237848" y="58528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AB57F808-98AE-CC7C-033F-7EB6226F59F0}"/>
              </a:ext>
            </a:extLst>
          </p:cNvPr>
          <p:cNvSpPr/>
          <p:nvPr/>
        </p:nvSpPr>
        <p:spPr>
          <a:xfrm>
            <a:off x="5716775" y="909318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E6241275-6B99-1DFC-1417-8260207ABBB3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9" name="Ellipse 108">
            <a:extLst>
              <a:ext uri="{FF2B5EF4-FFF2-40B4-BE49-F238E27FC236}">
                <a16:creationId xmlns:a16="http://schemas.microsoft.com/office/drawing/2014/main" id="{BA40DE71-224E-BB08-B6D8-A5B0788DC4AE}"/>
              </a:ext>
            </a:extLst>
          </p:cNvPr>
          <p:cNvSpPr/>
          <p:nvPr/>
        </p:nvSpPr>
        <p:spPr>
          <a:xfrm>
            <a:off x="6475071" y="344818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A601A3FA-09FE-560E-AB90-3A7DB010858D}"/>
              </a:ext>
            </a:extLst>
          </p:cNvPr>
          <p:cNvSpPr/>
          <p:nvPr/>
        </p:nvSpPr>
        <p:spPr>
          <a:xfrm>
            <a:off x="7996328" y="413020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D254DE98-301C-E673-D438-3A0807B8B718}"/>
              </a:ext>
            </a:extLst>
          </p:cNvPr>
          <p:cNvSpPr/>
          <p:nvPr/>
        </p:nvSpPr>
        <p:spPr>
          <a:xfrm>
            <a:off x="14632175" y="20452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5CC55DB8-75C9-0750-D2C2-DF6ADE5E87D3}"/>
              </a:ext>
            </a:extLst>
          </p:cNvPr>
          <p:cNvSpPr/>
          <p:nvPr/>
        </p:nvSpPr>
        <p:spPr>
          <a:xfrm>
            <a:off x="15390471" y="20496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E1363C12-1E3B-8BD7-02F6-0CE037AF908C}"/>
              </a:ext>
            </a:extLst>
          </p:cNvPr>
          <p:cNvSpPr/>
          <p:nvPr/>
        </p:nvSpPr>
        <p:spPr>
          <a:xfrm>
            <a:off x="16153248" y="20467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</p:spTree>
    <p:extLst>
      <p:ext uri="{BB962C8B-B14F-4D97-AF65-F5344CB8AC3E}">
        <p14:creationId xmlns:p14="http://schemas.microsoft.com/office/powerpoint/2010/main" val="1247876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ABB1D-7FA4-1040-DCFB-593758550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Freeform 16">
            <a:extLst>
              <a:ext uri="{FF2B5EF4-FFF2-40B4-BE49-F238E27FC236}">
                <a16:creationId xmlns:a16="http://schemas.microsoft.com/office/drawing/2014/main" id="{4D1301E4-A8C8-ABE4-373E-5BB503C219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5F6376C-FC32-3128-E89B-0B43647E9BED}"/>
              </a:ext>
            </a:extLst>
          </p:cNvPr>
          <p:cNvSpPr/>
          <p:nvPr/>
        </p:nvSpPr>
        <p:spPr>
          <a:xfrm>
            <a:off x="427182" y="8319281"/>
            <a:ext cx="17433636" cy="1658398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CAF333A2-8CFA-4038-3072-9B56882C2B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23D6F27-50F1-B2C7-6BA1-CE8AB2A8679A}"/>
              </a:ext>
            </a:extLst>
          </p:cNvPr>
          <p:cNvSpPr/>
          <p:nvPr/>
        </p:nvSpPr>
        <p:spPr>
          <a:xfrm>
            <a:off x="427182" y="1644791"/>
            <a:ext cx="17433636" cy="3623590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31">
            <a:extLst>
              <a:ext uri="{FF2B5EF4-FFF2-40B4-BE49-F238E27FC236}">
                <a16:creationId xmlns:a16="http://schemas.microsoft.com/office/drawing/2014/main" id="{AB941D09-70AF-3543-55C7-B27E0F94687D}"/>
              </a:ext>
            </a:extLst>
          </p:cNvPr>
          <p:cNvSpPr/>
          <p:nvPr/>
        </p:nvSpPr>
        <p:spPr>
          <a:xfrm>
            <a:off x="9274240" y="3467455"/>
            <a:ext cx="80470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Laser</a:t>
            </a:r>
          </a:p>
        </p:txBody>
      </p:sp>
      <p:sp>
        <p:nvSpPr>
          <p:cNvPr id="164" name="Freeform 31">
            <a:extLst>
              <a:ext uri="{FF2B5EF4-FFF2-40B4-BE49-F238E27FC236}">
                <a16:creationId xmlns:a16="http://schemas.microsoft.com/office/drawing/2014/main" id="{836876D1-7BC3-A707-EAE2-32A147A921D0}"/>
              </a:ext>
            </a:extLst>
          </p:cNvPr>
          <p:cNvSpPr/>
          <p:nvPr/>
        </p:nvSpPr>
        <p:spPr>
          <a:xfrm>
            <a:off x="9274241" y="2749703"/>
            <a:ext cx="209223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Base de données</a:t>
            </a:r>
          </a:p>
        </p:txBody>
      </p:sp>
      <p:sp>
        <p:nvSpPr>
          <p:cNvPr id="163" name="Freeform 31">
            <a:extLst>
              <a:ext uri="{FF2B5EF4-FFF2-40B4-BE49-F238E27FC236}">
                <a16:creationId xmlns:a16="http://schemas.microsoft.com/office/drawing/2014/main" id="{CD57B971-212D-E444-EBB0-B00C879015B0}"/>
              </a:ext>
            </a:extLst>
          </p:cNvPr>
          <p:cNvSpPr/>
          <p:nvPr/>
        </p:nvSpPr>
        <p:spPr>
          <a:xfrm>
            <a:off x="9274241" y="2031951"/>
            <a:ext cx="209223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Cyber sécurité (3)</a:t>
            </a:r>
          </a:p>
        </p:txBody>
      </p:sp>
      <p:sp>
        <p:nvSpPr>
          <p:cNvPr id="162" name="Freeform 31">
            <a:extLst>
              <a:ext uri="{FF2B5EF4-FFF2-40B4-BE49-F238E27FC236}">
                <a16:creationId xmlns:a16="http://schemas.microsoft.com/office/drawing/2014/main" id="{DF147853-EE14-CEE0-AC1C-3EC744EFDC6A}"/>
              </a:ext>
            </a:extLst>
          </p:cNvPr>
          <p:cNvSpPr/>
          <p:nvPr/>
        </p:nvSpPr>
        <p:spPr>
          <a:xfrm>
            <a:off x="705909" y="8690084"/>
            <a:ext cx="211998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5A3D05D-D21B-0912-874A-3B71E0B72D90}"/>
              </a:ext>
            </a:extLst>
          </p:cNvPr>
          <p:cNvSpPr/>
          <p:nvPr/>
        </p:nvSpPr>
        <p:spPr>
          <a:xfrm>
            <a:off x="427182" y="5593284"/>
            <a:ext cx="17433636" cy="1074351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A303520-E107-4E21-84E7-82FBF27E1844}"/>
              </a:ext>
            </a:extLst>
          </p:cNvPr>
          <p:cNvSpPr/>
          <p:nvPr/>
        </p:nvSpPr>
        <p:spPr>
          <a:xfrm>
            <a:off x="9062458" y="7045738"/>
            <a:ext cx="8798359" cy="965843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Freeform 31">
            <a:extLst>
              <a:ext uri="{FF2B5EF4-FFF2-40B4-BE49-F238E27FC236}">
                <a16:creationId xmlns:a16="http://schemas.microsoft.com/office/drawing/2014/main" id="{CBC18386-E748-0A13-E09E-C1369263E86D}"/>
              </a:ext>
            </a:extLst>
          </p:cNvPr>
          <p:cNvSpPr/>
          <p:nvPr/>
        </p:nvSpPr>
        <p:spPr>
          <a:xfrm>
            <a:off x="9276716" y="7331241"/>
            <a:ext cx="2036422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Stage (3-4 mois)</a:t>
            </a:r>
          </a:p>
        </p:txBody>
      </p:sp>
      <p:sp>
        <p:nvSpPr>
          <p:cNvPr id="160" name="Freeform 31">
            <a:extLst>
              <a:ext uri="{FF2B5EF4-FFF2-40B4-BE49-F238E27FC236}">
                <a16:creationId xmlns:a16="http://schemas.microsoft.com/office/drawing/2014/main" id="{17966AFA-FF18-CB93-CA16-CCA160648679}"/>
              </a:ext>
            </a:extLst>
          </p:cNvPr>
          <p:cNvSpPr/>
          <p:nvPr/>
        </p:nvSpPr>
        <p:spPr>
          <a:xfrm>
            <a:off x="9274836" y="5855478"/>
            <a:ext cx="20457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Ingé guidé</a:t>
            </a:r>
          </a:p>
        </p:txBody>
      </p:sp>
      <p:sp>
        <p:nvSpPr>
          <p:cNvPr id="159" name="Freeform 31">
            <a:extLst>
              <a:ext uri="{FF2B5EF4-FFF2-40B4-BE49-F238E27FC236}">
                <a16:creationId xmlns:a16="http://schemas.microsoft.com/office/drawing/2014/main" id="{AAE4BE64-1936-2740-149F-870E4DFA4AC8}"/>
              </a:ext>
            </a:extLst>
          </p:cNvPr>
          <p:cNvSpPr/>
          <p:nvPr/>
        </p:nvSpPr>
        <p:spPr>
          <a:xfrm>
            <a:off x="720987" y="5931790"/>
            <a:ext cx="292636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Process-flow composants</a:t>
            </a:r>
          </a:p>
        </p:txBody>
      </p:sp>
      <p:sp>
        <p:nvSpPr>
          <p:cNvPr id="156" name="Freeform 31">
            <a:extLst>
              <a:ext uri="{FF2B5EF4-FFF2-40B4-BE49-F238E27FC236}">
                <a16:creationId xmlns:a16="http://schemas.microsoft.com/office/drawing/2014/main" id="{523052BB-6959-C84F-81B3-026DE35DAFCD}"/>
              </a:ext>
            </a:extLst>
          </p:cNvPr>
          <p:cNvSpPr/>
          <p:nvPr/>
        </p:nvSpPr>
        <p:spPr>
          <a:xfrm>
            <a:off x="718434" y="2628943"/>
            <a:ext cx="173605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</a:t>
            </a: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E3733B83-EF79-E859-D093-EE7EBAAD4AE7}"/>
              </a:ext>
            </a:extLst>
          </p:cNvPr>
          <p:cNvSpPr/>
          <p:nvPr/>
        </p:nvSpPr>
        <p:spPr>
          <a:xfrm>
            <a:off x="9278528" y="6722056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AECF4B34-3CFD-EC26-AA10-07AE9E25D164}"/>
              </a:ext>
            </a:extLst>
          </p:cNvPr>
          <p:cNvSpPr/>
          <p:nvPr/>
        </p:nvSpPr>
        <p:spPr>
          <a:xfrm>
            <a:off x="713768" y="1966949"/>
            <a:ext cx="123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Freeform 114">
            <a:extLst>
              <a:ext uri="{FF2B5EF4-FFF2-40B4-BE49-F238E27FC236}">
                <a16:creationId xmlns:a16="http://schemas.microsoft.com/office/drawing/2014/main" id="{94BD587B-A04C-FD49-F190-E2F1229E5C0D}"/>
              </a:ext>
            </a:extLst>
          </p:cNvPr>
          <p:cNvSpPr/>
          <p:nvPr/>
        </p:nvSpPr>
        <p:spPr>
          <a:xfrm>
            <a:off x="2590800" y="270510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5F103B9D-B607-B141-21E7-F4AB91D99E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866EDF0-ED30-46E6-DB08-1B5975BF8D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118" name="Freeform 118">
            <a:extLst>
              <a:ext uri="{FF2B5EF4-FFF2-40B4-BE49-F238E27FC236}">
                <a16:creationId xmlns:a16="http://schemas.microsoft.com/office/drawing/2014/main" id="{2489638D-8DB8-095E-886A-14FAE79169B7}"/>
              </a:ext>
            </a:extLst>
          </p:cNvPr>
          <p:cNvSpPr/>
          <p:nvPr/>
        </p:nvSpPr>
        <p:spPr>
          <a:xfrm>
            <a:off x="11919057" y="589635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C5562894-3A83-B455-78E2-2B80A0B2C1D4}"/>
              </a:ext>
            </a:extLst>
          </p:cNvPr>
          <p:cNvSpPr/>
          <p:nvPr/>
        </p:nvSpPr>
        <p:spPr>
          <a:xfrm>
            <a:off x="11887200" y="738770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5" name="Freeform 25">
            <a:extLst>
              <a:ext uri="{FF2B5EF4-FFF2-40B4-BE49-F238E27FC236}">
                <a16:creationId xmlns:a16="http://schemas.microsoft.com/office/drawing/2014/main" id="{3F23A7CE-77A6-B4D5-709B-F8060B13A00C}"/>
              </a:ext>
            </a:extLst>
          </p:cNvPr>
          <p:cNvSpPr/>
          <p:nvPr/>
        </p:nvSpPr>
        <p:spPr>
          <a:xfrm>
            <a:off x="774582" y="5295900"/>
            <a:ext cx="172100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151" name="Freeform 25">
            <a:extLst>
              <a:ext uri="{FF2B5EF4-FFF2-40B4-BE49-F238E27FC236}">
                <a16:creationId xmlns:a16="http://schemas.microsoft.com/office/drawing/2014/main" id="{5CC0569B-A578-2D7F-DC1C-E712B05F52FC}"/>
              </a:ext>
            </a:extLst>
          </p:cNvPr>
          <p:cNvSpPr/>
          <p:nvPr/>
        </p:nvSpPr>
        <p:spPr>
          <a:xfrm>
            <a:off x="771147" y="8039100"/>
            <a:ext cx="1516733" cy="522635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54" name="Freeform 25">
            <a:extLst>
              <a:ext uri="{FF2B5EF4-FFF2-40B4-BE49-F238E27FC236}">
                <a16:creationId xmlns:a16="http://schemas.microsoft.com/office/drawing/2014/main" id="{A8D70433-F6AB-5B52-981C-D70F51E6221A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57" name="Freeform 31">
            <a:extLst>
              <a:ext uri="{FF2B5EF4-FFF2-40B4-BE49-F238E27FC236}">
                <a16:creationId xmlns:a16="http://schemas.microsoft.com/office/drawing/2014/main" id="{9B052B8D-2C15-4679-7721-9EC2BBB71E91}"/>
              </a:ext>
            </a:extLst>
          </p:cNvPr>
          <p:cNvSpPr/>
          <p:nvPr/>
        </p:nvSpPr>
        <p:spPr>
          <a:xfrm>
            <a:off x="713768" y="3943862"/>
            <a:ext cx="123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Procédé</a:t>
            </a:r>
          </a:p>
        </p:txBody>
      </p:sp>
      <p:sp>
        <p:nvSpPr>
          <p:cNvPr id="158" name="Freeform 31">
            <a:extLst>
              <a:ext uri="{FF2B5EF4-FFF2-40B4-BE49-F238E27FC236}">
                <a16:creationId xmlns:a16="http://schemas.microsoft.com/office/drawing/2014/main" id="{D77972B7-0896-6EA8-28CC-542247BE896B}"/>
              </a:ext>
            </a:extLst>
          </p:cNvPr>
          <p:cNvSpPr/>
          <p:nvPr/>
        </p:nvSpPr>
        <p:spPr>
          <a:xfrm>
            <a:off x="716884" y="3287475"/>
            <a:ext cx="377891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 environnementaux</a:t>
            </a:r>
          </a:p>
        </p:txBody>
      </p:sp>
      <p:sp>
        <p:nvSpPr>
          <p:cNvPr id="168" name="Ellipse 167">
            <a:extLst>
              <a:ext uri="{FF2B5EF4-FFF2-40B4-BE49-F238E27FC236}">
                <a16:creationId xmlns:a16="http://schemas.microsoft.com/office/drawing/2014/main" id="{A8C10D4C-694D-B606-E06E-389BB1F3055B}"/>
              </a:ext>
            </a:extLst>
          </p:cNvPr>
          <p:cNvSpPr/>
          <p:nvPr/>
        </p:nvSpPr>
        <p:spPr>
          <a:xfrm>
            <a:off x="14628763" y="582930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9" name="Ellipse 168">
            <a:extLst>
              <a:ext uri="{FF2B5EF4-FFF2-40B4-BE49-F238E27FC236}">
                <a16:creationId xmlns:a16="http://schemas.microsoft.com/office/drawing/2014/main" id="{34877154-5726-3427-5B65-BFB2A27A3EAD}"/>
              </a:ext>
            </a:extLst>
          </p:cNvPr>
          <p:cNvSpPr/>
          <p:nvPr/>
        </p:nvSpPr>
        <p:spPr>
          <a:xfrm>
            <a:off x="15392005" y="582930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AD3E3427-A9F9-4E5F-718F-6B77ED81C1AD}"/>
              </a:ext>
            </a:extLst>
          </p:cNvPr>
          <p:cNvSpPr/>
          <p:nvPr/>
        </p:nvSpPr>
        <p:spPr>
          <a:xfrm>
            <a:off x="16148388" y="585203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1" name="Ellipse 170">
            <a:extLst>
              <a:ext uri="{FF2B5EF4-FFF2-40B4-BE49-F238E27FC236}">
                <a16:creationId xmlns:a16="http://schemas.microsoft.com/office/drawing/2014/main" id="{96435E2D-D491-3E6C-0623-700921EFB847}"/>
              </a:ext>
            </a:extLst>
          </p:cNvPr>
          <p:cNvSpPr/>
          <p:nvPr/>
        </p:nvSpPr>
        <p:spPr>
          <a:xfrm>
            <a:off x="16903076" y="585203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04BECFA2-538C-DD76-3BA5-6331F8F8E42B}"/>
              </a:ext>
            </a:extLst>
          </p:cNvPr>
          <p:cNvSpPr/>
          <p:nvPr/>
        </p:nvSpPr>
        <p:spPr>
          <a:xfrm>
            <a:off x="14628763" y="868951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AE14DCD5-5E52-6D91-BD06-2FF2B282ED9A}"/>
              </a:ext>
            </a:extLst>
          </p:cNvPr>
          <p:cNvSpPr/>
          <p:nvPr/>
        </p:nvSpPr>
        <p:spPr>
          <a:xfrm>
            <a:off x="15392005" y="7285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DCE8B00A-E057-DB63-5D11-627B05EC6AEE}"/>
              </a:ext>
            </a:extLst>
          </p:cNvPr>
          <p:cNvSpPr/>
          <p:nvPr/>
        </p:nvSpPr>
        <p:spPr>
          <a:xfrm>
            <a:off x="16148975" y="727710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32C46713-71AA-7E65-ECEB-993A0F4567D9}"/>
              </a:ext>
            </a:extLst>
          </p:cNvPr>
          <p:cNvSpPr/>
          <p:nvPr/>
        </p:nvSpPr>
        <p:spPr>
          <a:xfrm>
            <a:off x="16903076" y="868951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16E8619D-9DAC-C4E8-5693-020ED14B633A}"/>
              </a:ext>
            </a:extLst>
          </p:cNvPr>
          <p:cNvSpPr/>
          <p:nvPr/>
        </p:nvSpPr>
        <p:spPr>
          <a:xfrm>
            <a:off x="14628763" y="274970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5DB9DAA6-039B-BBD8-B577-E7664D989B4C}"/>
              </a:ext>
            </a:extLst>
          </p:cNvPr>
          <p:cNvSpPr/>
          <p:nvPr/>
        </p:nvSpPr>
        <p:spPr>
          <a:xfrm>
            <a:off x="16144934" y="274970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1" name="Ellipse 180">
            <a:extLst>
              <a:ext uri="{FF2B5EF4-FFF2-40B4-BE49-F238E27FC236}">
                <a16:creationId xmlns:a16="http://schemas.microsoft.com/office/drawing/2014/main" id="{C5B978E2-16A1-EFC2-0B9B-037A48DAD93A}"/>
              </a:ext>
            </a:extLst>
          </p:cNvPr>
          <p:cNvSpPr/>
          <p:nvPr/>
        </p:nvSpPr>
        <p:spPr>
          <a:xfrm>
            <a:off x="14628763" y="346545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9AD1FAE-51A4-DD9C-C558-1A315F971761}"/>
              </a:ext>
            </a:extLst>
          </p:cNvPr>
          <p:cNvSpPr/>
          <p:nvPr/>
        </p:nvSpPr>
        <p:spPr>
          <a:xfrm>
            <a:off x="5716775" y="263137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0" name="Ellipse 189">
            <a:extLst>
              <a:ext uri="{FF2B5EF4-FFF2-40B4-BE49-F238E27FC236}">
                <a16:creationId xmlns:a16="http://schemas.microsoft.com/office/drawing/2014/main" id="{A72CA917-D1C3-84D4-2269-36753766486D}"/>
              </a:ext>
            </a:extLst>
          </p:cNvPr>
          <p:cNvSpPr/>
          <p:nvPr/>
        </p:nvSpPr>
        <p:spPr>
          <a:xfrm>
            <a:off x="6477469" y="393912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1" name="Ellipse 190">
            <a:extLst>
              <a:ext uri="{FF2B5EF4-FFF2-40B4-BE49-F238E27FC236}">
                <a16:creationId xmlns:a16="http://schemas.microsoft.com/office/drawing/2014/main" id="{9BE50E86-6F2E-4296-772D-C6E04E1B2619}"/>
              </a:ext>
            </a:extLst>
          </p:cNvPr>
          <p:cNvSpPr/>
          <p:nvPr/>
        </p:nvSpPr>
        <p:spPr>
          <a:xfrm>
            <a:off x="5716775" y="460565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3" name="Ellipse 192">
            <a:extLst>
              <a:ext uri="{FF2B5EF4-FFF2-40B4-BE49-F238E27FC236}">
                <a16:creationId xmlns:a16="http://schemas.microsoft.com/office/drawing/2014/main" id="{2EF5E30D-A7B0-EAFC-1453-81B022F04BED}"/>
              </a:ext>
            </a:extLst>
          </p:cNvPr>
          <p:cNvSpPr/>
          <p:nvPr/>
        </p:nvSpPr>
        <p:spPr>
          <a:xfrm>
            <a:off x="7937142" y="328747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6" name="Ellipse 195">
            <a:extLst>
              <a:ext uri="{FF2B5EF4-FFF2-40B4-BE49-F238E27FC236}">
                <a16:creationId xmlns:a16="http://schemas.microsoft.com/office/drawing/2014/main" id="{363CB048-ECEF-FA5B-3E85-19D7A7C233E9}"/>
              </a:ext>
            </a:extLst>
          </p:cNvPr>
          <p:cNvSpPr/>
          <p:nvPr/>
        </p:nvSpPr>
        <p:spPr>
          <a:xfrm>
            <a:off x="5716775" y="934533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2" name="Freeform 31">
            <a:extLst>
              <a:ext uri="{FF2B5EF4-FFF2-40B4-BE49-F238E27FC236}">
                <a16:creationId xmlns:a16="http://schemas.microsoft.com/office/drawing/2014/main" id="{F695A69B-F197-4DF4-9987-535287059E44}"/>
              </a:ext>
            </a:extLst>
          </p:cNvPr>
          <p:cNvSpPr/>
          <p:nvPr/>
        </p:nvSpPr>
        <p:spPr>
          <a:xfrm>
            <a:off x="705909" y="9346471"/>
            <a:ext cx="244534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TD interactions laser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078FE57D-9153-28AA-BA67-1F4247F110B6}"/>
              </a:ext>
            </a:extLst>
          </p:cNvPr>
          <p:cNvSpPr/>
          <p:nvPr/>
        </p:nvSpPr>
        <p:spPr>
          <a:xfrm>
            <a:off x="6472927" y="864901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4" name="Freeform 31">
            <a:extLst>
              <a:ext uri="{FF2B5EF4-FFF2-40B4-BE49-F238E27FC236}">
                <a16:creationId xmlns:a16="http://schemas.microsoft.com/office/drawing/2014/main" id="{B41534A7-E165-2F92-EB0D-2F176DBEE451}"/>
              </a:ext>
            </a:extLst>
          </p:cNvPr>
          <p:cNvSpPr/>
          <p:nvPr/>
        </p:nvSpPr>
        <p:spPr>
          <a:xfrm>
            <a:off x="9276472" y="8690084"/>
            <a:ext cx="233842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Dossier Biblio Laser</a:t>
            </a:r>
          </a:p>
        </p:txBody>
      </p:sp>
      <p:sp>
        <p:nvSpPr>
          <p:cNvPr id="55" name="Freeform 7">
            <a:extLst>
              <a:ext uri="{FF2B5EF4-FFF2-40B4-BE49-F238E27FC236}">
                <a16:creationId xmlns:a16="http://schemas.microsoft.com/office/drawing/2014/main" id="{E7E4B478-6D90-8416-EB9E-E3C1F588AC00}"/>
              </a:ext>
            </a:extLst>
          </p:cNvPr>
          <p:cNvSpPr/>
          <p:nvPr/>
        </p:nvSpPr>
        <p:spPr>
          <a:xfrm>
            <a:off x="427181" y="6666070"/>
            <a:ext cx="8450448" cy="1345511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Freeform 7">
            <a:extLst>
              <a:ext uri="{FF2B5EF4-FFF2-40B4-BE49-F238E27FC236}">
                <a16:creationId xmlns:a16="http://schemas.microsoft.com/office/drawing/2014/main" id="{A61A21ED-66C8-6A88-DA59-05C8855AA710}"/>
              </a:ext>
            </a:extLst>
          </p:cNvPr>
          <p:cNvSpPr/>
          <p:nvPr/>
        </p:nvSpPr>
        <p:spPr>
          <a:xfrm>
            <a:off x="472665" y="6500189"/>
            <a:ext cx="8385952" cy="502773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chemeClr val="bg1"/>
          </a:solidFill>
          <a:ln w="47625" cap="sq">
            <a:noFill/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056C3198-6055-77BB-5498-C47A5C65B8C0}"/>
              </a:ext>
            </a:extLst>
          </p:cNvPr>
          <p:cNvSpPr/>
          <p:nvPr/>
        </p:nvSpPr>
        <p:spPr>
          <a:xfrm>
            <a:off x="14628763" y="727710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F9EDABAD-547A-3B51-8D42-9AB23B454684}"/>
              </a:ext>
            </a:extLst>
          </p:cNvPr>
          <p:cNvSpPr/>
          <p:nvPr/>
        </p:nvSpPr>
        <p:spPr>
          <a:xfrm>
            <a:off x="16903076" y="727970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2" name="Freeform 31">
            <a:extLst>
              <a:ext uri="{FF2B5EF4-FFF2-40B4-BE49-F238E27FC236}">
                <a16:creationId xmlns:a16="http://schemas.microsoft.com/office/drawing/2014/main" id="{C13BA21E-5C79-107A-1BAC-05167F52251F}"/>
              </a:ext>
            </a:extLst>
          </p:cNvPr>
          <p:cNvSpPr/>
          <p:nvPr/>
        </p:nvSpPr>
        <p:spPr>
          <a:xfrm>
            <a:off x="720986" y="7201026"/>
            <a:ext cx="221726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Carte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13" name="Freeform 117">
            <a:extLst>
              <a:ext uri="{FF2B5EF4-FFF2-40B4-BE49-F238E27FC236}">
                <a16:creationId xmlns:a16="http://schemas.microsoft.com/office/drawing/2014/main" id="{9E22D93A-4B45-95C2-0B95-DB379ABD97A3}"/>
              </a:ext>
            </a:extLst>
          </p:cNvPr>
          <p:cNvSpPr/>
          <p:nvPr/>
        </p:nvSpPr>
        <p:spPr>
          <a:xfrm>
            <a:off x="3124200" y="726082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Freeform 31">
            <a:extLst>
              <a:ext uri="{FF2B5EF4-FFF2-40B4-BE49-F238E27FC236}">
                <a16:creationId xmlns:a16="http://schemas.microsoft.com/office/drawing/2014/main" id="{571C035F-F6C2-01D2-CE11-30C11204451B}"/>
              </a:ext>
            </a:extLst>
          </p:cNvPr>
          <p:cNvSpPr/>
          <p:nvPr/>
        </p:nvSpPr>
        <p:spPr>
          <a:xfrm>
            <a:off x="720987" y="6569818"/>
            <a:ext cx="2752970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Design carte fille STM8</a:t>
            </a:r>
          </a:p>
        </p:txBody>
      </p:sp>
      <p:sp>
        <p:nvSpPr>
          <p:cNvPr id="121" name="Ellipse 120">
            <a:extLst>
              <a:ext uri="{FF2B5EF4-FFF2-40B4-BE49-F238E27FC236}">
                <a16:creationId xmlns:a16="http://schemas.microsoft.com/office/drawing/2014/main" id="{E4FEC776-9326-5F29-3763-0D6202DC7E21}"/>
              </a:ext>
            </a:extLst>
          </p:cNvPr>
          <p:cNvSpPr/>
          <p:nvPr/>
        </p:nvSpPr>
        <p:spPr>
          <a:xfrm>
            <a:off x="5716775" y="592453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2" name="Ellipse 121">
            <a:extLst>
              <a:ext uri="{FF2B5EF4-FFF2-40B4-BE49-F238E27FC236}">
                <a16:creationId xmlns:a16="http://schemas.microsoft.com/office/drawing/2014/main" id="{AE82A715-EC5C-452A-06CC-0D47CE3849CC}"/>
              </a:ext>
            </a:extLst>
          </p:cNvPr>
          <p:cNvSpPr/>
          <p:nvPr/>
        </p:nvSpPr>
        <p:spPr>
          <a:xfrm>
            <a:off x="6472927" y="656467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3" name="Ellipse 122">
            <a:extLst>
              <a:ext uri="{FF2B5EF4-FFF2-40B4-BE49-F238E27FC236}">
                <a16:creationId xmlns:a16="http://schemas.microsoft.com/office/drawing/2014/main" id="{5BC62EBF-E8F5-014E-3B81-A9AA7D8FB3AD}"/>
              </a:ext>
            </a:extLst>
          </p:cNvPr>
          <p:cNvSpPr/>
          <p:nvPr/>
        </p:nvSpPr>
        <p:spPr>
          <a:xfrm>
            <a:off x="7225835" y="656467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4" name="Ellipse 123">
            <a:extLst>
              <a:ext uri="{FF2B5EF4-FFF2-40B4-BE49-F238E27FC236}">
                <a16:creationId xmlns:a16="http://schemas.microsoft.com/office/drawing/2014/main" id="{DFBEF4C9-4487-949D-F262-97ECF26E3EAD}"/>
              </a:ext>
            </a:extLst>
          </p:cNvPr>
          <p:cNvSpPr/>
          <p:nvPr/>
        </p:nvSpPr>
        <p:spPr>
          <a:xfrm>
            <a:off x="5716775" y="656568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8AE0F5B7-8183-E259-114C-88D2F3DC68ED}"/>
              </a:ext>
            </a:extLst>
          </p:cNvPr>
          <p:cNvSpPr/>
          <p:nvPr/>
        </p:nvSpPr>
        <p:spPr>
          <a:xfrm>
            <a:off x="6472927" y="720992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3222DF93-D8F9-2789-982B-9F4F1CBD353A}"/>
              </a:ext>
            </a:extLst>
          </p:cNvPr>
          <p:cNvSpPr/>
          <p:nvPr/>
        </p:nvSpPr>
        <p:spPr>
          <a:xfrm>
            <a:off x="16145087" y="3465452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83" name="Freeform 31">
            <a:extLst>
              <a:ext uri="{FF2B5EF4-FFF2-40B4-BE49-F238E27FC236}">
                <a16:creationId xmlns:a16="http://schemas.microsoft.com/office/drawing/2014/main" id="{DE670B32-FD40-A055-FC7B-111DAFCDAF9F}"/>
              </a:ext>
            </a:extLst>
          </p:cNvPr>
          <p:cNvSpPr/>
          <p:nvPr/>
        </p:nvSpPr>
        <p:spPr>
          <a:xfrm>
            <a:off x="9274241" y="4183816"/>
            <a:ext cx="144347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Optronique</a:t>
            </a:r>
          </a:p>
        </p:txBody>
      </p:sp>
      <p:sp>
        <p:nvSpPr>
          <p:cNvPr id="284" name="Ellipse 283">
            <a:extLst>
              <a:ext uri="{FF2B5EF4-FFF2-40B4-BE49-F238E27FC236}">
                <a16:creationId xmlns:a16="http://schemas.microsoft.com/office/drawing/2014/main" id="{9FF096E2-5970-D7A1-F0C1-4FE04F07A2B5}"/>
              </a:ext>
            </a:extLst>
          </p:cNvPr>
          <p:cNvSpPr/>
          <p:nvPr/>
        </p:nvSpPr>
        <p:spPr>
          <a:xfrm>
            <a:off x="14628763" y="418324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5" name="Ellipse 284">
            <a:extLst>
              <a:ext uri="{FF2B5EF4-FFF2-40B4-BE49-F238E27FC236}">
                <a16:creationId xmlns:a16="http://schemas.microsoft.com/office/drawing/2014/main" id="{82EF6177-1639-CC67-8EEE-D767AD68040C}"/>
              </a:ext>
            </a:extLst>
          </p:cNvPr>
          <p:cNvSpPr/>
          <p:nvPr/>
        </p:nvSpPr>
        <p:spPr>
          <a:xfrm>
            <a:off x="15394251" y="418324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2" name="Freeform 31">
            <a:extLst>
              <a:ext uri="{FF2B5EF4-FFF2-40B4-BE49-F238E27FC236}">
                <a16:creationId xmlns:a16="http://schemas.microsoft.com/office/drawing/2014/main" id="{3B95931F-A8C9-5B66-E75A-D4881713CA08}"/>
              </a:ext>
            </a:extLst>
          </p:cNvPr>
          <p:cNvSpPr/>
          <p:nvPr/>
        </p:nvSpPr>
        <p:spPr>
          <a:xfrm>
            <a:off x="2154527" y="1961670"/>
            <a:ext cx="90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STM8</a:t>
            </a:r>
          </a:p>
        </p:txBody>
      </p:sp>
      <p:sp>
        <p:nvSpPr>
          <p:cNvPr id="483" name="Freeform 31">
            <a:extLst>
              <a:ext uri="{FF2B5EF4-FFF2-40B4-BE49-F238E27FC236}">
                <a16:creationId xmlns:a16="http://schemas.microsoft.com/office/drawing/2014/main" id="{53396847-7363-A20F-DFA3-BEE8193F3D02}"/>
              </a:ext>
            </a:extLst>
          </p:cNvPr>
          <p:cNvSpPr/>
          <p:nvPr/>
        </p:nvSpPr>
        <p:spPr>
          <a:xfrm>
            <a:off x="3244640" y="1961670"/>
            <a:ext cx="171144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Automatique</a:t>
            </a:r>
          </a:p>
        </p:txBody>
      </p:sp>
      <p:sp>
        <p:nvSpPr>
          <p:cNvPr id="484" name="Freeform 31">
            <a:extLst>
              <a:ext uri="{FF2B5EF4-FFF2-40B4-BE49-F238E27FC236}">
                <a16:creationId xmlns:a16="http://schemas.microsoft.com/office/drawing/2014/main" id="{4CA6992A-5635-1C20-ED37-2BE71B293C6A}"/>
              </a:ext>
            </a:extLst>
          </p:cNvPr>
          <p:cNvSpPr/>
          <p:nvPr/>
        </p:nvSpPr>
        <p:spPr>
          <a:xfrm>
            <a:off x="3700664" y="2627212"/>
            <a:ext cx="79513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MEB</a:t>
            </a:r>
          </a:p>
        </p:txBody>
      </p:sp>
      <p:sp>
        <p:nvSpPr>
          <p:cNvPr id="485" name="Freeform 31">
            <a:extLst>
              <a:ext uri="{FF2B5EF4-FFF2-40B4-BE49-F238E27FC236}">
                <a16:creationId xmlns:a16="http://schemas.microsoft.com/office/drawing/2014/main" id="{FC2761CE-8C71-B719-985A-072761EB823D}"/>
              </a:ext>
            </a:extLst>
          </p:cNvPr>
          <p:cNvSpPr/>
          <p:nvPr/>
        </p:nvSpPr>
        <p:spPr>
          <a:xfrm>
            <a:off x="2153204" y="3940268"/>
            <a:ext cx="149985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Composant</a:t>
            </a:r>
          </a:p>
        </p:txBody>
      </p:sp>
      <p:sp>
        <p:nvSpPr>
          <p:cNvPr id="486" name="Freeform 31">
            <a:extLst>
              <a:ext uri="{FF2B5EF4-FFF2-40B4-BE49-F238E27FC236}">
                <a16:creationId xmlns:a16="http://schemas.microsoft.com/office/drawing/2014/main" id="{A0F20C4A-D1CD-2BFE-1E4E-03BE4B0A7D2E}"/>
              </a:ext>
            </a:extLst>
          </p:cNvPr>
          <p:cNvSpPr/>
          <p:nvPr/>
        </p:nvSpPr>
        <p:spPr>
          <a:xfrm>
            <a:off x="713768" y="4606797"/>
            <a:ext cx="8113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FSM</a:t>
            </a:r>
          </a:p>
        </p:txBody>
      </p:sp>
      <p:sp>
        <p:nvSpPr>
          <p:cNvPr id="487" name="Ellipse 486">
            <a:extLst>
              <a:ext uri="{FF2B5EF4-FFF2-40B4-BE49-F238E27FC236}">
                <a16:creationId xmlns:a16="http://schemas.microsoft.com/office/drawing/2014/main" id="{27D8A082-9A7B-7901-64D9-15E80D631341}"/>
              </a:ext>
            </a:extLst>
          </p:cNvPr>
          <p:cNvSpPr/>
          <p:nvPr/>
        </p:nvSpPr>
        <p:spPr>
          <a:xfrm>
            <a:off x="6477469" y="461042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8" name="Ellipse 487">
            <a:extLst>
              <a:ext uri="{FF2B5EF4-FFF2-40B4-BE49-F238E27FC236}">
                <a16:creationId xmlns:a16="http://schemas.microsoft.com/office/drawing/2014/main" id="{383BEC61-B539-982E-2D34-0FA6D8137568}"/>
              </a:ext>
            </a:extLst>
          </p:cNvPr>
          <p:cNvSpPr/>
          <p:nvPr/>
        </p:nvSpPr>
        <p:spPr>
          <a:xfrm>
            <a:off x="5716775" y="195693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9" name="Ellipse 488">
            <a:extLst>
              <a:ext uri="{FF2B5EF4-FFF2-40B4-BE49-F238E27FC236}">
                <a16:creationId xmlns:a16="http://schemas.microsoft.com/office/drawing/2014/main" id="{94E08A9A-91E6-3460-C9EA-E9EFB03DBE16}"/>
              </a:ext>
            </a:extLst>
          </p:cNvPr>
          <p:cNvSpPr/>
          <p:nvPr/>
        </p:nvSpPr>
        <p:spPr>
          <a:xfrm>
            <a:off x="7237197" y="196694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90" name="Ellipse 489">
            <a:extLst>
              <a:ext uri="{FF2B5EF4-FFF2-40B4-BE49-F238E27FC236}">
                <a16:creationId xmlns:a16="http://schemas.microsoft.com/office/drawing/2014/main" id="{D6EB26FA-9FB6-1E78-6695-891CFAECE41B}"/>
              </a:ext>
            </a:extLst>
          </p:cNvPr>
          <p:cNvSpPr/>
          <p:nvPr/>
        </p:nvSpPr>
        <p:spPr>
          <a:xfrm>
            <a:off x="14628763" y="202562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92" name="Ellipse 491">
            <a:extLst>
              <a:ext uri="{FF2B5EF4-FFF2-40B4-BE49-F238E27FC236}">
                <a16:creationId xmlns:a16="http://schemas.microsoft.com/office/drawing/2014/main" id="{4D6944A2-05F8-A70A-36A8-0136CFC5598A}"/>
              </a:ext>
            </a:extLst>
          </p:cNvPr>
          <p:cNvSpPr/>
          <p:nvPr/>
        </p:nvSpPr>
        <p:spPr>
          <a:xfrm>
            <a:off x="16144934" y="202562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93" name="Ellipse 492">
            <a:extLst>
              <a:ext uri="{FF2B5EF4-FFF2-40B4-BE49-F238E27FC236}">
                <a16:creationId xmlns:a16="http://schemas.microsoft.com/office/drawing/2014/main" id="{1D3F3430-2F28-69F8-A887-2522D71FE1B8}"/>
              </a:ext>
            </a:extLst>
          </p:cNvPr>
          <p:cNvSpPr/>
          <p:nvPr/>
        </p:nvSpPr>
        <p:spPr>
          <a:xfrm>
            <a:off x="15392005" y="346545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4154588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258FE-DAC1-CAF5-48E4-A6064622E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>
            <a:extLst>
              <a:ext uri="{FF2B5EF4-FFF2-40B4-BE49-F238E27FC236}">
                <a16:creationId xmlns:a16="http://schemas.microsoft.com/office/drawing/2014/main" id="{8B7C500C-A0A8-39A2-1A37-C9D9DCF85FF4}"/>
              </a:ext>
            </a:extLst>
          </p:cNvPr>
          <p:cNvSpPr/>
          <p:nvPr/>
        </p:nvSpPr>
        <p:spPr>
          <a:xfrm>
            <a:off x="427182" y="7328680"/>
            <a:ext cx="17433636" cy="2648998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B04AF7A-293A-B747-420C-79E031E29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B99FD67-EA45-8F4F-59D5-BA00526AC040}"/>
              </a:ext>
            </a:extLst>
          </p:cNvPr>
          <p:cNvSpPr/>
          <p:nvPr/>
        </p:nvSpPr>
        <p:spPr>
          <a:xfrm>
            <a:off x="427182" y="1644791"/>
            <a:ext cx="17433636" cy="2812909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31">
            <a:extLst>
              <a:ext uri="{FF2B5EF4-FFF2-40B4-BE49-F238E27FC236}">
                <a16:creationId xmlns:a16="http://schemas.microsoft.com/office/drawing/2014/main" id="{6B8F20CE-892F-251F-A486-A7199C5971D1}"/>
              </a:ext>
            </a:extLst>
          </p:cNvPr>
          <p:cNvSpPr/>
          <p:nvPr/>
        </p:nvSpPr>
        <p:spPr>
          <a:xfrm>
            <a:off x="9274240" y="3564668"/>
            <a:ext cx="169769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</a:t>
            </a:r>
          </a:p>
        </p:txBody>
      </p:sp>
      <p:sp>
        <p:nvSpPr>
          <p:cNvPr id="164" name="Freeform 31">
            <a:extLst>
              <a:ext uri="{FF2B5EF4-FFF2-40B4-BE49-F238E27FC236}">
                <a16:creationId xmlns:a16="http://schemas.microsoft.com/office/drawing/2014/main" id="{32569585-9754-10BF-A7AD-FF27C75FD2C2}"/>
              </a:ext>
            </a:extLst>
          </p:cNvPr>
          <p:cNvSpPr/>
          <p:nvPr/>
        </p:nvSpPr>
        <p:spPr>
          <a:xfrm>
            <a:off x="9274240" y="2798584"/>
            <a:ext cx="358678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Physical 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31">
            <a:extLst>
              <a:ext uri="{FF2B5EF4-FFF2-40B4-BE49-F238E27FC236}">
                <a16:creationId xmlns:a16="http://schemas.microsoft.com/office/drawing/2014/main" id="{772DCFBC-F898-48E8-CAD5-0A81A88CD1A2}"/>
              </a:ext>
            </a:extLst>
          </p:cNvPr>
          <p:cNvSpPr/>
          <p:nvPr/>
        </p:nvSpPr>
        <p:spPr>
          <a:xfrm>
            <a:off x="9274241" y="2031951"/>
            <a:ext cx="20969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</p:txBody>
      </p:sp>
      <p:sp>
        <p:nvSpPr>
          <p:cNvPr id="162" name="Freeform 31">
            <a:extLst>
              <a:ext uri="{FF2B5EF4-FFF2-40B4-BE49-F238E27FC236}">
                <a16:creationId xmlns:a16="http://schemas.microsoft.com/office/drawing/2014/main" id="{39BFE4FC-E1EC-159F-C108-813BEF9B248A}"/>
              </a:ext>
            </a:extLst>
          </p:cNvPr>
          <p:cNvSpPr/>
          <p:nvPr/>
        </p:nvSpPr>
        <p:spPr>
          <a:xfrm>
            <a:off x="705910" y="7706581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Plasma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604BD30F-18FA-DDF8-882E-B3D0313366F8}"/>
              </a:ext>
            </a:extLst>
          </p:cNvPr>
          <p:cNvSpPr/>
          <p:nvPr/>
        </p:nvSpPr>
        <p:spPr>
          <a:xfrm>
            <a:off x="427182" y="5176267"/>
            <a:ext cx="17433636" cy="1494110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Freeform 31">
            <a:extLst>
              <a:ext uri="{FF2B5EF4-FFF2-40B4-BE49-F238E27FC236}">
                <a16:creationId xmlns:a16="http://schemas.microsoft.com/office/drawing/2014/main" id="{E8C615BF-EE94-8D77-2728-B4C95948019E}"/>
              </a:ext>
            </a:extLst>
          </p:cNvPr>
          <p:cNvSpPr/>
          <p:nvPr/>
        </p:nvSpPr>
        <p:spPr>
          <a:xfrm>
            <a:off x="9276715" y="5721327"/>
            <a:ext cx="358507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 ou stage (5-6 mois)</a:t>
            </a:r>
          </a:p>
        </p:txBody>
      </p:sp>
      <p:sp>
        <p:nvSpPr>
          <p:cNvPr id="156" name="Freeform 31">
            <a:extLst>
              <a:ext uri="{FF2B5EF4-FFF2-40B4-BE49-F238E27FC236}">
                <a16:creationId xmlns:a16="http://schemas.microsoft.com/office/drawing/2014/main" id="{ED6E7025-034D-77CE-2D53-14D86EDE9F2B}"/>
              </a:ext>
            </a:extLst>
          </p:cNvPr>
          <p:cNvSpPr/>
          <p:nvPr/>
        </p:nvSpPr>
        <p:spPr>
          <a:xfrm>
            <a:off x="712356" y="2798584"/>
            <a:ext cx="17205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01A621C2-B41D-19D8-DBBA-8646D4AB18DC}"/>
              </a:ext>
            </a:extLst>
          </p:cNvPr>
          <p:cNvSpPr/>
          <p:nvPr/>
        </p:nvSpPr>
        <p:spPr>
          <a:xfrm>
            <a:off x="774583" y="4852586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CB8A5ED9-F282-D271-A069-3EAA5C37060B}"/>
              </a:ext>
            </a:extLst>
          </p:cNvPr>
          <p:cNvSpPr/>
          <p:nvPr/>
        </p:nvSpPr>
        <p:spPr>
          <a:xfrm>
            <a:off x="713768" y="2045298"/>
            <a:ext cx="197468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Computer Vision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99C9E0CF-45C3-5122-B8ED-B3496977B8F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8EB59319-D23E-B70F-994D-528171EB971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51D807D2-7D95-C59B-8933-7BEF91F90C3C}"/>
              </a:ext>
            </a:extLst>
          </p:cNvPr>
          <p:cNvSpPr/>
          <p:nvPr/>
        </p:nvSpPr>
        <p:spPr>
          <a:xfrm>
            <a:off x="13030200" y="577779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Freeform 25">
            <a:extLst>
              <a:ext uri="{FF2B5EF4-FFF2-40B4-BE49-F238E27FC236}">
                <a16:creationId xmlns:a16="http://schemas.microsoft.com/office/drawing/2014/main" id="{009A513E-9E55-73FD-8EC7-CC475EB49D8B}"/>
              </a:ext>
            </a:extLst>
          </p:cNvPr>
          <p:cNvSpPr/>
          <p:nvPr/>
        </p:nvSpPr>
        <p:spPr>
          <a:xfrm>
            <a:off x="771147" y="7048500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54" name="Freeform 25">
            <a:extLst>
              <a:ext uri="{FF2B5EF4-FFF2-40B4-BE49-F238E27FC236}">
                <a16:creationId xmlns:a16="http://schemas.microsoft.com/office/drawing/2014/main" id="{5133BD8D-762E-692A-1D89-8039F4629455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54C7CF62-ECDB-5867-0627-C65F0E7831AD}"/>
              </a:ext>
            </a:extLst>
          </p:cNvPr>
          <p:cNvSpPr/>
          <p:nvPr/>
        </p:nvSpPr>
        <p:spPr>
          <a:xfrm>
            <a:off x="14632941" y="572018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20662351-6E5C-D6E6-C3F6-D9C55C228CBF}"/>
              </a:ext>
            </a:extLst>
          </p:cNvPr>
          <p:cNvSpPr/>
          <p:nvPr/>
        </p:nvSpPr>
        <p:spPr>
          <a:xfrm>
            <a:off x="15383622" y="572018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FBF67EE1-CE82-CDF9-71B7-78314F8A7C42}"/>
              </a:ext>
            </a:extLst>
          </p:cNvPr>
          <p:cNvSpPr/>
          <p:nvPr/>
        </p:nvSpPr>
        <p:spPr>
          <a:xfrm>
            <a:off x="16144934" y="5720186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161FE0A9-BD98-C45A-28ED-26696B59DD66}"/>
              </a:ext>
            </a:extLst>
          </p:cNvPr>
          <p:cNvSpPr/>
          <p:nvPr/>
        </p:nvSpPr>
        <p:spPr>
          <a:xfrm>
            <a:off x="16899793" y="572018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B45E1D76-E8AD-932F-ED16-758A168F4BD8}"/>
              </a:ext>
            </a:extLst>
          </p:cNvPr>
          <p:cNvSpPr/>
          <p:nvPr/>
        </p:nvSpPr>
        <p:spPr>
          <a:xfrm>
            <a:off x="16144934" y="279320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B7D597A7-624E-84A5-FD21-6603167B3BB8}"/>
              </a:ext>
            </a:extLst>
          </p:cNvPr>
          <p:cNvSpPr/>
          <p:nvPr/>
        </p:nvSpPr>
        <p:spPr>
          <a:xfrm>
            <a:off x="5716775" y="279858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6" name="Ellipse 195">
            <a:extLst>
              <a:ext uri="{FF2B5EF4-FFF2-40B4-BE49-F238E27FC236}">
                <a16:creationId xmlns:a16="http://schemas.microsoft.com/office/drawing/2014/main" id="{0721BA36-732B-0196-C348-FC7FE3FD1555}"/>
              </a:ext>
            </a:extLst>
          </p:cNvPr>
          <p:cNvSpPr/>
          <p:nvPr/>
        </p:nvSpPr>
        <p:spPr>
          <a:xfrm>
            <a:off x="5717289" y="848004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96" name="Ellipse 95">
            <a:extLst>
              <a:ext uri="{FF2B5EF4-FFF2-40B4-BE49-F238E27FC236}">
                <a16:creationId xmlns:a16="http://schemas.microsoft.com/office/drawing/2014/main" id="{61BC902A-3BA1-D658-E677-3DE040D34374}"/>
              </a:ext>
            </a:extLst>
          </p:cNvPr>
          <p:cNvSpPr/>
          <p:nvPr/>
        </p:nvSpPr>
        <p:spPr>
          <a:xfrm>
            <a:off x="7237197" y="279801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40" name="Freeform 31">
            <a:extLst>
              <a:ext uri="{FF2B5EF4-FFF2-40B4-BE49-F238E27FC236}">
                <a16:creationId xmlns:a16="http://schemas.microsoft.com/office/drawing/2014/main" id="{55D8E2E0-5786-6EF6-763B-DD57F7431187}"/>
              </a:ext>
            </a:extLst>
          </p:cNvPr>
          <p:cNvSpPr/>
          <p:nvPr/>
        </p:nvSpPr>
        <p:spPr>
          <a:xfrm>
            <a:off x="769529" y="5721327"/>
            <a:ext cx="317686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 ou projet indus</a:t>
            </a:r>
          </a:p>
        </p:txBody>
      </p:sp>
      <p:sp>
        <p:nvSpPr>
          <p:cNvPr id="141" name="Freeform 119">
            <a:extLst>
              <a:ext uri="{FF2B5EF4-FFF2-40B4-BE49-F238E27FC236}">
                <a16:creationId xmlns:a16="http://schemas.microsoft.com/office/drawing/2014/main" id="{F0D02A99-F2A3-1D97-2124-3FA6C5B0525D}"/>
              </a:ext>
            </a:extLst>
          </p:cNvPr>
          <p:cNvSpPr/>
          <p:nvPr/>
        </p:nvSpPr>
        <p:spPr>
          <a:xfrm>
            <a:off x="4114800" y="577779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6" name="Freeform 31">
            <a:extLst>
              <a:ext uri="{FF2B5EF4-FFF2-40B4-BE49-F238E27FC236}">
                <a16:creationId xmlns:a16="http://schemas.microsoft.com/office/drawing/2014/main" id="{3A600ED1-4674-778D-8566-856E44B09A60}"/>
              </a:ext>
            </a:extLst>
          </p:cNvPr>
          <p:cNvSpPr/>
          <p:nvPr/>
        </p:nvSpPr>
        <p:spPr>
          <a:xfrm>
            <a:off x="712357" y="8481182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Androïd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7" name="Freeform 31">
            <a:extLst>
              <a:ext uri="{FF2B5EF4-FFF2-40B4-BE49-F238E27FC236}">
                <a16:creationId xmlns:a16="http://schemas.microsoft.com/office/drawing/2014/main" id="{6A2A2006-E38A-C244-0B5E-0CD79C7C5774}"/>
              </a:ext>
            </a:extLst>
          </p:cNvPr>
          <p:cNvSpPr/>
          <p:nvPr/>
        </p:nvSpPr>
        <p:spPr>
          <a:xfrm>
            <a:off x="705909" y="9202993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FPGE</a:t>
            </a:r>
          </a:p>
        </p:txBody>
      </p:sp>
      <p:sp>
        <p:nvSpPr>
          <p:cNvPr id="209" name="Ellipse 208">
            <a:extLst>
              <a:ext uri="{FF2B5EF4-FFF2-40B4-BE49-F238E27FC236}">
                <a16:creationId xmlns:a16="http://schemas.microsoft.com/office/drawing/2014/main" id="{A45A20F4-4384-CD6E-A05A-5E84B2C13ADA}"/>
              </a:ext>
            </a:extLst>
          </p:cNvPr>
          <p:cNvSpPr/>
          <p:nvPr/>
        </p:nvSpPr>
        <p:spPr>
          <a:xfrm>
            <a:off x="5721850" y="920185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0" name="Ellipse 209">
            <a:extLst>
              <a:ext uri="{FF2B5EF4-FFF2-40B4-BE49-F238E27FC236}">
                <a16:creationId xmlns:a16="http://schemas.microsoft.com/office/drawing/2014/main" id="{3BCD348D-7689-E23D-D854-4BBA02875A2D}"/>
              </a:ext>
            </a:extLst>
          </p:cNvPr>
          <p:cNvSpPr/>
          <p:nvPr/>
        </p:nvSpPr>
        <p:spPr>
          <a:xfrm>
            <a:off x="6468222" y="770658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11" name="Ellipse 210">
            <a:extLst>
              <a:ext uri="{FF2B5EF4-FFF2-40B4-BE49-F238E27FC236}">
                <a16:creationId xmlns:a16="http://schemas.microsoft.com/office/drawing/2014/main" id="{68A4B307-5471-9FE8-2601-732134E022B0}"/>
              </a:ext>
            </a:extLst>
          </p:cNvPr>
          <p:cNvSpPr/>
          <p:nvPr/>
        </p:nvSpPr>
        <p:spPr>
          <a:xfrm>
            <a:off x="7984393" y="771121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16" name="Ellipse 215">
            <a:extLst>
              <a:ext uri="{FF2B5EF4-FFF2-40B4-BE49-F238E27FC236}">
                <a16:creationId xmlns:a16="http://schemas.microsoft.com/office/drawing/2014/main" id="{31D149EE-BD50-DAF0-A1FF-7D211997C453}"/>
              </a:ext>
            </a:extLst>
          </p:cNvPr>
          <p:cNvSpPr/>
          <p:nvPr/>
        </p:nvSpPr>
        <p:spPr>
          <a:xfrm>
            <a:off x="5716775" y="195693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7" name="Ellipse 216">
            <a:extLst>
              <a:ext uri="{FF2B5EF4-FFF2-40B4-BE49-F238E27FC236}">
                <a16:creationId xmlns:a16="http://schemas.microsoft.com/office/drawing/2014/main" id="{9C013F31-7258-DAE5-B7F2-3664E8A8BBA3}"/>
              </a:ext>
            </a:extLst>
          </p:cNvPr>
          <p:cNvSpPr/>
          <p:nvPr/>
        </p:nvSpPr>
        <p:spPr>
          <a:xfrm>
            <a:off x="7237197" y="196694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18" name="Ellipse 217">
            <a:extLst>
              <a:ext uri="{FF2B5EF4-FFF2-40B4-BE49-F238E27FC236}">
                <a16:creationId xmlns:a16="http://schemas.microsoft.com/office/drawing/2014/main" id="{6B8C2812-F321-27BF-980B-E65BA2645836}"/>
              </a:ext>
            </a:extLst>
          </p:cNvPr>
          <p:cNvSpPr/>
          <p:nvPr/>
        </p:nvSpPr>
        <p:spPr>
          <a:xfrm>
            <a:off x="14628763" y="202562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9" name="Ellipse 218">
            <a:extLst>
              <a:ext uri="{FF2B5EF4-FFF2-40B4-BE49-F238E27FC236}">
                <a16:creationId xmlns:a16="http://schemas.microsoft.com/office/drawing/2014/main" id="{C35D9B26-D0CD-FB1D-482C-B7AECE4CAF2E}"/>
              </a:ext>
            </a:extLst>
          </p:cNvPr>
          <p:cNvSpPr/>
          <p:nvPr/>
        </p:nvSpPr>
        <p:spPr>
          <a:xfrm>
            <a:off x="16144934" y="202562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0" name="Ellipse 219">
            <a:extLst>
              <a:ext uri="{FF2B5EF4-FFF2-40B4-BE49-F238E27FC236}">
                <a16:creationId xmlns:a16="http://schemas.microsoft.com/office/drawing/2014/main" id="{5FE9544F-9C20-081C-778C-066E7F054967}"/>
              </a:ext>
            </a:extLst>
          </p:cNvPr>
          <p:cNvSpPr/>
          <p:nvPr/>
        </p:nvSpPr>
        <p:spPr>
          <a:xfrm>
            <a:off x="15386848" y="279934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1" name="Ellipse 220">
            <a:extLst>
              <a:ext uri="{FF2B5EF4-FFF2-40B4-BE49-F238E27FC236}">
                <a16:creationId xmlns:a16="http://schemas.microsoft.com/office/drawing/2014/main" id="{6E7068E9-26B7-6805-0483-0E6EF1500BD8}"/>
              </a:ext>
            </a:extLst>
          </p:cNvPr>
          <p:cNvSpPr/>
          <p:nvPr/>
        </p:nvSpPr>
        <p:spPr>
          <a:xfrm>
            <a:off x="16899793" y="356692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22" name="Ellipse 221">
            <a:extLst>
              <a:ext uri="{FF2B5EF4-FFF2-40B4-BE49-F238E27FC236}">
                <a16:creationId xmlns:a16="http://schemas.microsoft.com/office/drawing/2014/main" id="{7619005D-A749-89F7-AEEF-1895D8FCAAFC}"/>
              </a:ext>
            </a:extLst>
          </p:cNvPr>
          <p:cNvSpPr/>
          <p:nvPr/>
        </p:nvSpPr>
        <p:spPr>
          <a:xfrm>
            <a:off x="5717541" y="572018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23" name="Ellipse 222">
            <a:extLst>
              <a:ext uri="{FF2B5EF4-FFF2-40B4-BE49-F238E27FC236}">
                <a16:creationId xmlns:a16="http://schemas.microsoft.com/office/drawing/2014/main" id="{0AD433DA-A2A8-D5DB-EC3E-E2F1EA566415}"/>
              </a:ext>
            </a:extLst>
          </p:cNvPr>
          <p:cNvSpPr/>
          <p:nvPr/>
        </p:nvSpPr>
        <p:spPr>
          <a:xfrm>
            <a:off x="6468222" y="572018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4" name="Ellipse 223">
            <a:extLst>
              <a:ext uri="{FF2B5EF4-FFF2-40B4-BE49-F238E27FC236}">
                <a16:creationId xmlns:a16="http://schemas.microsoft.com/office/drawing/2014/main" id="{ED17FF96-0888-9E16-6107-332159B3C8AA}"/>
              </a:ext>
            </a:extLst>
          </p:cNvPr>
          <p:cNvSpPr/>
          <p:nvPr/>
        </p:nvSpPr>
        <p:spPr>
          <a:xfrm>
            <a:off x="7229534" y="5720186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6" name="Freeform 16">
            <a:extLst>
              <a:ext uri="{FF2B5EF4-FFF2-40B4-BE49-F238E27FC236}">
                <a16:creationId xmlns:a16="http://schemas.microsoft.com/office/drawing/2014/main" id="{0C9DA50A-B261-44FB-C64E-06B10F5734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5" name="Ellipse 224">
            <a:extLst>
              <a:ext uri="{FF2B5EF4-FFF2-40B4-BE49-F238E27FC236}">
                <a16:creationId xmlns:a16="http://schemas.microsoft.com/office/drawing/2014/main" id="{D610638F-3106-71CD-0F38-187A053D2226}"/>
              </a:ext>
            </a:extLst>
          </p:cNvPr>
          <p:cNvSpPr/>
          <p:nvPr/>
        </p:nvSpPr>
        <p:spPr>
          <a:xfrm>
            <a:off x="7984393" y="572018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1869372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Freeform 17">
            <a:extLst>
              <a:ext uri="{FF2B5EF4-FFF2-40B4-BE49-F238E27FC236}">
                <a16:creationId xmlns:a16="http://schemas.microsoft.com/office/drawing/2014/main" id="{256D2096-13D6-E7ED-4C38-8A9F822F47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5" name="Freeform 3">
            <a:extLst>
              <a:ext uri="{FF2B5EF4-FFF2-40B4-BE49-F238E27FC236}">
                <a16:creationId xmlns:a16="http://schemas.microsoft.com/office/drawing/2014/main" id="{DE8A6BF1-91F9-86F3-A934-21EC80313B99}"/>
              </a:ext>
            </a:extLst>
          </p:cNvPr>
          <p:cNvSpPr/>
          <p:nvPr/>
        </p:nvSpPr>
        <p:spPr>
          <a:xfrm>
            <a:off x="198112" y="1809957"/>
            <a:ext cx="17899122" cy="5711668"/>
          </a:xfrm>
          <a:custGeom>
            <a:avLst/>
            <a:gdLst/>
            <a:ahLst/>
            <a:cxnLst/>
            <a:rect l="l" t="t" r="r" b="b"/>
            <a:pathLst>
              <a:path w="4697521" h="1472998">
                <a:moveTo>
                  <a:pt x="0" y="0"/>
                </a:moveTo>
                <a:lnTo>
                  <a:pt x="4697521" y="0"/>
                </a:lnTo>
                <a:lnTo>
                  <a:pt x="4697521" y="1472998"/>
                </a:lnTo>
                <a:lnTo>
                  <a:pt x="0" y="147299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6" name="Freeform 11">
            <a:extLst>
              <a:ext uri="{FF2B5EF4-FFF2-40B4-BE49-F238E27FC236}">
                <a16:creationId xmlns:a16="http://schemas.microsoft.com/office/drawing/2014/main" id="{D5511B37-1FDF-6E02-77EC-359C8F6C754C}"/>
              </a:ext>
            </a:extLst>
          </p:cNvPr>
          <p:cNvSpPr/>
          <p:nvPr/>
        </p:nvSpPr>
        <p:spPr>
          <a:xfrm>
            <a:off x="198111" y="7955607"/>
            <a:ext cx="17899122" cy="2217093"/>
          </a:xfrm>
          <a:custGeom>
            <a:avLst/>
            <a:gdLst/>
            <a:ahLst/>
            <a:cxnLst/>
            <a:rect l="l" t="t" r="r" b="b"/>
            <a:pathLst>
              <a:path w="4697521" h="583926">
                <a:moveTo>
                  <a:pt x="0" y="0"/>
                </a:moveTo>
                <a:lnTo>
                  <a:pt x="4697521" y="0"/>
                </a:lnTo>
                <a:lnTo>
                  <a:pt x="4697521" y="583926"/>
                </a:lnTo>
                <a:lnTo>
                  <a:pt x="0" y="58392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Auto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AutoShape 7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AutoShape 8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AutoShape 9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8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20" name="TextBox 2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21" name="TextBox 2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22" name="TextBox 2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23" name="TextBox 2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24" name="TextBox 2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317" name="Freeform 135">
            <a:extLst>
              <a:ext uri="{FF2B5EF4-FFF2-40B4-BE49-F238E27FC236}">
                <a16:creationId xmlns:a16="http://schemas.microsoft.com/office/drawing/2014/main" id="{67B1BB96-82E4-AA5B-CB3D-9F2BAFC35CC7}"/>
              </a:ext>
            </a:extLst>
          </p:cNvPr>
          <p:cNvSpPr/>
          <p:nvPr/>
        </p:nvSpPr>
        <p:spPr>
          <a:xfrm>
            <a:off x="15263254" y="3276918"/>
            <a:ext cx="2656811" cy="760051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Physical 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8" name="Freeform 135">
            <a:extLst>
              <a:ext uri="{FF2B5EF4-FFF2-40B4-BE49-F238E27FC236}">
                <a16:creationId xmlns:a16="http://schemas.microsoft.com/office/drawing/2014/main" id="{04484BB4-4AF1-6201-E187-59082B06BE9D}"/>
              </a:ext>
            </a:extLst>
          </p:cNvPr>
          <p:cNvSpPr/>
          <p:nvPr/>
        </p:nvSpPr>
        <p:spPr>
          <a:xfrm>
            <a:off x="6429244" y="3577714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1334" y="1665296"/>
            <a:ext cx="17835899" cy="573744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7" name="Freeform 32">
            <a:extLst>
              <a:ext uri="{FF2B5EF4-FFF2-40B4-BE49-F238E27FC236}">
                <a16:creationId xmlns:a16="http://schemas.microsoft.com/office/drawing/2014/main" id="{65CC4DC4-BAB2-E945-BA1C-900A1DEC8F70}"/>
              </a:ext>
            </a:extLst>
          </p:cNvPr>
          <p:cNvSpPr/>
          <p:nvPr/>
        </p:nvSpPr>
        <p:spPr>
          <a:xfrm>
            <a:off x="3479568" y="3792842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Filtrage +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268" name="Ellipse 267">
            <a:extLst>
              <a:ext uri="{FF2B5EF4-FFF2-40B4-BE49-F238E27FC236}">
                <a16:creationId xmlns:a16="http://schemas.microsoft.com/office/drawing/2014/main" id="{B8B021D4-CE2F-D26C-A258-874EB6623CBD}"/>
              </a:ext>
            </a:extLst>
          </p:cNvPr>
          <p:cNvSpPr/>
          <p:nvPr/>
        </p:nvSpPr>
        <p:spPr>
          <a:xfrm>
            <a:off x="3460350" y="446536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8111" y="7810946"/>
            <a:ext cx="17835899" cy="23617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1" name="Freeform 32">
            <a:extLst>
              <a:ext uri="{FF2B5EF4-FFF2-40B4-BE49-F238E27FC236}">
                <a16:creationId xmlns:a16="http://schemas.microsoft.com/office/drawing/2014/main" id="{D5586FB4-D6DC-1769-0594-8C7E300D7442}"/>
              </a:ext>
            </a:extLst>
          </p:cNvPr>
          <p:cNvSpPr/>
          <p:nvPr/>
        </p:nvSpPr>
        <p:spPr>
          <a:xfrm>
            <a:off x="453654" y="8362422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Classe puzzle couches-mines</a:t>
            </a:r>
          </a:p>
        </p:txBody>
      </p:sp>
      <p:sp>
        <p:nvSpPr>
          <p:cNvPr id="262" name="Ellipse 261">
            <a:extLst>
              <a:ext uri="{FF2B5EF4-FFF2-40B4-BE49-F238E27FC236}">
                <a16:creationId xmlns:a16="http://schemas.microsoft.com/office/drawing/2014/main" id="{7B0FB656-14F3-A818-FB95-A2A7CB83361C}"/>
              </a:ext>
            </a:extLst>
          </p:cNvPr>
          <p:cNvSpPr/>
          <p:nvPr/>
        </p:nvSpPr>
        <p:spPr>
          <a:xfrm>
            <a:off x="434436" y="903494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1" name="Freeform 26">
            <a:extLst>
              <a:ext uri="{FF2B5EF4-FFF2-40B4-BE49-F238E27FC236}">
                <a16:creationId xmlns:a16="http://schemas.microsoft.com/office/drawing/2014/main" id="{A44B28F8-A632-263B-80E2-33EE8471380F}"/>
              </a:ext>
            </a:extLst>
          </p:cNvPr>
          <p:cNvSpPr/>
          <p:nvPr/>
        </p:nvSpPr>
        <p:spPr>
          <a:xfrm>
            <a:off x="425501" y="4370710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Final IMA</a:t>
            </a:r>
          </a:p>
        </p:txBody>
      </p:sp>
      <p:sp>
        <p:nvSpPr>
          <p:cNvPr id="26" name="Freeform 26"/>
          <p:cNvSpPr/>
          <p:nvPr/>
        </p:nvSpPr>
        <p:spPr>
          <a:xfrm>
            <a:off x="453654" y="3200763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453654" y="5535626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Remise à niveau optique</a:t>
            </a:r>
          </a:p>
        </p:txBody>
      </p:sp>
      <p:sp>
        <p:nvSpPr>
          <p:cNvPr id="49" name="Freeform 49"/>
          <p:cNvSpPr/>
          <p:nvPr/>
        </p:nvSpPr>
        <p:spPr>
          <a:xfrm>
            <a:off x="2435101" y="446329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8" name="Freeform 158"/>
          <p:cNvSpPr/>
          <p:nvPr/>
        </p:nvSpPr>
        <p:spPr>
          <a:xfrm>
            <a:off x="8446198" y="365190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7" name="Freeform 25">
            <a:extLst>
              <a:ext uri="{FF2B5EF4-FFF2-40B4-BE49-F238E27FC236}">
                <a16:creationId xmlns:a16="http://schemas.microsoft.com/office/drawing/2014/main" id="{87D0134C-0529-28C2-D88C-8041DEDA41F5}"/>
              </a:ext>
            </a:extLst>
          </p:cNvPr>
          <p:cNvSpPr/>
          <p:nvPr/>
        </p:nvSpPr>
        <p:spPr>
          <a:xfrm>
            <a:off x="422712" y="7683181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238" name="Freeform 25">
            <a:extLst>
              <a:ext uri="{FF2B5EF4-FFF2-40B4-BE49-F238E27FC236}">
                <a16:creationId xmlns:a16="http://schemas.microsoft.com/office/drawing/2014/main" id="{46B1D76B-88DD-4F0E-3205-156773D53B0D}"/>
              </a:ext>
            </a:extLst>
          </p:cNvPr>
          <p:cNvSpPr/>
          <p:nvPr/>
        </p:nvSpPr>
        <p:spPr>
          <a:xfrm>
            <a:off x="430570" y="151491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453654" y="2044327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</a:p>
        </p:txBody>
      </p:sp>
      <p:sp>
        <p:nvSpPr>
          <p:cNvPr id="246" name="Ellipse 245">
            <a:extLst>
              <a:ext uri="{FF2B5EF4-FFF2-40B4-BE49-F238E27FC236}">
                <a16:creationId xmlns:a16="http://schemas.microsoft.com/office/drawing/2014/main" id="{ED2567D8-B159-C4E4-D0A4-708297F9E4A0}"/>
              </a:ext>
            </a:extLst>
          </p:cNvPr>
          <p:cNvSpPr/>
          <p:nvPr/>
        </p:nvSpPr>
        <p:spPr>
          <a:xfrm>
            <a:off x="1131360" y="246699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47" name="Ellipse 246">
            <a:extLst>
              <a:ext uri="{FF2B5EF4-FFF2-40B4-BE49-F238E27FC236}">
                <a16:creationId xmlns:a16="http://schemas.microsoft.com/office/drawing/2014/main" id="{3B511F1A-ABB8-F991-0B56-3CD95DBBF2DF}"/>
              </a:ext>
            </a:extLst>
          </p:cNvPr>
          <p:cNvSpPr/>
          <p:nvPr/>
        </p:nvSpPr>
        <p:spPr>
          <a:xfrm>
            <a:off x="1819176" y="245343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49" name="Ellipse 248">
            <a:extLst>
              <a:ext uri="{FF2B5EF4-FFF2-40B4-BE49-F238E27FC236}">
                <a16:creationId xmlns:a16="http://schemas.microsoft.com/office/drawing/2014/main" id="{A4C06A98-C674-50FD-ACA5-EB194FDE2551}"/>
              </a:ext>
            </a:extLst>
          </p:cNvPr>
          <p:cNvSpPr/>
          <p:nvPr/>
        </p:nvSpPr>
        <p:spPr>
          <a:xfrm>
            <a:off x="434436" y="36159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3" name="Ellipse 252">
            <a:extLst>
              <a:ext uri="{FF2B5EF4-FFF2-40B4-BE49-F238E27FC236}">
                <a16:creationId xmlns:a16="http://schemas.microsoft.com/office/drawing/2014/main" id="{E362A8F0-A413-A792-9C09-DD68085C4285}"/>
              </a:ext>
            </a:extLst>
          </p:cNvPr>
          <p:cNvSpPr/>
          <p:nvPr/>
        </p:nvSpPr>
        <p:spPr>
          <a:xfrm>
            <a:off x="434436" y="478964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4" name="Ellipse 253">
            <a:extLst>
              <a:ext uri="{FF2B5EF4-FFF2-40B4-BE49-F238E27FC236}">
                <a16:creationId xmlns:a16="http://schemas.microsoft.com/office/drawing/2014/main" id="{FEB1F0AA-7E9C-74BF-12D7-2151E1BCBEBA}"/>
              </a:ext>
            </a:extLst>
          </p:cNvPr>
          <p:cNvSpPr/>
          <p:nvPr/>
        </p:nvSpPr>
        <p:spPr>
          <a:xfrm>
            <a:off x="1125264" y="4791539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55" name="Ellipse 254">
            <a:extLst>
              <a:ext uri="{FF2B5EF4-FFF2-40B4-BE49-F238E27FC236}">
                <a16:creationId xmlns:a16="http://schemas.microsoft.com/office/drawing/2014/main" id="{194BD6B4-6F81-A909-1353-40E71499620B}"/>
              </a:ext>
            </a:extLst>
          </p:cNvPr>
          <p:cNvSpPr/>
          <p:nvPr/>
        </p:nvSpPr>
        <p:spPr>
          <a:xfrm>
            <a:off x="434436" y="620814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7" name="Ellipse 256">
            <a:extLst>
              <a:ext uri="{FF2B5EF4-FFF2-40B4-BE49-F238E27FC236}">
                <a16:creationId xmlns:a16="http://schemas.microsoft.com/office/drawing/2014/main" id="{D6B68BEB-70EF-91D7-F5E6-F61A3A9988FE}"/>
              </a:ext>
            </a:extLst>
          </p:cNvPr>
          <p:cNvSpPr/>
          <p:nvPr/>
        </p:nvSpPr>
        <p:spPr>
          <a:xfrm>
            <a:off x="437491" y="246013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0" name="Ellipse 259">
            <a:extLst>
              <a:ext uri="{FF2B5EF4-FFF2-40B4-BE49-F238E27FC236}">
                <a16:creationId xmlns:a16="http://schemas.microsoft.com/office/drawing/2014/main" id="{63706168-A249-D936-F0C5-FF529B16693E}"/>
              </a:ext>
            </a:extLst>
          </p:cNvPr>
          <p:cNvSpPr/>
          <p:nvPr/>
        </p:nvSpPr>
        <p:spPr>
          <a:xfrm>
            <a:off x="2495424" y="620539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63" name="Freeform 135">
            <a:extLst>
              <a:ext uri="{FF2B5EF4-FFF2-40B4-BE49-F238E27FC236}">
                <a16:creationId xmlns:a16="http://schemas.microsoft.com/office/drawing/2014/main" id="{C39BAAAF-85A0-5416-EB95-AD980C24A538}"/>
              </a:ext>
            </a:extLst>
          </p:cNvPr>
          <p:cNvSpPr/>
          <p:nvPr/>
        </p:nvSpPr>
        <p:spPr>
          <a:xfrm>
            <a:off x="3479882" y="2044327"/>
            <a:ext cx="2572160" cy="991698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 (programmation avancée)</a:t>
            </a:r>
          </a:p>
        </p:txBody>
      </p:sp>
      <p:sp>
        <p:nvSpPr>
          <p:cNvPr id="264" name="Ellipse 263">
            <a:extLst>
              <a:ext uri="{FF2B5EF4-FFF2-40B4-BE49-F238E27FC236}">
                <a16:creationId xmlns:a16="http://schemas.microsoft.com/office/drawing/2014/main" id="{39481F98-C564-8437-3EFB-2BFC010A4784}"/>
              </a:ext>
            </a:extLst>
          </p:cNvPr>
          <p:cNvSpPr/>
          <p:nvPr/>
        </p:nvSpPr>
        <p:spPr>
          <a:xfrm>
            <a:off x="4154219" y="29808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65" name="Ellipse 264">
            <a:extLst>
              <a:ext uri="{FF2B5EF4-FFF2-40B4-BE49-F238E27FC236}">
                <a16:creationId xmlns:a16="http://schemas.microsoft.com/office/drawing/2014/main" id="{6B534FCD-9152-A8DC-1ED8-F99B37F4C9EA}"/>
              </a:ext>
            </a:extLst>
          </p:cNvPr>
          <p:cNvSpPr/>
          <p:nvPr/>
        </p:nvSpPr>
        <p:spPr>
          <a:xfrm>
            <a:off x="4842035" y="296731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66" name="Ellipse 265">
            <a:extLst>
              <a:ext uri="{FF2B5EF4-FFF2-40B4-BE49-F238E27FC236}">
                <a16:creationId xmlns:a16="http://schemas.microsoft.com/office/drawing/2014/main" id="{50458415-5692-E580-7120-6F45D1216D4C}"/>
              </a:ext>
            </a:extLst>
          </p:cNvPr>
          <p:cNvSpPr/>
          <p:nvPr/>
        </p:nvSpPr>
        <p:spPr>
          <a:xfrm>
            <a:off x="3460350" y="2974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9" name="Ellipse 268">
            <a:extLst>
              <a:ext uri="{FF2B5EF4-FFF2-40B4-BE49-F238E27FC236}">
                <a16:creationId xmlns:a16="http://schemas.microsoft.com/office/drawing/2014/main" id="{C75814D6-C2A1-A69C-B804-F2E5D6C28081}"/>
              </a:ext>
            </a:extLst>
          </p:cNvPr>
          <p:cNvSpPr/>
          <p:nvPr/>
        </p:nvSpPr>
        <p:spPr>
          <a:xfrm>
            <a:off x="4845404" y="446619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0" name="Freeform 32">
            <a:extLst>
              <a:ext uri="{FF2B5EF4-FFF2-40B4-BE49-F238E27FC236}">
                <a16:creationId xmlns:a16="http://schemas.microsoft.com/office/drawing/2014/main" id="{26C438CA-604A-F9D3-A72A-A969509BB196}"/>
              </a:ext>
            </a:extLst>
          </p:cNvPr>
          <p:cNvSpPr/>
          <p:nvPr/>
        </p:nvSpPr>
        <p:spPr>
          <a:xfrm>
            <a:off x="3479568" y="5262414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Sources mesures photométriques</a:t>
            </a:r>
          </a:p>
        </p:txBody>
      </p:sp>
      <p:sp>
        <p:nvSpPr>
          <p:cNvPr id="271" name="Ellipse 270">
            <a:extLst>
              <a:ext uri="{FF2B5EF4-FFF2-40B4-BE49-F238E27FC236}">
                <a16:creationId xmlns:a16="http://schemas.microsoft.com/office/drawing/2014/main" id="{484B4D55-8122-A92D-F4EB-22A32A59C460}"/>
              </a:ext>
            </a:extLst>
          </p:cNvPr>
          <p:cNvSpPr/>
          <p:nvPr/>
        </p:nvSpPr>
        <p:spPr>
          <a:xfrm>
            <a:off x="3460350" y="593493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72" name="Ellipse 271">
            <a:extLst>
              <a:ext uri="{FF2B5EF4-FFF2-40B4-BE49-F238E27FC236}">
                <a16:creationId xmlns:a16="http://schemas.microsoft.com/office/drawing/2014/main" id="{338D98DA-6C67-A284-B9C3-8D3AF184CAFB}"/>
              </a:ext>
            </a:extLst>
          </p:cNvPr>
          <p:cNvSpPr/>
          <p:nvPr/>
        </p:nvSpPr>
        <p:spPr>
          <a:xfrm>
            <a:off x="4157588" y="593844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73" name="Freeform 135">
            <a:extLst>
              <a:ext uri="{FF2B5EF4-FFF2-40B4-BE49-F238E27FC236}">
                <a16:creationId xmlns:a16="http://schemas.microsoft.com/office/drawing/2014/main" id="{8D53D4FF-10EE-DAEC-469A-3EA693CA4FC8}"/>
              </a:ext>
            </a:extLst>
          </p:cNvPr>
          <p:cNvSpPr/>
          <p:nvPr/>
        </p:nvSpPr>
        <p:spPr>
          <a:xfrm>
            <a:off x="6429911" y="2044327"/>
            <a:ext cx="137795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4" name="Freeform 135">
            <a:extLst>
              <a:ext uri="{FF2B5EF4-FFF2-40B4-BE49-F238E27FC236}">
                <a16:creationId xmlns:a16="http://schemas.microsoft.com/office/drawing/2014/main" id="{334AB5F3-756E-55FD-4E35-010F8E4A1D19}"/>
              </a:ext>
            </a:extLst>
          </p:cNvPr>
          <p:cNvSpPr/>
          <p:nvPr/>
        </p:nvSpPr>
        <p:spPr>
          <a:xfrm>
            <a:off x="7807866" y="2044327"/>
            <a:ext cx="119651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STM8</a:t>
            </a:r>
          </a:p>
        </p:txBody>
      </p:sp>
      <p:sp>
        <p:nvSpPr>
          <p:cNvPr id="275" name="Freeform 135">
            <a:extLst>
              <a:ext uri="{FF2B5EF4-FFF2-40B4-BE49-F238E27FC236}">
                <a16:creationId xmlns:a16="http://schemas.microsoft.com/office/drawing/2014/main" id="{422409BA-B9B5-B0FD-4E4B-746AC5E20E0D}"/>
              </a:ext>
            </a:extLst>
          </p:cNvPr>
          <p:cNvSpPr/>
          <p:nvPr/>
        </p:nvSpPr>
        <p:spPr>
          <a:xfrm>
            <a:off x="6429244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Automatique</a:t>
            </a:r>
          </a:p>
        </p:txBody>
      </p:sp>
      <p:sp>
        <p:nvSpPr>
          <p:cNvPr id="276" name="Ellipse 275">
            <a:extLst>
              <a:ext uri="{FF2B5EF4-FFF2-40B4-BE49-F238E27FC236}">
                <a16:creationId xmlns:a16="http://schemas.microsoft.com/office/drawing/2014/main" id="{62119C7D-F878-2C32-B04E-12E5A7C46AE2}"/>
              </a:ext>
            </a:extLst>
          </p:cNvPr>
          <p:cNvSpPr/>
          <p:nvPr/>
        </p:nvSpPr>
        <p:spPr>
          <a:xfrm>
            <a:off x="7809405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7" name="Ellipse 276">
            <a:extLst>
              <a:ext uri="{FF2B5EF4-FFF2-40B4-BE49-F238E27FC236}">
                <a16:creationId xmlns:a16="http://schemas.microsoft.com/office/drawing/2014/main" id="{3F36850B-AF14-791C-E0AF-B24E81D10310}"/>
              </a:ext>
            </a:extLst>
          </p:cNvPr>
          <p:cNvSpPr/>
          <p:nvPr/>
        </p:nvSpPr>
        <p:spPr>
          <a:xfrm>
            <a:off x="6427720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79" name="Freeform 135">
            <a:extLst>
              <a:ext uri="{FF2B5EF4-FFF2-40B4-BE49-F238E27FC236}">
                <a16:creationId xmlns:a16="http://schemas.microsoft.com/office/drawing/2014/main" id="{D6379EF3-9022-09CC-2A02-02E755913804}"/>
              </a:ext>
            </a:extLst>
          </p:cNvPr>
          <p:cNvSpPr/>
          <p:nvPr/>
        </p:nvSpPr>
        <p:spPr>
          <a:xfrm>
            <a:off x="6429244" y="4078938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MEB</a:t>
            </a:r>
          </a:p>
        </p:txBody>
      </p:sp>
      <p:sp>
        <p:nvSpPr>
          <p:cNvPr id="280" name="Ellipse 279">
            <a:extLst>
              <a:ext uri="{FF2B5EF4-FFF2-40B4-BE49-F238E27FC236}">
                <a16:creationId xmlns:a16="http://schemas.microsoft.com/office/drawing/2014/main" id="{7C21E02C-3D28-6600-A112-8829CB2E823F}"/>
              </a:ext>
            </a:extLst>
          </p:cNvPr>
          <p:cNvSpPr/>
          <p:nvPr/>
        </p:nvSpPr>
        <p:spPr>
          <a:xfrm>
            <a:off x="6427720" y="446461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1" name="Freeform 32">
            <a:extLst>
              <a:ext uri="{FF2B5EF4-FFF2-40B4-BE49-F238E27FC236}">
                <a16:creationId xmlns:a16="http://schemas.microsoft.com/office/drawing/2014/main" id="{0B3E86B3-4F0B-10C3-0C5E-62991E0AF7BB}"/>
              </a:ext>
            </a:extLst>
          </p:cNvPr>
          <p:cNvSpPr/>
          <p:nvPr/>
        </p:nvSpPr>
        <p:spPr>
          <a:xfrm>
            <a:off x="6429244" y="5121227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72000" rIns="72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 environnementaux</a:t>
            </a: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357DB9F7-8619-0E2B-A014-B868FE3D2D4F}"/>
              </a:ext>
            </a:extLst>
          </p:cNvPr>
          <p:cNvSpPr/>
          <p:nvPr/>
        </p:nvSpPr>
        <p:spPr>
          <a:xfrm>
            <a:off x="8471014" y="579099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83" name="Freeform 135">
            <a:extLst>
              <a:ext uri="{FF2B5EF4-FFF2-40B4-BE49-F238E27FC236}">
                <a16:creationId xmlns:a16="http://schemas.microsoft.com/office/drawing/2014/main" id="{C46ADC1E-98F4-4AA4-D011-5FCE5EE4CD40}"/>
              </a:ext>
            </a:extLst>
          </p:cNvPr>
          <p:cNvSpPr/>
          <p:nvPr/>
        </p:nvSpPr>
        <p:spPr>
          <a:xfrm>
            <a:off x="6429913" y="6453041"/>
            <a:ext cx="109645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Procédé</a:t>
            </a:r>
          </a:p>
        </p:txBody>
      </p:sp>
      <p:sp>
        <p:nvSpPr>
          <p:cNvPr id="284" name="Freeform 135">
            <a:extLst>
              <a:ext uri="{FF2B5EF4-FFF2-40B4-BE49-F238E27FC236}">
                <a16:creationId xmlns:a16="http://schemas.microsoft.com/office/drawing/2014/main" id="{1738B520-EFD5-978E-44A8-524E18A7E711}"/>
              </a:ext>
            </a:extLst>
          </p:cNvPr>
          <p:cNvSpPr/>
          <p:nvPr/>
        </p:nvSpPr>
        <p:spPr>
          <a:xfrm>
            <a:off x="7526362" y="6453041"/>
            <a:ext cx="1478016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Composant</a:t>
            </a:r>
          </a:p>
        </p:txBody>
      </p:sp>
      <p:sp>
        <p:nvSpPr>
          <p:cNvPr id="286" name="Ellipse 285">
            <a:extLst>
              <a:ext uri="{FF2B5EF4-FFF2-40B4-BE49-F238E27FC236}">
                <a16:creationId xmlns:a16="http://schemas.microsoft.com/office/drawing/2014/main" id="{97BF80E1-FF40-FBAC-0979-795C92445540}"/>
              </a:ext>
            </a:extLst>
          </p:cNvPr>
          <p:cNvSpPr/>
          <p:nvPr/>
        </p:nvSpPr>
        <p:spPr>
          <a:xfrm>
            <a:off x="7129528" y="687194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92" name="Freeform 135">
            <a:extLst>
              <a:ext uri="{FF2B5EF4-FFF2-40B4-BE49-F238E27FC236}">
                <a16:creationId xmlns:a16="http://schemas.microsoft.com/office/drawing/2014/main" id="{2B467402-F5FE-1A66-9179-595FD49BAB9C}"/>
              </a:ext>
            </a:extLst>
          </p:cNvPr>
          <p:cNvSpPr/>
          <p:nvPr/>
        </p:nvSpPr>
        <p:spPr>
          <a:xfrm>
            <a:off x="9376311" y="2044327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Cyber sécurité (3)</a:t>
            </a:r>
          </a:p>
        </p:txBody>
      </p:sp>
      <p:sp>
        <p:nvSpPr>
          <p:cNvPr id="294" name="Freeform 135">
            <a:extLst>
              <a:ext uri="{FF2B5EF4-FFF2-40B4-BE49-F238E27FC236}">
                <a16:creationId xmlns:a16="http://schemas.microsoft.com/office/drawing/2014/main" id="{7755C13F-B92F-5504-D346-9BD008590F7F}"/>
              </a:ext>
            </a:extLst>
          </p:cNvPr>
          <p:cNvSpPr/>
          <p:nvPr/>
        </p:nvSpPr>
        <p:spPr>
          <a:xfrm>
            <a:off x="9375644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Bases de données</a:t>
            </a:r>
          </a:p>
        </p:txBody>
      </p:sp>
      <p:sp>
        <p:nvSpPr>
          <p:cNvPr id="295" name="Ellipse 294">
            <a:extLst>
              <a:ext uri="{FF2B5EF4-FFF2-40B4-BE49-F238E27FC236}">
                <a16:creationId xmlns:a16="http://schemas.microsoft.com/office/drawing/2014/main" id="{62A4AD64-FDED-2CC6-405E-9337A1A338CF}"/>
              </a:ext>
            </a:extLst>
          </p:cNvPr>
          <p:cNvSpPr/>
          <p:nvPr/>
        </p:nvSpPr>
        <p:spPr>
          <a:xfrm>
            <a:off x="10755805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96" name="Ellipse 295">
            <a:extLst>
              <a:ext uri="{FF2B5EF4-FFF2-40B4-BE49-F238E27FC236}">
                <a16:creationId xmlns:a16="http://schemas.microsoft.com/office/drawing/2014/main" id="{9A94E079-826B-F462-7FC6-F9918673DDA1}"/>
              </a:ext>
            </a:extLst>
          </p:cNvPr>
          <p:cNvSpPr/>
          <p:nvPr/>
        </p:nvSpPr>
        <p:spPr>
          <a:xfrm>
            <a:off x="9374120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97" name="Freeform 135">
            <a:extLst>
              <a:ext uri="{FF2B5EF4-FFF2-40B4-BE49-F238E27FC236}">
                <a16:creationId xmlns:a16="http://schemas.microsoft.com/office/drawing/2014/main" id="{BCE708A8-9F3F-C03B-06D0-6D8607D436D4}"/>
              </a:ext>
            </a:extLst>
          </p:cNvPr>
          <p:cNvSpPr/>
          <p:nvPr/>
        </p:nvSpPr>
        <p:spPr>
          <a:xfrm>
            <a:off x="9376311" y="3895704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Laser</a:t>
            </a:r>
          </a:p>
        </p:txBody>
      </p:sp>
      <p:sp>
        <p:nvSpPr>
          <p:cNvPr id="298" name="Freeform 135">
            <a:extLst>
              <a:ext uri="{FF2B5EF4-FFF2-40B4-BE49-F238E27FC236}">
                <a16:creationId xmlns:a16="http://schemas.microsoft.com/office/drawing/2014/main" id="{1237BB4B-089E-C169-AF4A-6D42E60A3DB4}"/>
              </a:ext>
            </a:extLst>
          </p:cNvPr>
          <p:cNvSpPr/>
          <p:nvPr/>
        </p:nvSpPr>
        <p:spPr>
          <a:xfrm>
            <a:off x="9375643" y="4384543"/>
            <a:ext cx="258769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Optronique</a:t>
            </a:r>
          </a:p>
        </p:txBody>
      </p:sp>
      <p:sp>
        <p:nvSpPr>
          <p:cNvPr id="300" name="Ellipse 299">
            <a:extLst>
              <a:ext uri="{FF2B5EF4-FFF2-40B4-BE49-F238E27FC236}">
                <a16:creationId xmlns:a16="http://schemas.microsoft.com/office/drawing/2014/main" id="{1F2F47D3-B54D-C2AD-2B3E-980DB70EDE24}"/>
              </a:ext>
            </a:extLst>
          </p:cNvPr>
          <p:cNvSpPr/>
          <p:nvPr/>
        </p:nvSpPr>
        <p:spPr>
          <a:xfrm>
            <a:off x="9374120" y="481376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1" name="Ellipse 300">
            <a:extLst>
              <a:ext uri="{FF2B5EF4-FFF2-40B4-BE49-F238E27FC236}">
                <a16:creationId xmlns:a16="http://schemas.microsoft.com/office/drawing/2014/main" id="{54F99297-0521-41C9-4100-05883B77B1BB}"/>
              </a:ext>
            </a:extLst>
          </p:cNvPr>
          <p:cNvSpPr/>
          <p:nvPr/>
        </p:nvSpPr>
        <p:spPr>
          <a:xfrm>
            <a:off x="10070575" y="481038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02" name="Freeform 135">
            <a:extLst>
              <a:ext uri="{FF2B5EF4-FFF2-40B4-BE49-F238E27FC236}">
                <a16:creationId xmlns:a16="http://schemas.microsoft.com/office/drawing/2014/main" id="{78868E14-E25F-1E67-E6D8-66CA493B6D37}"/>
              </a:ext>
            </a:extLst>
          </p:cNvPr>
          <p:cNvSpPr/>
          <p:nvPr/>
        </p:nvSpPr>
        <p:spPr>
          <a:xfrm>
            <a:off x="12334000" y="2044327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Computer Vision</a:t>
            </a:r>
          </a:p>
        </p:txBody>
      </p:sp>
      <p:sp>
        <p:nvSpPr>
          <p:cNvPr id="303" name="Freeform 135">
            <a:extLst>
              <a:ext uri="{FF2B5EF4-FFF2-40B4-BE49-F238E27FC236}">
                <a16:creationId xmlns:a16="http://schemas.microsoft.com/office/drawing/2014/main" id="{966AC4AA-9557-5DF9-37AF-1F466E35F26D}"/>
              </a:ext>
            </a:extLst>
          </p:cNvPr>
          <p:cNvSpPr/>
          <p:nvPr/>
        </p:nvSpPr>
        <p:spPr>
          <a:xfrm>
            <a:off x="12333333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6" name="Ellipse 305">
            <a:extLst>
              <a:ext uri="{FF2B5EF4-FFF2-40B4-BE49-F238E27FC236}">
                <a16:creationId xmlns:a16="http://schemas.microsoft.com/office/drawing/2014/main" id="{A6C6238D-D914-21EE-0E4F-FE178699489E}"/>
              </a:ext>
            </a:extLst>
          </p:cNvPr>
          <p:cNvSpPr/>
          <p:nvPr/>
        </p:nvSpPr>
        <p:spPr>
          <a:xfrm>
            <a:off x="13724783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07" name="Ellipse 306">
            <a:extLst>
              <a:ext uri="{FF2B5EF4-FFF2-40B4-BE49-F238E27FC236}">
                <a16:creationId xmlns:a16="http://schemas.microsoft.com/office/drawing/2014/main" id="{841B2546-1217-864C-F9B9-2FA049BD3A71}"/>
              </a:ext>
            </a:extLst>
          </p:cNvPr>
          <p:cNvSpPr/>
          <p:nvPr/>
        </p:nvSpPr>
        <p:spPr>
          <a:xfrm>
            <a:off x="12343098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8" name="Freeform 135">
            <a:extLst>
              <a:ext uri="{FF2B5EF4-FFF2-40B4-BE49-F238E27FC236}">
                <a16:creationId xmlns:a16="http://schemas.microsoft.com/office/drawing/2014/main" id="{F8B37E46-04C2-2CB2-BF99-306E2E5EFDB5}"/>
              </a:ext>
            </a:extLst>
          </p:cNvPr>
          <p:cNvSpPr/>
          <p:nvPr/>
        </p:nvSpPr>
        <p:spPr>
          <a:xfrm>
            <a:off x="15263254" y="2044184"/>
            <a:ext cx="26519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</p:txBody>
      </p:sp>
      <p:sp>
        <p:nvSpPr>
          <p:cNvPr id="309" name="Ellipse 308">
            <a:extLst>
              <a:ext uri="{FF2B5EF4-FFF2-40B4-BE49-F238E27FC236}">
                <a16:creationId xmlns:a16="http://schemas.microsoft.com/office/drawing/2014/main" id="{2931E7A6-20F4-2812-2947-9FF5907F4066}"/>
              </a:ext>
            </a:extLst>
          </p:cNvPr>
          <p:cNvSpPr/>
          <p:nvPr/>
        </p:nvSpPr>
        <p:spPr>
          <a:xfrm>
            <a:off x="16628777" y="2453295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10" name="Ellipse 309">
            <a:extLst>
              <a:ext uri="{FF2B5EF4-FFF2-40B4-BE49-F238E27FC236}">
                <a16:creationId xmlns:a16="http://schemas.microsoft.com/office/drawing/2014/main" id="{EFE96614-F7B6-FA8D-4D33-37563FBE789E}"/>
              </a:ext>
            </a:extLst>
          </p:cNvPr>
          <p:cNvSpPr/>
          <p:nvPr/>
        </p:nvSpPr>
        <p:spPr>
          <a:xfrm>
            <a:off x="15240000" y="244869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13" name="Ellipse 312">
            <a:extLst>
              <a:ext uri="{FF2B5EF4-FFF2-40B4-BE49-F238E27FC236}">
                <a16:creationId xmlns:a16="http://schemas.microsoft.com/office/drawing/2014/main" id="{0642F095-1C1A-E5D7-BE5B-11CEE0502F39}"/>
              </a:ext>
            </a:extLst>
          </p:cNvPr>
          <p:cNvSpPr/>
          <p:nvPr/>
        </p:nvSpPr>
        <p:spPr>
          <a:xfrm>
            <a:off x="15936375" y="399671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14" name="Ellipse 313">
            <a:extLst>
              <a:ext uri="{FF2B5EF4-FFF2-40B4-BE49-F238E27FC236}">
                <a16:creationId xmlns:a16="http://schemas.microsoft.com/office/drawing/2014/main" id="{194E1DCD-F68B-9759-B02F-90BCF5A56CCF}"/>
              </a:ext>
            </a:extLst>
          </p:cNvPr>
          <p:cNvSpPr/>
          <p:nvPr/>
        </p:nvSpPr>
        <p:spPr>
          <a:xfrm>
            <a:off x="16628776" y="399696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15" name="Freeform 135">
            <a:extLst>
              <a:ext uri="{FF2B5EF4-FFF2-40B4-BE49-F238E27FC236}">
                <a16:creationId xmlns:a16="http://schemas.microsoft.com/office/drawing/2014/main" id="{A006EBE1-B093-9B84-0FE1-8D090557BFE4}"/>
              </a:ext>
            </a:extLst>
          </p:cNvPr>
          <p:cNvSpPr/>
          <p:nvPr/>
        </p:nvSpPr>
        <p:spPr>
          <a:xfrm>
            <a:off x="15239999" y="4808749"/>
            <a:ext cx="26568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</a:t>
            </a:r>
          </a:p>
        </p:txBody>
      </p:sp>
      <p:sp>
        <p:nvSpPr>
          <p:cNvPr id="316" name="Ellipse 315">
            <a:extLst>
              <a:ext uri="{FF2B5EF4-FFF2-40B4-BE49-F238E27FC236}">
                <a16:creationId xmlns:a16="http://schemas.microsoft.com/office/drawing/2014/main" id="{D676E683-83D8-82D1-3C8D-7B626321D69F}"/>
              </a:ext>
            </a:extLst>
          </p:cNvPr>
          <p:cNvSpPr/>
          <p:nvPr/>
        </p:nvSpPr>
        <p:spPr>
          <a:xfrm>
            <a:off x="17370436" y="521790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18" name="Freeform 135">
            <a:extLst>
              <a:ext uri="{FF2B5EF4-FFF2-40B4-BE49-F238E27FC236}">
                <a16:creationId xmlns:a16="http://schemas.microsoft.com/office/drawing/2014/main" id="{03336487-8E18-C23E-4EC2-1E396816E805}"/>
              </a:ext>
            </a:extLst>
          </p:cNvPr>
          <p:cNvSpPr/>
          <p:nvPr/>
        </p:nvSpPr>
        <p:spPr>
          <a:xfrm>
            <a:off x="6429912" y="8149866"/>
            <a:ext cx="254510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320" name="Ellipse 319">
            <a:extLst>
              <a:ext uri="{FF2B5EF4-FFF2-40B4-BE49-F238E27FC236}">
                <a16:creationId xmlns:a16="http://schemas.microsoft.com/office/drawing/2014/main" id="{C94B5BC8-48EE-8C5F-AD5A-DD2B964577B0}"/>
              </a:ext>
            </a:extLst>
          </p:cNvPr>
          <p:cNvSpPr/>
          <p:nvPr/>
        </p:nvSpPr>
        <p:spPr>
          <a:xfrm>
            <a:off x="7129528" y="856876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21" name="Freeform 32">
            <a:extLst>
              <a:ext uri="{FF2B5EF4-FFF2-40B4-BE49-F238E27FC236}">
                <a16:creationId xmlns:a16="http://schemas.microsoft.com/office/drawing/2014/main" id="{3FC19442-D817-B486-D299-54E2521616A1}"/>
              </a:ext>
            </a:extLst>
          </p:cNvPr>
          <p:cNvSpPr/>
          <p:nvPr/>
        </p:nvSpPr>
        <p:spPr>
          <a:xfrm>
            <a:off x="6424680" y="9148261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72000" rIns="72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TD interactions laser</a:t>
            </a:r>
          </a:p>
        </p:txBody>
      </p:sp>
      <p:sp>
        <p:nvSpPr>
          <p:cNvPr id="322" name="Ellipse 321">
            <a:extLst>
              <a:ext uri="{FF2B5EF4-FFF2-40B4-BE49-F238E27FC236}">
                <a16:creationId xmlns:a16="http://schemas.microsoft.com/office/drawing/2014/main" id="{C930007D-7ECE-5594-69AE-5C5738834990}"/>
              </a:ext>
            </a:extLst>
          </p:cNvPr>
          <p:cNvSpPr/>
          <p:nvPr/>
        </p:nvSpPr>
        <p:spPr>
          <a:xfrm>
            <a:off x="6431862" y="955674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23" name="Freeform 135">
            <a:extLst>
              <a:ext uri="{FF2B5EF4-FFF2-40B4-BE49-F238E27FC236}">
                <a16:creationId xmlns:a16="http://schemas.microsoft.com/office/drawing/2014/main" id="{2D9C9099-A5AA-4666-401F-16B317452100}"/>
              </a:ext>
            </a:extLst>
          </p:cNvPr>
          <p:cNvSpPr/>
          <p:nvPr/>
        </p:nvSpPr>
        <p:spPr>
          <a:xfrm>
            <a:off x="9370821" y="8149866"/>
            <a:ext cx="2592514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325" name="Ellipse 324">
            <a:extLst>
              <a:ext uri="{FF2B5EF4-FFF2-40B4-BE49-F238E27FC236}">
                <a16:creationId xmlns:a16="http://schemas.microsoft.com/office/drawing/2014/main" id="{DF5A2F9E-CB08-FEAC-605D-01A6EB8435B9}"/>
              </a:ext>
            </a:extLst>
          </p:cNvPr>
          <p:cNvSpPr/>
          <p:nvPr/>
        </p:nvSpPr>
        <p:spPr>
          <a:xfrm>
            <a:off x="9374120" y="857505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26" name="Ellipse 325">
            <a:extLst>
              <a:ext uri="{FF2B5EF4-FFF2-40B4-BE49-F238E27FC236}">
                <a16:creationId xmlns:a16="http://schemas.microsoft.com/office/drawing/2014/main" id="{A6D57C6D-9200-2B36-817E-068E4F994092}"/>
              </a:ext>
            </a:extLst>
          </p:cNvPr>
          <p:cNvSpPr/>
          <p:nvPr/>
        </p:nvSpPr>
        <p:spPr>
          <a:xfrm>
            <a:off x="11451886" y="858112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7" name="Freeform 135">
            <a:extLst>
              <a:ext uri="{FF2B5EF4-FFF2-40B4-BE49-F238E27FC236}">
                <a16:creationId xmlns:a16="http://schemas.microsoft.com/office/drawing/2014/main" id="{C00F499E-E104-2749-1532-739375D03809}"/>
              </a:ext>
            </a:extLst>
          </p:cNvPr>
          <p:cNvSpPr/>
          <p:nvPr/>
        </p:nvSpPr>
        <p:spPr>
          <a:xfrm>
            <a:off x="12330837" y="8149866"/>
            <a:ext cx="2592514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Plasma</a:t>
            </a:r>
          </a:p>
        </p:txBody>
      </p:sp>
      <p:sp>
        <p:nvSpPr>
          <p:cNvPr id="328" name="Ellipse 327">
            <a:extLst>
              <a:ext uri="{FF2B5EF4-FFF2-40B4-BE49-F238E27FC236}">
                <a16:creationId xmlns:a16="http://schemas.microsoft.com/office/drawing/2014/main" id="{AEFCE3F9-8BFF-BFD3-8AF3-73A85A59EB00}"/>
              </a:ext>
            </a:extLst>
          </p:cNvPr>
          <p:cNvSpPr/>
          <p:nvPr/>
        </p:nvSpPr>
        <p:spPr>
          <a:xfrm>
            <a:off x="14411902" y="858112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9" name="Ellipse 328">
            <a:extLst>
              <a:ext uri="{FF2B5EF4-FFF2-40B4-BE49-F238E27FC236}">
                <a16:creationId xmlns:a16="http://schemas.microsoft.com/office/drawing/2014/main" id="{6F378B79-E373-85DF-C97B-50C942E9F18D}"/>
              </a:ext>
            </a:extLst>
          </p:cNvPr>
          <p:cNvSpPr/>
          <p:nvPr/>
        </p:nvSpPr>
        <p:spPr>
          <a:xfrm>
            <a:off x="13059600" y="85767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32" name="Freeform 135">
            <a:extLst>
              <a:ext uri="{FF2B5EF4-FFF2-40B4-BE49-F238E27FC236}">
                <a16:creationId xmlns:a16="http://schemas.microsoft.com/office/drawing/2014/main" id="{890C2E1A-E680-03F4-8B17-5E6446926100}"/>
              </a:ext>
            </a:extLst>
          </p:cNvPr>
          <p:cNvSpPr/>
          <p:nvPr/>
        </p:nvSpPr>
        <p:spPr>
          <a:xfrm>
            <a:off x="12330837" y="9188483"/>
            <a:ext cx="14488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 err="1">
                <a:latin typeface="Calibri" panose="020F0502020204030204" pitchFamily="34" charset="0"/>
                <a:cs typeface="Calibri" panose="020F0502020204030204" pitchFamily="34" charset="0"/>
              </a:rPr>
              <a:t>Androïd</a:t>
            </a: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3" name="Ellipse 332">
            <a:extLst>
              <a:ext uri="{FF2B5EF4-FFF2-40B4-BE49-F238E27FC236}">
                <a16:creationId xmlns:a16="http://schemas.microsoft.com/office/drawing/2014/main" id="{6229CF3C-B698-7978-422E-F6D7448E9041}"/>
              </a:ext>
            </a:extLst>
          </p:cNvPr>
          <p:cNvSpPr/>
          <p:nvPr/>
        </p:nvSpPr>
        <p:spPr>
          <a:xfrm>
            <a:off x="12343098" y="961031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34" name="Freeform 135">
            <a:extLst>
              <a:ext uri="{FF2B5EF4-FFF2-40B4-BE49-F238E27FC236}">
                <a16:creationId xmlns:a16="http://schemas.microsoft.com/office/drawing/2014/main" id="{9529A65D-25FE-E1CE-F8E2-8C68C929CD8D}"/>
              </a:ext>
            </a:extLst>
          </p:cNvPr>
          <p:cNvSpPr/>
          <p:nvPr/>
        </p:nvSpPr>
        <p:spPr>
          <a:xfrm>
            <a:off x="13724783" y="9187791"/>
            <a:ext cx="1198568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FPGE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05DB2-BA88-8007-61DC-DF37F99DE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7">
            <a:extLst>
              <a:ext uri="{FF2B5EF4-FFF2-40B4-BE49-F238E27FC236}">
                <a16:creationId xmlns:a16="http://schemas.microsoft.com/office/drawing/2014/main" id="{DDC052F4-7880-398A-D061-AE31260F26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522B38B-0E90-E9E9-E0B2-7016969564C9}"/>
              </a:ext>
            </a:extLst>
          </p:cNvPr>
          <p:cNvSpPr/>
          <p:nvPr/>
        </p:nvSpPr>
        <p:spPr>
          <a:xfrm>
            <a:off x="198111" y="2007936"/>
            <a:ext cx="17835899" cy="4811964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449E8FF1-02F9-4D83-A229-ACE6AB6B88DD}"/>
              </a:ext>
            </a:extLst>
          </p:cNvPr>
          <p:cNvSpPr/>
          <p:nvPr/>
        </p:nvSpPr>
        <p:spPr>
          <a:xfrm>
            <a:off x="198111" y="7465641"/>
            <a:ext cx="17835899" cy="2284609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3B9D691-BD9A-C5E7-9CD7-F526483899E5}"/>
              </a:ext>
            </a:extLst>
          </p:cNvPr>
          <p:cNvSpPr txBox="1"/>
          <p:nvPr/>
        </p:nvSpPr>
        <p:spPr>
          <a:xfrm>
            <a:off x="198111" y="73209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4" name="Freeform 135">
            <a:extLst>
              <a:ext uri="{FF2B5EF4-FFF2-40B4-BE49-F238E27FC236}">
                <a16:creationId xmlns:a16="http://schemas.microsoft.com/office/drawing/2014/main" id="{43E34CA2-0FFF-9631-4AB2-12A6CF9F4E59}"/>
              </a:ext>
            </a:extLst>
          </p:cNvPr>
          <p:cNvSpPr/>
          <p:nvPr/>
        </p:nvSpPr>
        <p:spPr>
          <a:xfrm>
            <a:off x="3475727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Expérience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 (1,5 mois)</a:t>
            </a:r>
          </a:p>
        </p:txBody>
      </p:sp>
      <p:sp>
        <p:nvSpPr>
          <p:cNvPr id="185" name="Freeform 31">
            <a:extLst>
              <a:ext uri="{FF2B5EF4-FFF2-40B4-BE49-F238E27FC236}">
                <a16:creationId xmlns:a16="http://schemas.microsoft.com/office/drawing/2014/main" id="{F6DA1B16-E570-4627-759A-7618DA5D0A86}"/>
              </a:ext>
            </a:extLst>
          </p:cNvPr>
          <p:cNvSpPr/>
          <p:nvPr/>
        </p:nvSpPr>
        <p:spPr>
          <a:xfrm>
            <a:off x="5457174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" name="Ellipse 185">
            <a:extLst>
              <a:ext uri="{FF2B5EF4-FFF2-40B4-BE49-F238E27FC236}">
                <a16:creationId xmlns:a16="http://schemas.microsoft.com/office/drawing/2014/main" id="{1E274106-716E-0F39-FF36-55BD60177AB4}"/>
              </a:ext>
            </a:extLst>
          </p:cNvPr>
          <p:cNvSpPr/>
          <p:nvPr/>
        </p:nvSpPr>
        <p:spPr>
          <a:xfrm>
            <a:off x="4153433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87" name="Ellipse 186">
            <a:extLst>
              <a:ext uri="{FF2B5EF4-FFF2-40B4-BE49-F238E27FC236}">
                <a16:creationId xmlns:a16="http://schemas.microsoft.com/office/drawing/2014/main" id="{8CC613F7-E1F1-CAD8-8B13-1AFF1A9330E1}"/>
              </a:ext>
            </a:extLst>
          </p:cNvPr>
          <p:cNvSpPr/>
          <p:nvPr/>
        </p:nvSpPr>
        <p:spPr>
          <a:xfrm>
            <a:off x="4841249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ADC1F8E-2F24-77B2-1055-EA0E4CF8B406}"/>
              </a:ext>
            </a:extLst>
          </p:cNvPr>
          <p:cNvSpPr/>
          <p:nvPr/>
        </p:nvSpPr>
        <p:spPr>
          <a:xfrm>
            <a:off x="3459564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9" name="Ellipse 188">
            <a:extLst>
              <a:ext uri="{FF2B5EF4-FFF2-40B4-BE49-F238E27FC236}">
                <a16:creationId xmlns:a16="http://schemas.microsoft.com/office/drawing/2014/main" id="{4A80188A-26DA-5750-F0A6-67DF0F79F3D3}"/>
              </a:ext>
            </a:extLst>
          </p:cNvPr>
          <p:cNvSpPr/>
          <p:nvPr/>
        </p:nvSpPr>
        <p:spPr>
          <a:xfrm>
            <a:off x="5533939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02EFECD-88DF-D6C1-A9ED-F97A500FFCF1}"/>
              </a:ext>
            </a:extLst>
          </p:cNvPr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1" name="Freeform 135">
            <a:extLst>
              <a:ext uri="{FF2B5EF4-FFF2-40B4-BE49-F238E27FC236}">
                <a16:creationId xmlns:a16="http://schemas.microsoft.com/office/drawing/2014/main" id="{D8E7D72B-0A92-285A-4C6E-DA7E2664F27E}"/>
              </a:ext>
            </a:extLst>
          </p:cNvPr>
          <p:cNvSpPr/>
          <p:nvPr/>
        </p:nvSpPr>
        <p:spPr>
          <a:xfrm>
            <a:off x="9390390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(thermique)</a:t>
            </a:r>
          </a:p>
        </p:txBody>
      </p:sp>
      <p:sp>
        <p:nvSpPr>
          <p:cNvPr id="182" name="Freeform 31">
            <a:extLst>
              <a:ext uri="{FF2B5EF4-FFF2-40B4-BE49-F238E27FC236}">
                <a16:creationId xmlns:a16="http://schemas.microsoft.com/office/drawing/2014/main" id="{B02CEF3F-88A6-3CC8-4B2A-382034E5BFDE}"/>
              </a:ext>
            </a:extLst>
          </p:cNvPr>
          <p:cNvSpPr/>
          <p:nvPr/>
        </p:nvSpPr>
        <p:spPr>
          <a:xfrm>
            <a:off x="11371837" y="245255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5" name="Freeform 135">
            <a:extLst>
              <a:ext uri="{FF2B5EF4-FFF2-40B4-BE49-F238E27FC236}">
                <a16:creationId xmlns:a16="http://schemas.microsoft.com/office/drawing/2014/main" id="{523E0E5B-0974-121B-25C9-CD2E277C4AEF}"/>
              </a:ext>
            </a:extLst>
          </p:cNvPr>
          <p:cNvSpPr/>
          <p:nvPr/>
        </p:nvSpPr>
        <p:spPr>
          <a:xfrm>
            <a:off x="6456676" y="5360200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Carte</a:t>
            </a:r>
          </a:p>
          <a:p>
            <a:pPr algn="ctr"/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61" name="Freeform 135">
            <a:extLst>
              <a:ext uri="{FF2B5EF4-FFF2-40B4-BE49-F238E27FC236}">
                <a16:creationId xmlns:a16="http://schemas.microsoft.com/office/drawing/2014/main" id="{955DB8A4-5292-54B0-FB36-EFCE78D6CE5D}"/>
              </a:ext>
            </a:extLst>
          </p:cNvPr>
          <p:cNvSpPr/>
          <p:nvPr/>
        </p:nvSpPr>
        <p:spPr>
          <a:xfrm>
            <a:off x="453654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(thermique)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93FB707-FCAA-906C-624B-C7162EC470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57B5225-FAF6-55F1-D217-B0ABC5ED0D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6C5C7FC-1F54-D53E-0AB3-910F70404B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203AB0E-FEC8-CF7D-6040-1B3CD8534C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E2810D0A-7892-65D8-F640-935A189717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C749CD65-3105-8B7A-C59B-44B660CADD53}"/>
              </a:ext>
            </a:extLst>
          </p:cNvPr>
          <p:cNvSpPr/>
          <p:nvPr/>
        </p:nvSpPr>
        <p:spPr>
          <a:xfrm>
            <a:off x="3488065" y="2358182"/>
            <a:ext cx="2579200" cy="502859"/>
          </a:xfrm>
          <a:custGeom>
            <a:avLst/>
            <a:gdLst/>
            <a:ahLst/>
            <a:cxnLst/>
            <a:rect l="l" t="t" r="r" b="b"/>
            <a:pathLst>
              <a:path w="653565" h="127423">
                <a:moveTo>
                  <a:pt x="0" y="0"/>
                </a:moveTo>
                <a:lnTo>
                  <a:pt x="653565" y="0"/>
                </a:lnTo>
                <a:lnTo>
                  <a:pt x="65356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918451EE-CB8F-E0AE-2AEA-365CDACA7C93}"/>
              </a:ext>
            </a:extLst>
          </p:cNvPr>
          <p:cNvSpPr/>
          <p:nvPr/>
        </p:nvSpPr>
        <p:spPr>
          <a:xfrm>
            <a:off x="2435101" y="245255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Freeform 45">
            <a:extLst>
              <a:ext uri="{FF2B5EF4-FFF2-40B4-BE49-F238E27FC236}">
                <a16:creationId xmlns:a16="http://schemas.microsoft.com/office/drawing/2014/main" id="{72AF1A33-2867-AF1C-B560-4D8BF631006A}"/>
              </a:ext>
            </a:extLst>
          </p:cNvPr>
          <p:cNvSpPr/>
          <p:nvPr/>
        </p:nvSpPr>
        <p:spPr>
          <a:xfrm>
            <a:off x="5486400" y="243300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Freeform 88">
            <a:extLst>
              <a:ext uri="{FF2B5EF4-FFF2-40B4-BE49-F238E27FC236}">
                <a16:creationId xmlns:a16="http://schemas.microsoft.com/office/drawing/2014/main" id="{D577D2FF-19D9-C72B-B3F8-12F736DAA77B}"/>
              </a:ext>
            </a:extLst>
          </p:cNvPr>
          <p:cNvSpPr/>
          <p:nvPr/>
        </p:nvSpPr>
        <p:spPr>
          <a:xfrm>
            <a:off x="8458200" y="546137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19D34201-1CE7-95F8-A457-27857B00CFA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80A64B3-0278-3A7E-C9A2-E4C85460591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69EB3D03-C471-F246-868C-6FCBA512F4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59F1A4A2-11C7-658B-1750-FA1AB56011A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A5DAC93A-DB06-C771-0939-B37AE7E7676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CD92DE5B-53CD-D3D3-8FEB-D13660BA00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59" name="Freeform 25">
            <a:extLst>
              <a:ext uri="{FF2B5EF4-FFF2-40B4-BE49-F238E27FC236}">
                <a16:creationId xmlns:a16="http://schemas.microsoft.com/office/drawing/2014/main" id="{0FB26C84-A6ED-DE3B-B3A9-914E8183E2BB}"/>
              </a:ext>
            </a:extLst>
          </p:cNvPr>
          <p:cNvSpPr/>
          <p:nvPr/>
        </p:nvSpPr>
        <p:spPr>
          <a:xfrm>
            <a:off x="422712" y="7124700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A0A3EB9E-455E-8C28-57AC-B42169D4EA18}"/>
              </a:ext>
            </a:extLst>
          </p:cNvPr>
          <p:cNvSpPr/>
          <p:nvPr/>
        </p:nvSpPr>
        <p:spPr>
          <a:xfrm>
            <a:off x="430570" y="1671009"/>
            <a:ext cx="184354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162" name="Ellipse 161">
            <a:extLst>
              <a:ext uri="{FF2B5EF4-FFF2-40B4-BE49-F238E27FC236}">
                <a16:creationId xmlns:a16="http://schemas.microsoft.com/office/drawing/2014/main" id="{FE939073-C2FF-CEC7-F823-7AF583564A6A}"/>
              </a:ext>
            </a:extLst>
          </p:cNvPr>
          <p:cNvSpPr/>
          <p:nvPr/>
        </p:nvSpPr>
        <p:spPr>
          <a:xfrm>
            <a:off x="1131360" y="30888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63" name="Ellipse 162">
            <a:extLst>
              <a:ext uri="{FF2B5EF4-FFF2-40B4-BE49-F238E27FC236}">
                <a16:creationId xmlns:a16="http://schemas.microsoft.com/office/drawing/2014/main" id="{3C631C26-A048-306D-503C-78232E682118}"/>
              </a:ext>
            </a:extLst>
          </p:cNvPr>
          <p:cNvSpPr/>
          <p:nvPr/>
        </p:nvSpPr>
        <p:spPr>
          <a:xfrm>
            <a:off x="1819176" y="307531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4" name="Ellipse 163">
            <a:extLst>
              <a:ext uri="{FF2B5EF4-FFF2-40B4-BE49-F238E27FC236}">
                <a16:creationId xmlns:a16="http://schemas.microsoft.com/office/drawing/2014/main" id="{C33FFCFF-D5A2-77AB-3E12-54464DA39328}"/>
              </a:ext>
            </a:extLst>
          </p:cNvPr>
          <p:cNvSpPr/>
          <p:nvPr/>
        </p:nvSpPr>
        <p:spPr>
          <a:xfrm>
            <a:off x="437491" y="3082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5" name="Ellipse 164">
            <a:extLst>
              <a:ext uri="{FF2B5EF4-FFF2-40B4-BE49-F238E27FC236}">
                <a16:creationId xmlns:a16="http://schemas.microsoft.com/office/drawing/2014/main" id="{71B125D8-E48A-5D67-A71C-8B4D2C365946}"/>
              </a:ext>
            </a:extLst>
          </p:cNvPr>
          <p:cNvSpPr/>
          <p:nvPr/>
        </p:nvSpPr>
        <p:spPr>
          <a:xfrm>
            <a:off x="4205182" y="2812237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66" name="Ellipse 165">
            <a:extLst>
              <a:ext uri="{FF2B5EF4-FFF2-40B4-BE49-F238E27FC236}">
                <a16:creationId xmlns:a16="http://schemas.microsoft.com/office/drawing/2014/main" id="{CEA7F047-667C-0E24-67C0-7A26CE6DE6AE}"/>
              </a:ext>
            </a:extLst>
          </p:cNvPr>
          <p:cNvSpPr/>
          <p:nvPr/>
        </p:nvSpPr>
        <p:spPr>
          <a:xfrm>
            <a:off x="4876454" y="281320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7" name="Ellipse 166">
            <a:extLst>
              <a:ext uri="{FF2B5EF4-FFF2-40B4-BE49-F238E27FC236}">
                <a16:creationId xmlns:a16="http://schemas.microsoft.com/office/drawing/2014/main" id="{B40C6DDB-59F1-178F-B04D-B826497E8775}"/>
              </a:ext>
            </a:extLst>
          </p:cNvPr>
          <p:cNvSpPr/>
          <p:nvPr/>
        </p:nvSpPr>
        <p:spPr>
          <a:xfrm>
            <a:off x="3493437" y="2812237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8" name="Ellipse 167">
            <a:extLst>
              <a:ext uri="{FF2B5EF4-FFF2-40B4-BE49-F238E27FC236}">
                <a16:creationId xmlns:a16="http://schemas.microsoft.com/office/drawing/2014/main" id="{6C1332C6-1254-DE7E-7E09-6514A22776A6}"/>
              </a:ext>
            </a:extLst>
          </p:cNvPr>
          <p:cNvSpPr/>
          <p:nvPr/>
        </p:nvSpPr>
        <p:spPr>
          <a:xfrm>
            <a:off x="5541828" y="281223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69" name="Freeform 135">
            <a:extLst>
              <a:ext uri="{FF2B5EF4-FFF2-40B4-BE49-F238E27FC236}">
                <a16:creationId xmlns:a16="http://schemas.microsoft.com/office/drawing/2014/main" id="{7866042A-9F36-0758-BA19-E6E563204375}"/>
              </a:ext>
            </a:extLst>
          </p:cNvPr>
          <p:cNvSpPr/>
          <p:nvPr/>
        </p:nvSpPr>
        <p:spPr>
          <a:xfrm>
            <a:off x="6452118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 composants</a:t>
            </a: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BCD8E124-67E3-E872-BD1D-853AF752D00C}"/>
              </a:ext>
            </a:extLst>
          </p:cNvPr>
          <p:cNvSpPr/>
          <p:nvPr/>
        </p:nvSpPr>
        <p:spPr>
          <a:xfrm>
            <a:off x="6435955" y="3082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1" name="Freeform 135">
            <a:extLst>
              <a:ext uri="{FF2B5EF4-FFF2-40B4-BE49-F238E27FC236}">
                <a16:creationId xmlns:a16="http://schemas.microsoft.com/office/drawing/2014/main" id="{C435F98E-6770-ABEC-A2BE-BB81A1E0F71F}"/>
              </a:ext>
            </a:extLst>
          </p:cNvPr>
          <p:cNvSpPr/>
          <p:nvPr/>
        </p:nvSpPr>
        <p:spPr>
          <a:xfrm>
            <a:off x="6456676" y="3799624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Design carte fille STM8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C0373F40-1298-CDFF-959F-31E51B3467CF}"/>
              </a:ext>
            </a:extLst>
          </p:cNvPr>
          <p:cNvSpPr/>
          <p:nvPr/>
        </p:nvSpPr>
        <p:spPr>
          <a:xfrm>
            <a:off x="7134382" y="453169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702C2C29-DC0B-BE63-1D4B-A7FF3CB25448}"/>
              </a:ext>
            </a:extLst>
          </p:cNvPr>
          <p:cNvSpPr/>
          <p:nvPr/>
        </p:nvSpPr>
        <p:spPr>
          <a:xfrm>
            <a:off x="7822198" y="451813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DAB9D02A-D78A-068C-1E27-D1743EC9D22C}"/>
              </a:ext>
            </a:extLst>
          </p:cNvPr>
          <p:cNvSpPr/>
          <p:nvPr/>
        </p:nvSpPr>
        <p:spPr>
          <a:xfrm>
            <a:off x="6440513" y="452482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6" name="Ellipse 175">
            <a:extLst>
              <a:ext uri="{FF2B5EF4-FFF2-40B4-BE49-F238E27FC236}">
                <a16:creationId xmlns:a16="http://schemas.microsoft.com/office/drawing/2014/main" id="{77AAF427-9E8A-73B1-E73D-9E5BB7920829}"/>
              </a:ext>
            </a:extLst>
          </p:cNvPr>
          <p:cNvSpPr/>
          <p:nvPr/>
        </p:nvSpPr>
        <p:spPr>
          <a:xfrm>
            <a:off x="7134382" y="6092266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8" name="Ellipse 177">
            <a:extLst>
              <a:ext uri="{FF2B5EF4-FFF2-40B4-BE49-F238E27FC236}">
                <a16:creationId xmlns:a16="http://schemas.microsoft.com/office/drawing/2014/main" id="{2C2C58A8-BC2A-BD24-CE5C-CC58638C2518}"/>
              </a:ext>
            </a:extLst>
          </p:cNvPr>
          <p:cNvSpPr/>
          <p:nvPr/>
        </p:nvSpPr>
        <p:spPr>
          <a:xfrm>
            <a:off x="10068096" y="3088875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24332FCE-0BA7-EB1A-5142-061452295478}"/>
              </a:ext>
            </a:extLst>
          </p:cNvPr>
          <p:cNvSpPr/>
          <p:nvPr/>
        </p:nvSpPr>
        <p:spPr>
          <a:xfrm>
            <a:off x="10755912" y="307531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D924D31E-B913-8AD8-9429-702FE634458D}"/>
              </a:ext>
            </a:extLst>
          </p:cNvPr>
          <p:cNvSpPr/>
          <p:nvPr/>
        </p:nvSpPr>
        <p:spPr>
          <a:xfrm>
            <a:off x="9374227" y="3082012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3" name="Ellipse 182">
            <a:extLst>
              <a:ext uri="{FF2B5EF4-FFF2-40B4-BE49-F238E27FC236}">
                <a16:creationId xmlns:a16="http://schemas.microsoft.com/office/drawing/2014/main" id="{73C66A08-244D-E438-118E-FE2E79FBAD9D}"/>
              </a:ext>
            </a:extLst>
          </p:cNvPr>
          <p:cNvSpPr/>
          <p:nvPr/>
        </p:nvSpPr>
        <p:spPr>
          <a:xfrm>
            <a:off x="11448602" y="307399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0" name="Freeform 135">
            <a:extLst>
              <a:ext uri="{FF2B5EF4-FFF2-40B4-BE49-F238E27FC236}">
                <a16:creationId xmlns:a16="http://schemas.microsoft.com/office/drawing/2014/main" id="{BB660AFF-97B0-31DB-0FDE-4453F148F62C}"/>
              </a:ext>
            </a:extLst>
          </p:cNvPr>
          <p:cNvSpPr/>
          <p:nvPr/>
        </p:nvSpPr>
        <p:spPr>
          <a:xfrm>
            <a:off x="12330360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ou projet indus</a:t>
            </a:r>
          </a:p>
        </p:txBody>
      </p:sp>
      <p:sp>
        <p:nvSpPr>
          <p:cNvPr id="191" name="Freeform 31">
            <a:extLst>
              <a:ext uri="{FF2B5EF4-FFF2-40B4-BE49-F238E27FC236}">
                <a16:creationId xmlns:a16="http://schemas.microsoft.com/office/drawing/2014/main" id="{F0DF4719-F881-6C0F-CB95-53A264B7AA68}"/>
              </a:ext>
            </a:extLst>
          </p:cNvPr>
          <p:cNvSpPr/>
          <p:nvPr/>
        </p:nvSpPr>
        <p:spPr>
          <a:xfrm>
            <a:off x="14311807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2" name="Ellipse 191">
            <a:extLst>
              <a:ext uri="{FF2B5EF4-FFF2-40B4-BE49-F238E27FC236}">
                <a16:creationId xmlns:a16="http://schemas.microsoft.com/office/drawing/2014/main" id="{9B887D75-AF37-1456-2F65-D7013754A325}"/>
              </a:ext>
            </a:extLst>
          </p:cNvPr>
          <p:cNvSpPr/>
          <p:nvPr/>
        </p:nvSpPr>
        <p:spPr>
          <a:xfrm>
            <a:off x="13008066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3" name="Ellipse 192">
            <a:extLst>
              <a:ext uri="{FF2B5EF4-FFF2-40B4-BE49-F238E27FC236}">
                <a16:creationId xmlns:a16="http://schemas.microsoft.com/office/drawing/2014/main" id="{2833E850-AC90-0CAB-EC5B-BFFFD0CB9C11}"/>
              </a:ext>
            </a:extLst>
          </p:cNvPr>
          <p:cNvSpPr/>
          <p:nvPr/>
        </p:nvSpPr>
        <p:spPr>
          <a:xfrm>
            <a:off x="13695882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94" name="Ellipse 193">
            <a:extLst>
              <a:ext uri="{FF2B5EF4-FFF2-40B4-BE49-F238E27FC236}">
                <a16:creationId xmlns:a16="http://schemas.microsoft.com/office/drawing/2014/main" id="{E35FF4BF-176A-2228-8C72-85BDCC8D818F}"/>
              </a:ext>
            </a:extLst>
          </p:cNvPr>
          <p:cNvSpPr/>
          <p:nvPr/>
        </p:nvSpPr>
        <p:spPr>
          <a:xfrm>
            <a:off x="12314197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5" name="Ellipse 194">
            <a:extLst>
              <a:ext uri="{FF2B5EF4-FFF2-40B4-BE49-F238E27FC236}">
                <a16:creationId xmlns:a16="http://schemas.microsoft.com/office/drawing/2014/main" id="{47C8695E-16D5-D191-56D3-880E1081B584}"/>
              </a:ext>
            </a:extLst>
          </p:cNvPr>
          <p:cNvSpPr/>
          <p:nvPr/>
        </p:nvSpPr>
        <p:spPr>
          <a:xfrm>
            <a:off x="14388572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6" name="Freeform 135">
            <a:extLst>
              <a:ext uri="{FF2B5EF4-FFF2-40B4-BE49-F238E27FC236}">
                <a16:creationId xmlns:a16="http://schemas.microsoft.com/office/drawing/2014/main" id="{EDC1DA9A-3DDA-3A43-571F-97A0C1305C75}"/>
              </a:ext>
            </a:extLst>
          </p:cNvPr>
          <p:cNvSpPr/>
          <p:nvPr/>
        </p:nvSpPr>
        <p:spPr>
          <a:xfrm>
            <a:off x="15258755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stage (5-6 mois)</a:t>
            </a:r>
          </a:p>
        </p:txBody>
      </p:sp>
      <p:sp>
        <p:nvSpPr>
          <p:cNvPr id="197" name="Freeform 31">
            <a:extLst>
              <a:ext uri="{FF2B5EF4-FFF2-40B4-BE49-F238E27FC236}">
                <a16:creationId xmlns:a16="http://schemas.microsoft.com/office/drawing/2014/main" id="{704DFE55-B1A4-B39D-0701-257B95A088FE}"/>
              </a:ext>
            </a:extLst>
          </p:cNvPr>
          <p:cNvSpPr/>
          <p:nvPr/>
        </p:nvSpPr>
        <p:spPr>
          <a:xfrm>
            <a:off x="17240202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8" name="Ellipse 197">
            <a:extLst>
              <a:ext uri="{FF2B5EF4-FFF2-40B4-BE49-F238E27FC236}">
                <a16:creationId xmlns:a16="http://schemas.microsoft.com/office/drawing/2014/main" id="{C676C660-2836-D927-2225-59124001D5B3}"/>
              </a:ext>
            </a:extLst>
          </p:cNvPr>
          <p:cNvSpPr/>
          <p:nvPr/>
        </p:nvSpPr>
        <p:spPr>
          <a:xfrm>
            <a:off x="15936461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9" name="Ellipse 198">
            <a:extLst>
              <a:ext uri="{FF2B5EF4-FFF2-40B4-BE49-F238E27FC236}">
                <a16:creationId xmlns:a16="http://schemas.microsoft.com/office/drawing/2014/main" id="{1908EF69-4B59-2A98-45E5-84504E6BFE59}"/>
              </a:ext>
            </a:extLst>
          </p:cNvPr>
          <p:cNvSpPr/>
          <p:nvPr/>
        </p:nvSpPr>
        <p:spPr>
          <a:xfrm>
            <a:off x="16624277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00" name="Ellipse 199">
            <a:extLst>
              <a:ext uri="{FF2B5EF4-FFF2-40B4-BE49-F238E27FC236}">
                <a16:creationId xmlns:a16="http://schemas.microsoft.com/office/drawing/2014/main" id="{8AF3FEBB-5C35-7C44-A883-2514AEB184EA}"/>
              </a:ext>
            </a:extLst>
          </p:cNvPr>
          <p:cNvSpPr/>
          <p:nvPr/>
        </p:nvSpPr>
        <p:spPr>
          <a:xfrm>
            <a:off x="15242592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01" name="Ellipse 200">
            <a:extLst>
              <a:ext uri="{FF2B5EF4-FFF2-40B4-BE49-F238E27FC236}">
                <a16:creationId xmlns:a16="http://schemas.microsoft.com/office/drawing/2014/main" id="{95DAF15F-297D-E162-FB7A-DC34399CCE6E}"/>
              </a:ext>
            </a:extLst>
          </p:cNvPr>
          <p:cNvSpPr/>
          <p:nvPr/>
        </p:nvSpPr>
        <p:spPr>
          <a:xfrm>
            <a:off x="17316967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3730556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89DB2-6E24-C62F-E337-9859AC7DA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9">
            <a:extLst>
              <a:ext uri="{FF2B5EF4-FFF2-40B4-BE49-F238E27FC236}">
                <a16:creationId xmlns:a16="http://schemas.microsoft.com/office/drawing/2014/main" id="{E69C3B21-0BBB-6B50-8EB5-87801963D7D8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reeform 12">
            <a:extLst>
              <a:ext uri="{FF2B5EF4-FFF2-40B4-BE49-F238E27FC236}">
                <a16:creationId xmlns:a16="http://schemas.microsoft.com/office/drawing/2014/main" id="{C643D68B-A2AC-E3C8-4EEA-ADFB4689B321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08">
            <a:extLst>
              <a:ext uri="{FF2B5EF4-FFF2-40B4-BE49-F238E27FC236}">
                <a16:creationId xmlns:a16="http://schemas.microsoft.com/office/drawing/2014/main" id="{30E83A7C-0C9D-C079-331D-F7FB4FAA3345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6" name="Freeform 24">
            <a:extLst>
              <a:ext uri="{FF2B5EF4-FFF2-40B4-BE49-F238E27FC236}">
                <a16:creationId xmlns:a16="http://schemas.microsoft.com/office/drawing/2014/main" id="{3DA184D0-B119-9D09-C0F4-891000BB7C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9" name="Freeform 33">
            <a:extLst>
              <a:ext uri="{FF2B5EF4-FFF2-40B4-BE49-F238E27FC236}">
                <a16:creationId xmlns:a16="http://schemas.microsoft.com/office/drawing/2014/main" id="{15A5F073-6F7A-15CF-789B-9A7D9AAAAE3A}"/>
              </a:ext>
            </a:extLst>
          </p:cNvPr>
          <p:cNvSpPr/>
          <p:nvPr/>
        </p:nvSpPr>
        <p:spPr>
          <a:xfrm>
            <a:off x="13889590" y="4238001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60" name="Freeform 30">
            <a:extLst>
              <a:ext uri="{FF2B5EF4-FFF2-40B4-BE49-F238E27FC236}">
                <a16:creationId xmlns:a16="http://schemas.microsoft.com/office/drawing/2014/main" id="{693DB44D-D43D-AC00-7782-A928DE2CB4DA}"/>
              </a:ext>
            </a:extLst>
          </p:cNvPr>
          <p:cNvSpPr/>
          <p:nvPr/>
        </p:nvSpPr>
        <p:spPr>
          <a:xfrm>
            <a:off x="13889590" y="3544642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88AD03A1-A75C-E4F8-5680-F707DBD867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Freeform 54">
            <a:extLst>
              <a:ext uri="{FF2B5EF4-FFF2-40B4-BE49-F238E27FC236}">
                <a16:creationId xmlns:a16="http://schemas.microsoft.com/office/drawing/2014/main" id="{D6C01685-0021-1365-FBF9-212064B358B1}"/>
              </a:ext>
            </a:extLst>
          </p:cNvPr>
          <p:cNvSpPr/>
          <p:nvPr/>
        </p:nvSpPr>
        <p:spPr>
          <a:xfrm>
            <a:off x="9363133" y="353923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(thermique)</a:t>
            </a:r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AEE34485-8BC7-EFDD-6481-6B5ACDA6DF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" name="Freeform 33">
            <a:extLst>
              <a:ext uri="{FF2B5EF4-FFF2-40B4-BE49-F238E27FC236}">
                <a16:creationId xmlns:a16="http://schemas.microsoft.com/office/drawing/2014/main" id="{BF5A1745-9CD6-BDF3-E70C-9EA5F07FEA2F}"/>
              </a:ext>
            </a:extLst>
          </p:cNvPr>
          <p:cNvSpPr/>
          <p:nvPr/>
        </p:nvSpPr>
        <p:spPr>
          <a:xfrm>
            <a:off x="4834498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Final IMA</a:t>
            </a:r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A8B32C7E-FFD9-1FA2-F1F1-131BA9F5EF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FB7272A9-7F95-E77B-9B3B-99CB207AC67F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7" name="Freeform 33">
            <a:extLst>
              <a:ext uri="{FF2B5EF4-FFF2-40B4-BE49-F238E27FC236}">
                <a16:creationId xmlns:a16="http://schemas.microsoft.com/office/drawing/2014/main" id="{9CD681F7-B1F0-C49C-E689-4115EE5FFB74}"/>
              </a:ext>
            </a:extLst>
          </p:cNvPr>
          <p:cNvSpPr/>
          <p:nvPr/>
        </p:nvSpPr>
        <p:spPr>
          <a:xfrm>
            <a:off x="296365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38" name="Freeform 30">
            <a:extLst>
              <a:ext uri="{FF2B5EF4-FFF2-40B4-BE49-F238E27FC236}">
                <a16:creationId xmlns:a16="http://schemas.microsoft.com/office/drawing/2014/main" id="{A3CDE72D-0CA7-53E7-929D-DD91C1574B3A}"/>
              </a:ext>
            </a:extLst>
          </p:cNvPr>
          <p:cNvSpPr/>
          <p:nvPr/>
        </p:nvSpPr>
        <p:spPr>
          <a:xfrm>
            <a:off x="296365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30" name="Freeform 33">
            <a:extLst>
              <a:ext uri="{FF2B5EF4-FFF2-40B4-BE49-F238E27FC236}">
                <a16:creationId xmlns:a16="http://schemas.microsoft.com/office/drawing/2014/main" id="{A5DA31BD-98E3-BDD7-6B3D-BC160D60C8F0}"/>
              </a:ext>
            </a:extLst>
          </p:cNvPr>
          <p:cNvSpPr/>
          <p:nvPr/>
        </p:nvSpPr>
        <p:spPr>
          <a:xfrm>
            <a:off x="296365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Final IMA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207D98B-D26D-E60E-7C70-38C5B85F0597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185A522-E98C-104C-43FC-E4806F52728F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3B1B0FC-5DF5-F235-E15C-5A6A734DE95D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2DCBC66B-4475-A0C2-0F28-24B8E0EEE24E}"/>
              </a:ext>
            </a:extLst>
          </p:cNvPr>
          <p:cNvSpPr/>
          <p:nvPr/>
        </p:nvSpPr>
        <p:spPr>
          <a:xfrm>
            <a:off x="296365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TP 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A1C8ABA0-9FE2-6961-F8A8-D970B9C659AF}"/>
              </a:ext>
            </a:extLst>
          </p:cNvPr>
          <p:cNvSpPr txBox="1"/>
          <p:nvPr/>
        </p:nvSpPr>
        <p:spPr>
          <a:xfrm>
            <a:off x="296365" y="4813184"/>
            <a:ext cx="4093330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BDAF494C-2214-E725-694C-76490A806ABC}"/>
              </a:ext>
            </a:extLst>
          </p:cNvPr>
          <p:cNvSpPr txBox="1"/>
          <p:nvPr/>
        </p:nvSpPr>
        <p:spPr>
          <a:xfrm>
            <a:off x="296365" y="5506544"/>
            <a:ext cx="4094092" cy="882895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3ACE8828-E80D-73D4-BFF4-FB8422D5D32C}"/>
              </a:ext>
            </a:extLst>
          </p:cNvPr>
          <p:cNvSpPr txBox="1"/>
          <p:nvPr/>
        </p:nvSpPr>
        <p:spPr>
          <a:xfrm>
            <a:off x="297127" y="6467171"/>
            <a:ext cx="4093330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0B121DBB-D745-3D47-B331-85562B69ABC3}"/>
              </a:ext>
            </a:extLst>
          </p:cNvPr>
          <p:cNvSpPr txBox="1"/>
          <p:nvPr/>
        </p:nvSpPr>
        <p:spPr>
          <a:xfrm>
            <a:off x="296365" y="7160531"/>
            <a:ext cx="4093330" cy="882895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4" name="Freeform 54">
            <a:extLst>
              <a:ext uri="{FF2B5EF4-FFF2-40B4-BE49-F238E27FC236}">
                <a16:creationId xmlns:a16="http://schemas.microsoft.com/office/drawing/2014/main" id="{CA2F45DD-0B60-CE6C-B615-4F1BB20711B3}"/>
              </a:ext>
            </a:extLst>
          </p:cNvPr>
          <p:cNvSpPr/>
          <p:nvPr/>
        </p:nvSpPr>
        <p:spPr>
          <a:xfrm>
            <a:off x="4825000" y="423259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(thermique)</a:t>
            </a:r>
          </a:p>
        </p:txBody>
      </p:sp>
      <p:sp>
        <p:nvSpPr>
          <p:cNvPr id="63" name="Freeform 63">
            <a:extLst>
              <a:ext uri="{FF2B5EF4-FFF2-40B4-BE49-F238E27FC236}">
                <a16:creationId xmlns:a16="http://schemas.microsoft.com/office/drawing/2014/main" id="{FF6F68A7-F579-D409-9C0B-7E1AA43080E8}"/>
              </a:ext>
            </a:extLst>
          </p:cNvPr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</a:t>
            </a:r>
          </a:p>
        </p:txBody>
      </p:sp>
      <p:sp>
        <p:nvSpPr>
          <p:cNvPr id="77" name="Freeform 77">
            <a:extLst>
              <a:ext uri="{FF2B5EF4-FFF2-40B4-BE49-F238E27FC236}">
                <a16:creationId xmlns:a16="http://schemas.microsoft.com/office/drawing/2014/main" id="{C75B40B8-84CE-7F88-30F4-B2A87C1CA7B8}"/>
              </a:ext>
            </a:extLst>
          </p:cNvPr>
          <p:cNvSpPr/>
          <p:nvPr/>
        </p:nvSpPr>
        <p:spPr>
          <a:xfrm>
            <a:off x="3814874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Freeform 78">
            <a:extLst>
              <a:ext uri="{FF2B5EF4-FFF2-40B4-BE49-F238E27FC236}">
                <a16:creationId xmlns:a16="http://schemas.microsoft.com/office/drawing/2014/main" id="{5E39C83C-2B7E-8D5A-965B-D3299D0CF705}"/>
              </a:ext>
            </a:extLst>
          </p:cNvPr>
          <p:cNvSpPr/>
          <p:nvPr/>
        </p:nvSpPr>
        <p:spPr>
          <a:xfrm>
            <a:off x="8356827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Freeform 79">
            <a:extLst>
              <a:ext uri="{FF2B5EF4-FFF2-40B4-BE49-F238E27FC236}">
                <a16:creationId xmlns:a16="http://schemas.microsoft.com/office/drawing/2014/main" id="{5C281293-C269-A326-3825-AAB1EB6C89ED}"/>
              </a:ext>
            </a:extLst>
          </p:cNvPr>
          <p:cNvSpPr/>
          <p:nvPr/>
        </p:nvSpPr>
        <p:spPr>
          <a:xfrm>
            <a:off x="8356827" y="430530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Freeform 83">
            <a:extLst>
              <a:ext uri="{FF2B5EF4-FFF2-40B4-BE49-F238E27FC236}">
                <a16:creationId xmlns:a16="http://schemas.microsoft.com/office/drawing/2014/main" id="{B88A8178-D9A9-6EF6-83D9-94144F7A77C9}"/>
              </a:ext>
            </a:extLst>
          </p:cNvPr>
          <p:cNvSpPr/>
          <p:nvPr/>
        </p:nvSpPr>
        <p:spPr>
          <a:xfrm>
            <a:off x="17423365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Freeform 87">
            <a:extLst>
              <a:ext uri="{FF2B5EF4-FFF2-40B4-BE49-F238E27FC236}">
                <a16:creationId xmlns:a16="http://schemas.microsoft.com/office/drawing/2014/main" id="{28AAA3DC-F244-F6D1-2E14-3A8BD5826713}"/>
              </a:ext>
            </a:extLst>
          </p:cNvPr>
          <p:cNvSpPr/>
          <p:nvPr/>
        </p:nvSpPr>
        <p:spPr>
          <a:xfrm>
            <a:off x="17423365" y="432180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4" name="Freeform 94">
            <a:extLst>
              <a:ext uri="{FF2B5EF4-FFF2-40B4-BE49-F238E27FC236}">
                <a16:creationId xmlns:a16="http://schemas.microsoft.com/office/drawing/2014/main" id="{E6FAB0E1-EA3F-5447-4ED1-58FFD8231E5C}"/>
              </a:ext>
            </a:extLst>
          </p:cNvPr>
          <p:cNvSpPr/>
          <p:nvPr/>
        </p:nvSpPr>
        <p:spPr>
          <a:xfrm>
            <a:off x="3830902" y="881785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Freeform 98">
            <a:extLst>
              <a:ext uri="{FF2B5EF4-FFF2-40B4-BE49-F238E27FC236}">
                <a16:creationId xmlns:a16="http://schemas.microsoft.com/office/drawing/2014/main" id="{6F02DE50-25AC-EEEC-D396-02F2DFFC68D2}"/>
              </a:ext>
            </a:extLst>
          </p:cNvPr>
          <p:cNvSpPr/>
          <p:nvPr/>
        </p:nvSpPr>
        <p:spPr>
          <a:xfrm>
            <a:off x="3830902" y="951121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9" name="Freeform 33">
            <a:extLst>
              <a:ext uri="{FF2B5EF4-FFF2-40B4-BE49-F238E27FC236}">
                <a16:creationId xmlns:a16="http://schemas.microsoft.com/office/drawing/2014/main" id="{577FA88C-FA62-4D5C-9221-1A9EEE6D0320}"/>
              </a:ext>
            </a:extLst>
          </p:cNvPr>
          <p:cNvSpPr/>
          <p:nvPr/>
        </p:nvSpPr>
        <p:spPr>
          <a:xfrm>
            <a:off x="4834498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40" name="Freeform 30">
            <a:extLst>
              <a:ext uri="{FF2B5EF4-FFF2-40B4-BE49-F238E27FC236}">
                <a16:creationId xmlns:a16="http://schemas.microsoft.com/office/drawing/2014/main" id="{C52E58A3-A47F-AFC6-FF1C-9C8A0809849B}"/>
              </a:ext>
            </a:extLst>
          </p:cNvPr>
          <p:cNvSpPr/>
          <p:nvPr/>
        </p:nvSpPr>
        <p:spPr>
          <a:xfrm>
            <a:off x="4834498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02" name="Freeform 102">
            <a:extLst>
              <a:ext uri="{FF2B5EF4-FFF2-40B4-BE49-F238E27FC236}">
                <a16:creationId xmlns:a16="http://schemas.microsoft.com/office/drawing/2014/main" id="{4B8CD2B7-9402-F437-364C-9655E5975744}"/>
              </a:ext>
            </a:extLst>
          </p:cNvPr>
          <p:cNvSpPr/>
          <p:nvPr/>
        </p:nvSpPr>
        <p:spPr>
          <a:xfrm>
            <a:off x="8369914" y="879237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Freeform 106">
            <a:extLst>
              <a:ext uri="{FF2B5EF4-FFF2-40B4-BE49-F238E27FC236}">
                <a16:creationId xmlns:a16="http://schemas.microsoft.com/office/drawing/2014/main" id="{C37B9A5E-279B-91B7-EB18-C6B70EBEE61A}"/>
              </a:ext>
            </a:extLst>
          </p:cNvPr>
          <p:cNvSpPr/>
          <p:nvPr/>
        </p:nvSpPr>
        <p:spPr>
          <a:xfrm>
            <a:off x="8369914" y="948573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BFD0CC71-D6A2-F695-0482-58225B4AF1DA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1" name="Freeform 33">
            <a:extLst>
              <a:ext uri="{FF2B5EF4-FFF2-40B4-BE49-F238E27FC236}">
                <a16:creationId xmlns:a16="http://schemas.microsoft.com/office/drawing/2014/main" id="{12004DE1-F9D7-6E35-EE8D-5F89EC01E241}"/>
              </a:ext>
            </a:extLst>
          </p:cNvPr>
          <p:cNvSpPr/>
          <p:nvPr/>
        </p:nvSpPr>
        <p:spPr>
          <a:xfrm>
            <a:off x="9372631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42" name="Freeform 30">
            <a:extLst>
              <a:ext uri="{FF2B5EF4-FFF2-40B4-BE49-F238E27FC236}">
                <a16:creationId xmlns:a16="http://schemas.microsoft.com/office/drawing/2014/main" id="{281EA8AC-31B3-5D12-1E05-67FCA7998B72}"/>
              </a:ext>
            </a:extLst>
          </p:cNvPr>
          <p:cNvSpPr/>
          <p:nvPr/>
        </p:nvSpPr>
        <p:spPr>
          <a:xfrm>
            <a:off x="9372631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13" name="Freeform 113">
            <a:extLst>
              <a:ext uri="{FF2B5EF4-FFF2-40B4-BE49-F238E27FC236}">
                <a16:creationId xmlns:a16="http://schemas.microsoft.com/office/drawing/2014/main" id="{A2DBEF5C-2291-F12F-33F1-A21C43B74817}"/>
              </a:ext>
            </a:extLst>
          </p:cNvPr>
          <p:cNvSpPr/>
          <p:nvPr/>
        </p:nvSpPr>
        <p:spPr>
          <a:xfrm>
            <a:off x="12902154" y="883397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Freeform 117">
            <a:extLst>
              <a:ext uri="{FF2B5EF4-FFF2-40B4-BE49-F238E27FC236}">
                <a16:creationId xmlns:a16="http://schemas.microsoft.com/office/drawing/2014/main" id="{693B45A8-1FB1-A913-7E03-9FFC921FF187}"/>
              </a:ext>
            </a:extLst>
          </p:cNvPr>
          <p:cNvSpPr/>
          <p:nvPr/>
        </p:nvSpPr>
        <p:spPr>
          <a:xfrm>
            <a:off x="12902154" y="9527328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842E5B4B-70BF-F724-A666-F5CF11FC4A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1 (S5 et S6)</a:t>
            </a:r>
          </a:p>
        </p:txBody>
      </p:sp>
      <p:sp>
        <p:nvSpPr>
          <p:cNvPr id="124" name="Freeform 124">
            <a:extLst>
              <a:ext uri="{FF2B5EF4-FFF2-40B4-BE49-F238E27FC236}">
                <a16:creationId xmlns:a16="http://schemas.microsoft.com/office/drawing/2014/main" id="{255E4E82-85E4-B2EA-8681-73485A2C1F99}"/>
              </a:ext>
            </a:extLst>
          </p:cNvPr>
          <p:cNvSpPr/>
          <p:nvPr/>
        </p:nvSpPr>
        <p:spPr>
          <a:xfrm>
            <a:off x="12900207" y="361950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F93B08AE-6403-B216-4283-CFEDC1AED2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EF8E5988-8E8E-AA0E-5CE1-B726516E09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2C0D49B0-E173-C652-F0A9-FDAADA3770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31C4D943-3045-7F23-E62F-B2D05220B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32" name="Freeform 42">
            <a:extLst>
              <a:ext uri="{FF2B5EF4-FFF2-40B4-BE49-F238E27FC236}">
                <a16:creationId xmlns:a16="http://schemas.microsoft.com/office/drawing/2014/main" id="{B277D896-ADD2-63F7-0E70-3C0B1058D5E4}"/>
              </a:ext>
            </a:extLst>
          </p:cNvPr>
          <p:cNvSpPr/>
          <p:nvPr/>
        </p:nvSpPr>
        <p:spPr>
          <a:xfrm>
            <a:off x="296365" y="423259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133" name="Freeform 48">
            <a:extLst>
              <a:ext uri="{FF2B5EF4-FFF2-40B4-BE49-F238E27FC236}">
                <a16:creationId xmlns:a16="http://schemas.microsoft.com/office/drawing/2014/main" id="{7FF69A24-B835-59DB-42DB-A705644DD3A8}"/>
              </a:ext>
            </a:extLst>
          </p:cNvPr>
          <p:cNvSpPr/>
          <p:nvPr/>
        </p:nvSpPr>
        <p:spPr>
          <a:xfrm>
            <a:off x="296365" y="6269373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Filtrage +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134" name="Freeform 51">
            <a:extLst>
              <a:ext uri="{FF2B5EF4-FFF2-40B4-BE49-F238E27FC236}">
                <a16:creationId xmlns:a16="http://schemas.microsoft.com/office/drawing/2014/main" id="{74093C17-B8DE-8B77-EC72-706E09757851}"/>
              </a:ext>
            </a:extLst>
          </p:cNvPr>
          <p:cNvSpPr/>
          <p:nvPr/>
        </p:nvSpPr>
        <p:spPr>
          <a:xfrm>
            <a:off x="296365" y="6962732"/>
            <a:ext cx="4093330" cy="610078"/>
          </a:xfrm>
          <a:custGeom>
            <a:avLst/>
            <a:gdLst/>
            <a:ahLst/>
            <a:cxnLst/>
            <a:rect l="l" t="t" r="r" b="b"/>
            <a:pathLst>
              <a:path w="1037242" h="195149">
                <a:moveTo>
                  <a:pt x="0" y="0"/>
                </a:moveTo>
                <a:lnTo>
                  <a:pt x="1037242" y="0"/>
                </a:lnTo>
                <a:lnTo>
                  <a:pt x="1037242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Sources mesures photométriques</a:t>
            </a:r>
          </a:p>
        </p:txBody>
      </p:sp>
      <p:sp>
        <p:nvSpPr>
          <p:cNvPr id="135" name="Freeform 45">
            <a:extLst>
              <a:ext uri="{FF2B5EF4-FFF2-40B4-BE49-F238E27FC236}">
                <a16:creationId xmlns:a16="http://schemas.microsoft.com/office/drawing/2014/main" id="{9B2A5E31-52CF-2199-4834-05B74B54A9F1}"/>
              </a:ext>
            </a:extLst>
          </p:cNvPr>
          <p:cNvSpPr/>
          <p:nvPr/>
        </p:nvSpPr>
        <p:spPr>
          <a:xfrm>
            <a:off x="296365" y="5573472"/>
            <a:ext cx="4094092" cy="501806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36" name="Freeform 39">
            <a:extLst>
              <a:ext uri="{FF2B5EF4-FFF2-40B4-BE49-F238E27FC236}">
                <a16:creationId xmlns:a16="http://schemas.microsoft.com/office/drawing/2014/main" id="{28956422-316B-A12C-F89B-9F4E01F1F025}"/>
              </a:ext>
            </a:extLst>
          </p:cNvPr>
          <p:cNvSpPr/>
          <p:nvPr/>
        </p:nvSpPr>
        <p:spPr>
          <a:xfrm>
            <a:off x="296365" y="4925952"/>
            <a:ext cx="4093330" cy="508202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Classe puzzle couches-minces</a:t>
            </a:r>
          </a:p>
        </p:txBody>
      </p:sp>
      <p:sp>
        <p:nvSpPr>
          <p:cNvPr id="143" name="TextBox 76">
            <a:extLst>
              <a:ext uri="{FF2B5EF4-FFF2-40B4-BE49-F238E27FC236}">
                <a16:creationId xmlns:a16="http://schemas.microsoft.com/office/drawing/2014/main" id="{AE47F6CB-44F5-AFD9-6411-217BB5B82C58}"/>
              </a:ext>
            </a:extLst>
          </p:cNvPr>
          <p:cNvSpPr txBox="1"/>
          <p:nvPr/>
        </p:nvSpPr>
        <p:spPr>
          <a:xfrm>
            <a:off x="13889590" y="2845876"/>
            <a:ext cx="4096383" cy="502859"/>
          </a:xfrm>
          <a:prstGeom prst="rect">
            <a:avLst/>
          </a:pr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>
            <a:defPPr>
              <a:defRPr lang="en-US"/>
            </a:defPPr>
            <a:lvl1pPr algn="ctr">
              <a:defRPr sz="2000">
                <a:latin typeface="Gotham Medium" panose="02000604030000020004" pitchFamily="2" charset="0"/>
              </a:defRPr>
            </a:lvl1pPr>
          </a:lstStyle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145" name="Freeform 63">
            <a:extLst>
              <a:ext uri="{FF2B5EF4-FFF2-40B4-BE49-F238E27FC236}">
                <a16:creationId xmlns:a16="http://schemas.microsoft.com/office/drawing/2014/main" id="{1E596DBC-40AE-5EE6-3EE9-357B9DF468EA}"/>
              </a:ext>
            </a:extLst>
          </p:cNvPr>
          <p:cNvSpPr/>
          <p:nvPr/>
        </p:nvSpPr>
        <p:spPr>
          <a:xfrm>
            <a:off x="9363133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</a:t>
            </a:r>
          </a:p>
        </p:txBody>
      </p:sp>
      <p:sp>
        <p:nvSpPr>
          <p:cNvPr id="149" name="Freeform 45">
            <a:extLst>
              <a:ext uri="{FF2B5EF4-FFF2-40B4-BE49-F238E27FC236}">
                <a16:creationId xmlns:a16="http://schemas.microsoft.com/office/drawing/2014/main" id="{90530EEC-AAEC-0C6E-6D2F-0BD6477A43AB}"/>
              </a:ext>
            </a:extLst>
          </p:cNvPr>
          <p:cNvSpPr/>
          <p:nvPr/>
        </p:nvSpPr>
        <p:spPr>
          <a:xfrm>
            <a:off x="4825000" y="4927006"/>
            <a:ext cx="4094092" cy="501805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0" name="Freeform 45">
            <a:extLst>
              <a:ext uri="{FF2B5EF4-FFF2-40B4-BE49-F238E27FC236}">
                <a16:creationId xmlns:a16="http://schemas.microsoft.com/office/drawing/2014/main" id="{AA414E41-CC8E-B13F-6559-22DDA00A01D0}"/>
              </a:ext>
            </a:extLst>
          </p:cNvPr>
          <p:cNvSpPr/>
          <p:nvPr/>
        </p:nvSpPr>
        <p:spPr>
          <a:xfrm>
            <a:off x="4825000" y="5573472"/>
            <a:ext cx="4094092" cy="501805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46FB5200-24A9-952A-6A64-37474967FAF8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7" name="Freeform 45">
            <a:extLst>
              <a:ext uri="{FF2B5EF4-FFF2-40B4-BE49-F238E27FC236}">
                <a16:creationId xmlns:a16="http://schemas.microsoft.com/office/drawing/2014/main" id="{FC5CC929-4918-9B5E-1BED-FD14E5B4FFF0}"/>
              </a:ext>
            </a:extLst>
          </p:cNvPr>
          <p:cNvSpPr/>
          <p:nvPr/>
        </p:nvSpPr>
        <p:spPr>
          <a:xfrm>
            <a:off x="9361507" y="4233965"/>
            <a:ext cx="4094092" cy="501488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8" name="Freeform 48">
            <a:extLst>
              <a:ext uri="{FF2B5EF4-FFF2-40B4-BE49-F238E27FC236}">
                <a16:creationId xmlns:a16="http://schemas.microsoft.com/office/drawing/2014/main" id="{F1D38D4F-FD72-CCC5-DE17-39B557D7656F}"/>
              </a:ext>
            </a:extLst>
          </p:cNvPr>
          <p:cNvSpPr/>
          <p:nvPr/>
        </p:nvSpPr>
        <p:spPr>
          <a:xfrm>
            <a:off x="9372631" y="4925952"/>
            <a:ext cx="4093330" cy="508202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Filtrage +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</p:spTree>
    <p:extLst>
      <p:ext uri="{BB962C8B-B14F-4D97-AF65-F5344CB8AC3E}">
        <p14:creationId xmlns:p14="http://schemas.microsoft.com/office/powerpoint/2010/main" val="3131972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Freeform 84">
            <a:extLst>
              <a:ext uri="{FF2B5EF4-FFF2-40B4-BE49-F238E27FC236}">
                <a16:creationId xmlns:a16="http://schemas.microsoft.com/office/drawing/2014/main" id="{EEFE47DE-964A-3E36-2C41-B83A444528C1}"/>
              </a:ext>
            </a:extLst>
          </p:cNvPr>
          <p:cNvSpPr/>
          <p:nvPr/>
        </p:nvSpPr>
        <p:spPr>
          <a:xfrm>
            <a:off x="151141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5" name="Freeform 87">
            <a:extLst>
              <a:ext uri="{FF2B5EF4-FFF2-40B4-BE49-F238E27FC236}">
                <a16:creationId xmlns:a16="http://schemas.microsoft.com/office/drawing/2014/main" id="{8CC5F216-5043-DB16-4672-DD66F0A760BA}"/>
              </a:ext>
            </a:extLst>
          </p:cNvPr>
          <p:cNvSpPr/>
          <p:nvPr/>
        </p:nvSpPr>
        <p:spPr>
          <a:xfrm>
            <a:off x="4684118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" name="Freeform 90">
            <a:extLst>
              <a:ext uri="{FF2B5EF4-FFF2-40B4-BE49-F238E27FC236}">
                <a16:creationId xmlns:a16="http://schemas.microsoft.com/office/drawing/2014/main" id="{3C41A37C-F35F-2A7A-E831-4B25DF0B447C}"/>
              </a:ext>
            </a:extLst>
          </p:cNvPr>
          <p:cNvSpPr/>
          <p:nvPr/>
        </p:nvSpPr>
        <p:spPr>
          <a:xfrm>
            <a:off x="9225710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18">
            <a:extLst>
              <a:ext uri="{FF2B5EF4-FFF2-40B4-BE49-F238E27FC236}">
                <a16:creationId xmlns:a16="http://schemas.microsoft.com/office/drawing/2014/main" id="{5B069778-DD60-37DE-D5AE-600F51CDEF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8" name="Freeform 9">
            <a:extLst>
              <a:ext uri="{FF2B5EF4-FFF2-40B4-BE49-F238E27FC236}">
                <a16:creationId xmlns:a16="http://schemas.microsoft.com/office/drawing/2014/main" id="{95E309B5-B85C-157A-734A-B6EE10230D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TextBox 88"/>
          <p:cNvSpPr txBox="1"/>
          <p:nvPr/>
        </p:nvSpPr>
        <p:spPr>
          <a:xfrm>
            <a:off x="4684118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9225710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0" name="Freeform 93">
            <a:extLst>
              <a:ext uri="{FF2B5EF4-FFF2-40B4-BE49-F238E27FC236}">
                <a16:creationId xmlns:a16="http://schemas.microsoft.com/office/drawing/2014/main" id="{34538AEB-8B72-FCD7-BF92-D228A8831E10}"/>
              </a:ext>
            </a:extLst>
          </p:cNvPr>
          <p:cNvSpPr/>
          <p:nvPr/>
        </p:nvSpPr>
        <p:spPr>
          <a:xfrm>
            <a:off x="4821001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81" name="Freeform 105">
            <a:extLst>
              <a:ext uri="{FF2B5EF4-FFF2-40B4-BE49-F238E27FC236}">
                <a16:creationId xmlns:a16="http://schemas.microsoft.com/office/drawing/2014/main" id="{8027E91F-57C6-F021-10C2-17FD5AE06DB2}"/>
              </a:ext>
            </a:extLst>
          </p:cNvPr>
          <p:cNvSpPr/>
          <p:nvPr/>
        </p:nvSpPr>
        <p:spPr>
          <a:xfrm>
            <a:off x="4821001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82" name="Freeform 93">
            <a:extLst>
              <a:ext uri="{FF2B5EF4-FFF2-40B4-BE49-F238E27FC236}">
                <a16:creationId xmlns:a16="http://schemas.microsoft.com/office/drawing/2014/main" id="{AE42691B-BD0D-7430-080F-65C2A1C2C6E3}"/>
              </a:ext>
            </a:extLst>
          </p:cNvPr>
          <p:cNvSpPr/>
          <p:nvPr/>
        </p:nvSpPr>
        <p:spPr>
          <a:xfrm>
            <a:off x="9360916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83" name="Freeform 105">
            <a:extLst>
              <a:ext uri="{FF2B5EF4-FFF2-40B4-BE49-F238E27FC236}">
                <a16:creationId xmlns:a16="http://schemas.microsoft.com/office/drawing/2014/main" id="{A246E220-515C-B7FF-F09B-1DFD4E98565D}"/>
              </a:ext>
            </a:extLst>
          </p:cNvPr>
          <p:cNvSpPr/>
          <p:nvPr/>
        </p:nvSpPr>
        <p:spPr>
          <a:xfrm>
            <a:off x="9360916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66" name="Freeform 24">
            <a:extLst>
              <a:ext uri="{FF2B5EF4-FFF2-40B4-BE49-F238E27FC236}">
                <a16:creationId xmlns:a16="http://schemas.microsoft.com/office/drawing/2014/main" id="{1CA84F22-C524-D0F6-6F85-49F97F98C5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9" name="Freeform 3">
            <a:extLst>
              <a:ext uri="{FF2B5EF4-FFF2-40B4-BE49-F238E27FC236}">
                <a16:creationId xmlns:a16="http://schemas.microsoft.com/office/drawing/2014/main" id="{17FB0992-4391-7615-9A10-9008F96820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3BCD9EEF-572D-98CD-EC2A-2568C8EC0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1" name="Ellipse 170">
            <a:extLst>
              <a:ext uri="{FF2B5EF4-FFF2-40B4-BE49-F238E27FC236}">
                <a16:creationId xmlns:a16="http://schemas.microsoft.com/office/drawing/2014/main" id="{3B68984B-74D9-CC4E-7F0F-F2DBD846F6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EDBCD3BE-29EA-2F1F-5ED3-DB19A3703D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C9608FA7-F8AB-11B1-F82D-069D7E24CD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7" name="Freeform 27"/>
          <p:cNvSpPr/>
          <p:nvPr/>
        </p:nvSpPr>
        <p:spPr>
          <a:xfrm>
            <a:off x="296365" y="2845876"/>
            <a:ext cx="1626691" cy="446278"/>
          </a:xfrm>
          <a:custGeom>
            <a:avLst/>
            <a:gdLst/>
            <a:ahLst/>
            <a:cxnLst/>
            <a:rect l="l" t="t" r="r" b="b"/>
            <a:pathLst>
              <a:path w="412200" h="113086">
                <a:moveTo>
                  <a:pt x="0" y="0"/>
                </a:moveTo>
                <a:lnTo>
                  <a:pt x="412200" y="0"/>
                </a:lnTo>
                <a:lnTo>
                  <a:pt x="412200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296365" y="338740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Process-flow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Freeform 33"/>
          <p:cNvSpPr/>
          <p:nvPr/>
        </p:nvSpPr>
        <p:spPr>
          <a:xfrm>
            <a:off x="4825000" y="3539235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Composant</a:t>
            </a:r>
          </a:p>
        </p:txBody>
      </p:sp>
      <p:sp>
        <p:nvSpPr>
          <p:cNvPr id="36" name="Freeform 36"/>
          <p:cNvSpPr/>
          <p:nvPr/>
        </p:nvSpPr>
        <p:spPr>
          <a:xfrm>
            <a:off x="296365" y="6303548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Cyber sécurité (3)</a:t>
            </a:r>
          </a:p>
        </p:txBody>
      </p:sp>
      <p:sp>
        <p:nvSpPr>
          <p:cNvPr id="39" name="Freeform 39"/>
          <p:cNvSpPr/>
          <p:nvPr/>
        </p:nvSpPr>
        <p:spPr>
          <a:xfrm>
            <a:off x="296365" y="3985513"/>
            <a:ext cx="2308210" cy="502859"/>
          </a:xfrm>
          <a:custGeom>
            <a:avLst/>
            <a:gdLst/>
            <a:ahLst/>
            <a:cxnLst/>
            <a:rect l="l" t="t" r="r" b="b"/>
            <a:pathLst>
              <a:path w="584896" h="127423">
                <a:moveTo>
                  <a:pt x="0" y="0"/>
                </a:moveTo>
                <a:lnTo>
                  <a:pt x="584896" y="0"/>
                </a:lnTo>
                <a:lnTo>
                  <a:pt x="584896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Automatique</a:t>
            </a:r>
          </a:p>
        </p:txBody>
      </p:sp>
      <p:sp>
        <p:nvSpPr>
          <p:cNvPr id="42" name="Freeform 42"/>
          <p:cNvSpPr/>
          <p:nvPr/>
        </p:nvSpPr>
        <p:spPr>
          <a:xfrm>
            <a:off x="296365" y="4583622"/>
            <a:ext cx="4094092" cy="482008"/>
          </a:xfrm>
          <a:custGeom>
            <a:avLst/>
            <a:gdLst/>
            <a:ahLst/>
            <a:cxnLst/>
            <a:rect l="l" t="t" r="r" b="b"/>
            <a:pathLst>
              <a:path w="1037435" h="122140">
                <a:moveTo>
                  <a:pt x="0" y="0"/>
                </a:moveTo>
                <a:lnTo>
                  <a:pt x="1037435" y="0"/>
                </a:lnTo>
                <a:lnTo>
                  <a:pt x="1037435" y="122140"/>
                </a:lnTo>
                <a:lnTo>
                  <a:pt x="0" y="122140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Process-flow composants</a:t>
            </a:r>
          </a:p>
        </p:txBody>
      </p:sp>
      <p:sp>
        <p:nvSpPr>
          <p:cNvPr id="45" name="Freeform 45"/>
          <p:cNvSpPr/>
          <p:nvPr/>
        </p:nvSpPr>
        <p:spPr>
          <a:xfrm>
            <a:off x="297127" y="5156930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48" name="Freeform 48"/>
          <p:cNvSpPr/>
          <p:nvPr/>
        </p:nvSpPr>
        <p:spPr>
          <a:xfrm>
            <a:off x="296365" y="5730239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TD interactions laser</a:t>
            </a:r>
          </a:p>
        </p:txBody>
      </p:sp>
      <p:sp>
        <p:nvSpPr>
          <p:cNvPr id="51" name="Freeform 51"/>
          <p:cNvSpPr/>
          <p:nvPr/>
        </p:nvSpPr>
        <p:spPr>
          <a:xfrm>
            <a:off x="4825000" y="423259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FSM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825000" y="2733108"/>
            <a:ext cx="4098265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7" name="Freeform 57"/>
          <p:cNvSpPr/>
          <p:nvPr/>
        </p:nvSpPr>
        <p:spPr>
          <a:xfrm>
            <a:off x="9366686" y="4925952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60" name="Freeform 60"/>
          <p:cNvSpPr/>
          <p:nvPr/>
        </p:nvSpPr>
        <p:spPr>
          <a:xfrm>
            <a:off x="9366686" y="5619311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Cyber sécurité (3)</a:t>
            </a:r>
          </a:p>
        </p:txBody>
      </p:sp>
      <p:sp>
        <p:nvSpPr>
          <p:cNvPr id="63" name="Freeform 63"/>
          <p:cNvSpPr/>
          <p:nvPr/>
        </p:nvSpPr>
        <p:spPr>
          <a:xfrm>
            <a:off x="9366686" y="4232594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Automatique</a:t>
            </a:r>
          </a:p>
        </p:txBody>
      </p:sp>
      <p:sp>
        <p:nvSpPr>
          <p:cNvPr id="66" name="Freeform 66"/>
          <p:cNvSpPr/>
          <p:nvPr/>
        </p:nvSpPr>
        <p:spPr>
          <a:xfrm>
            <a:off x="9366686" y="2845876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9366686" y="3539235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STM8</a:t>
            </a:r>
          </a:p>
        </p:txBody>
      </p:sp>
      <p:sp>
        <p:nvSpPr>
          <p:cNvPr id="72" name="Freeform 72"/>
          <p:cNvSpPr/>
          <p:nvPr/>
        </p:nvSpPr>
        <p:spPr>
          <a:xfrm>
            <a:off x="13889590" y="284587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Atelier enjeux environnementaux</a:t>
            </a:r>
          </a:p>
        </p:txBody>
      </p:sp>
      <p:sp>
        <p:nvSpPr>
          <p:cNvPr id="74" name="Freeform 74"/>
          <p:cNvSpPr/>
          <p:nvPr/>
        </p:nvSpPr>
        <p:spPr>
          <a:xfrm>
            <a:off x="3814874" y="347661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Freeform 76"/>
          <p:cNvSpPr/>
          <p:nvPr/>
        </p:nvSpPr>
        <p:spPr>
          <a:xfrm>
            <a:off x="13889590" y="380105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78" name="Freeform 78"/>
          <p:cNvSpPr/>
          <p:nvPr/>
        </p:nvSpPr>
        <p:spPr>
          <a:xfrm>
            <a:off x="17423365" y="387987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13889590" y="449441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82" name="Freeform 82"/>
          <p:cNvSpPr/>
          <p:nvPr/>
        </p:nvSpPr>
        <p:spPr>
          <a:xfrm>
            <a:off x="17423365" y="457323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151141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Freeform 93"/>
          <p:cNvSpPr/>
          <p:nvPr/>
        </p:nvSpPr>
        <p:spPr>
          <a:xfrm>
            <a:off x="297127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01" name="Freeform 101"/>
          <p:cNvSpPr/>
          <p:nvPr/>
        </p:nvSpPr>
        <p:spPr>
          <a:xfrm>
            <a:off x="3830902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Freeform 102"/>
          <p:cNvSpPr/>
          <p:nvPr/>
        </p:nvSpPr>
        <p:spPr>
          <a:xfrm>
            <a:off x="8363878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Freeform 103"/>
          <p:cNvSpPr/>
          <p:nvPr/>
        </p:nvSpPr>
        <p:spPr>
          <a:xfrm>
            <a:off x="12905470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Freeform 105"/>
          <p:cNvSpPr/>
          <p:nvPr/>
        </p:nvSpPr>
        <p:spPr>
          <a:xfrm>
            <a:off x="297127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13" name="Freeform 113"/>
          <p:cNvSpPr/>
          <p:nvPr/>
        </p:nvSpPr>
        <p:spPr>
          <a:xfrm>
            <a:off x="3830902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Freeform 114"/>
          <p:cNvSpPr/>
          <p:nvPr/>
        </p:nvSpPr>
        <p:spPr>
          <a:xfrm>
            <a:off x="8363878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Freeform 115"/>
          <p:cNvSpPr/>
          <p:nvPr/>
        </p:nvSpPr>
        <p:spPr>
          <a:xfrm>
            <a:off x="12905470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Freeform 120"/>
          <p:cNvSpPr/>
          <p:nvPr/>
        </p:nvSpPr>
        <p:spPr>
          <a:xfrm>
            <a:off x="296365" y="6880806"/>
            <a:ext cx="2847510" cy="502859"/>
          </a:xfrm>
          <a:custGeom>
            <a:avLst/>
            <a:gdLst/>
            <a:ahLst/>
            <a:cxnLst/>
            <a:rect l="l" t="t" r="r" b="b"/>
            <a:pathLst>
              <a:path w="697211" h="127423">
                <a:moveTo>
                  <a:pt x="0" y="0"/>
                </a:moveTo>
                <a:lnTo>
                  <a:pt x="697211" y="0"/>
                </a:lnTo>
                <a:lnTo>
                  <a:pt x="69721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bases de données</a:t>
            </a:r>
          </a:p>
        </p:txBody>
      </p:sp>
      <p:sp>
        <p:nvSpPr>
          <p:cNvPr id="123" name="Freeform 123"/>
          <p:cNvSpPr/>
          <p:nvPr/>
        </p:nvSpPr>
        <p:spPr>
          <a:xfrm>
            <a:off x="3193399" y="6880806"/>
            <a:ext cx="1196296" cy="502859"/>
          </a:xfrm>
          <a:custGeom>
            <a:avLst/>
            <a:gdLst/>
            <a:ahLst/>
            <a:cxnLst/>
            <a:rect l="l" t="t" r="r" b="b"/>
            <a:pathLst>
              <a:path w="315207" h="127423">
                <a:moveTo>
                  <a:pt x="0" y="0"/>
                </a:moveTo>
                <a:lnTo>
                  <a:pt x="315207" y="0"/>
                </a:lnTo>
                <a:lnTo>
                  <a:pt x="315207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26" name="Freeform 126"/>
          <p:cNvSpPr/>
          <p:nvPr/>
        </p:nvSpPr>
        <p:spPr>
          <a:xfrm>
            <a:off x="297127" y="7478915"/>
            <a:ext cx="4092568" cy="485639"/>
          </a:xfrm>
          <a:custGeom>
            <a:avLst/>
            <a:gdLst/>
            <a:ahLst/>
            <a:cxnLst/>
            <a:rect l="l" t="t" r="r" b="b"/>
            <a:pathLst>
              <a:path w="1037049" h="123060">
                <a:moveTo>
                  <a:pt x="0" y="0"/>
                </a:moveTo>
                <a:lnTo>
                  <a:pt x="1037049" y="0"/>
                </a:lnTo>
                <a:lnTo>
                  <a:pt x="1037049" y="123060"/>
                </a:lnTo>
                <a:lnTo>
                  <a:pt x="0" y="12306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Optronique</a:t>
            </a:r>
          </a:p>
        </p:txBody>
      </p:sp>
      <p:sp>
        <p:nvSpPr>
          <p:cNvPr id="129" name="Freeform 129"/>
          <p:cNvSpPr/>
          <p:nvPr/>
        </p:nvSpPr>
        <p:spPr>
          <a:xfrm>
            <a:off x="296365" y="8041260"/>
            <a:ext cx="4097145" cy="446278"/>
          </a:xfrm>
          <a:custGeom>
            <a:avLst/>
            <a:gdLst/>
            <a:ahLst/>
            <a:cxnLst/>
            <a:rect l="l" t="t" r="r" b="b"/>
            <a:pathLst>
              <a:path w="1038209" h="113086">
                <a:moveTo>
                  <a:pt x="0" y="0"/>
                </a:moveTo>
                <a:lnTo>
                  <a:pt x="1038209" y="0"/>
                </a:lnTo>
                <a:lnTo>
                  <a:pt x="1038209" y="113086"/>
                </a:lnTo>
                <a:lnTo>
                  <a:pt x="0" y="113086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Dossier Biblio Laser</a:t>
            </a:r>
          </a:p>
        </p:txBody>
      </p:sp>
      <p:sp>
        <p:nvSpPr>
          <p:cNvPr id="132" name="Freeform 132"/>
          <p:cNvSpPr/>
          <p:nvPr/>
        </p:nvSpPr>
        <p:spPr>
          <a:xfrm>
            <a:off x="2696837" y="3985513"/>
            <a:ext cx="1703524" cy="502859"/>
          </a:xfrm>
          <a:custGeom>
            <a:avLst/>
            <a:gdLst/>
            <a:ahLst/>
            <a:cxnLst/>
            <a:rect l="l" t="t" r="r" b="b"/>
            <a:pathLst>
              <a:path w="431670" h="127423">
                <a:moveTo>
                  <a:pt x="0" y="0"/>
                </a:moveTo>
                <a:lnTo>
                  <a:pt x="431670" y="0"/>
                </a:lnTo>
                <a:lnTo>
                  <a:pt x="431670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MEB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1999255" y="2845876"/>
            <a:ext cx="1194144" cy="446278"/>
          </a:xfrm>
          <a:custGeom>
            <a:avLst/>
            <a:gdLst/>
            <a:ahLst/>
            <a:cxnLst/>
            <a:rect l="l" t="t" r="r" b="b"/>
            <a:pathLst>
              <a:path w="302594" h="113086">
                <a:moveTo>
                  <a:pt x="0" y="0"/>
                </a:moveTo>
                <a:lnTo>
                  <a:pt x="302594" y="0"/>
                </a:lnTo>
                <a:lnTo>
                  <a:pt x="302594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STM8</a:t>
            </a:r>
          </a:p>
        </p:txBody>
      </p:sp>
      <p:sp>
        <p:nvSpPr>
          <p:cNvPr id="138" name="Freeform 138"/>
          <p:cNvSpPr/>
          <p:nvPr/>
        </p:nvSpPr>
        <p:spPr>
          <a:xfrm>
            <a:off x="3273008" y="2845876"/>
            <a:ext cx="1120501" cy="446278"/>
          </a:xfrm>
          <a:custGeom>
            <a:avLst/>
            <a:gdLst/>
            <a:ahLst/>
            <a:cxnLst/>
            <a:rect l="l" t="t" r="r" b="b"/>
            <a:pathLst>
              <a:path w="283933" h="113086">
                <a:moveTo>
                  <a:pt x="0" y="0"/>
                </a:moveTo>
                <a:lnTo>
                  <a:pt x="283933" y="0"/>
                </a:lnTo>
                <a:lnTo>
                  <a:pt x="283933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FSM</a:t>
            </a:r>
          </a:p>
        </p:txBody>
      </p:sp>
      <p:sp>
        <p:nvSpPr>
          <p:cNvPr id="141" name="Freeform 141"/>
          <p:cNvSpPr/>
          <p:nvPr/>
        </p:nvSpPr>
        <p:spPr>
          <a:xfrm>
            <a:off x="4825000" y="6312669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Lecture livre CEM</a:t>
            </a:r>
          </a:p>
        </p:txBody>
      </p:sp>
      <p:sp>
        <p:nvSpPr>
          <p:cNvPr id="144" name="Freeform 144"/>
          <p:cNvSpPr/>
          <p:nvPr/>
        </p:nvSpPr>
        <p:spPr>
          <a:xfrm>
            <a:off x="9357161" y="6312669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bases de données</a:t>
            </a:r>
          </a:p>
        </p:txBody>
      </p:sp>
      <p:sp>
        <p:nvSpPr>
          <p:cNvPr id="147" name="Freeform 147"/>
          <p:cNvSpPr/>
          <p:nvPr/>
        </p:nvSpPr>
        <p:spPr>
          <a:xfrm>
            <a:off x="9357161" y="7006028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50" name="Freeform 150"/>
          <p:cNvSpPr/>
          <p:nvPr/>
        </p:nvSpPr>
        <p:spPr>
          <a:xfrm>
            <a:off x="4825000" y="7006028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53" name="Freeform 153"/>
          <p:cNvSpPr/>
          <p:nvPr/>
        </p:nvSpPr>
        <p:spPr>
          <a:xfrm>
            <a:off x="4836139" y="7699387"/>
            <a:ext cx="4014487" cy="502859"/>
          </a:xfrm>
          <a:custGeom>
            <a:avLst/>
            <a:gdLst/>
            <a:ahLst/>
            <a:cxnLst/>
            <a:rect l="l" t="t" r="r" b="b"/>
            <a:pathLst>
              <a:path w="1017264" h="127423">
                <a:moveTo>
                  <a:pt x="0" y="0"/>
                </a:moveTo>
                <a:lnTo>
                  <a:pt x="1017264" y="0"/>
                </a:lnTo>
                <a:lnTo>
                  <a:pt x="10172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Optronique</a:t>
            </a:r>
          </a:p>
        </p:txBody>
      </p:sp>
      <p:sp>
        <p:nvSpPr>
          <p:cNvPr id="156" name="Freeform 156"/>
          <p:cNvSpPr/>
          <p:nvPr/>
        </p:nvSpPr>
        <p:spPr>
          <a:xfrm>
            <a:off x="4825000" y="4925952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159" name="Freeform 159"/>
          <p:cNvSpPr/>
          <p:nvPr/>
        </p:nvSpPr>
        <p:spPr>
          <a:xfrm>
            <a:off x="4825000" y="5619311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Carte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161" name="Freeform 161"/>
          <p:cNvSpPr/>
          <p:nvPr/>
        </p:nvSpPr>
        <p:spPr>
          <a:xfrm>
            <a:off x="8369914" y="570852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163"/>
          <p:cNvSpPr/>
          <p:nvPr/>
        </p:nvSpPr>
        <p:spPr>
          <a:xfrm>
            <a:off x="13899115" y="5187769"/>
            <a:ext cx="4086858" cy="502859"/>
          </a:xfrm>
          <a:custGeom>
            <a:avLst/>
            <a:gdLst/>
            <a:ahLst/>
            <a:cxnLst/>
            <a:rect l="l" t="t" r="r" b="b"/>
            <a:pathLst>
              <a:path w="1035602" h="127423">
                <a:moveTo>
                  <a:pt x="0" y="0"/>
                </a:moveTo>
                <a:lnTo>
                  <a:pt x="1035602" y="0"/>
                </a:lnTo>
                <a:lnTo>
                  <a:pt x="103560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Dossier Biblio Laser</a:t>
            </a:r>
          </a:p>
        </p:txBody>
      </p:sp>
      <p:sp>
        <p:nvSpPr>
          <p:cNvPr id="165" name="Freeform 119">
            <a:extLst>
              <a:ext uri="{FF2B5EF4-FFF2-40B4-BE49-F238E27FC236}">
                <a16:creationId xmlns:a16="http://schemas.microsoft.com/office/drawing/2014/main" id="{8AB12A00-01E5-741A-A9BE-64E2EB632B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2 (S7 et S8)</a:t>
            </a:r>
          </a:p>
        </p:txBody>
      </p:sp>
      <p:sp>
        <p:nvSpPr>
          <p:cNvPr id="175" name="Freeform 54">
            <a:extLst>
              <a:ext uri="{FF2B5EF4-FFF2-40B4-BE49-F238E27FC236}">
                <a16:creationId xmlns:a16="http://schemas.microsoft.com/office/drawing/2014/main" id="{88CF8510-6757-ED0E-9420-676EE041463A}"/>
              </a:ext>
            </a:extLst>
          </p:cNvPr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Procédé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71">
            <a:extLst>
              <a:ext uri="{FF2B5EF4-FFF2-40B4-BE49-F238E27FC236}">
                <a16:creationId xmlns:a16="http://schemas.microsoft.com/office/drawing/2014/main" id="{F1B67D0E-2A5A-7556-77A3-30DFE6C57B3B}"/>
              </a:ext>
            </a:extLst>
          </p:cNvPr>
          <p:cNvSpPr/>
          <p:nvPr/>
        </p:nvSpPr>
        <p:spPr>
          <a:xfrm>
            <a:off x="151141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Freeform 74">
            <a:extLst>
              <a:ext uri="{FF2B5EF4-FFF2-40B4-BE49-F238E27FC236}">
                <a16:creationId xmlns:a16="http://schemas.microsoft.com/office/drawing/2014/main" id="{51004AA1-265E-CC52-F17A-0CDC51282D2F}"/>
              </a:ext>
            </a:extLst>
          </p:cNvPr>
          <p:cNvSpPr/>
          <p:nvPr/>
        </p:nvSpPr>
        <p:spPr>
          <a:xfrm>
            <a:off x="4684118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Freeform 77">
            <a:extLst>
              <a:ext uri="{FF2B5EF4-FFF2-40B4-BE49-F238E27FC236}">
                <a16:creationId xmlns:a16="http://schemas.microsoft.com/office/drawing/2014/main" id="{3AD62519-1ECB-09CE-CC8E-A1D0FE4AFFA0}"/>
              </a:ext>
            </a:extLst>
          </p:cNvPr>
          <p:cNvSpPr/>
          <p:nvPr/>
        </p:nvSpPr>
        <p:spPr>
          <a:xfrm>
            <a:off x="9227497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Freeform 18">
            <a:extLst>
              <a:ext uri="{FF2B5EF4-FFF2-40B4-BE49-F238E27FC236}">
                <a16:creationId xmlns:a16="http://schemas.microsoft.com/office/drawing/2014/main" id="{E68CC88E-34BB-59BA-00AD-2AE95E274A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Freeform 9">
            <a:extLst>
              <a:ext uri="{FF2B5EF4-FFF2-40B4-BE49-F238E27FC236}">
                <a16:creationId xmlns:a16="http://schemas.microsoft.com/office/drawing/2014/main" id="{F301B75B-BF9C-677A-C7CA-2ABA79576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4684118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9227497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Freeform 80">
            <a:extLst>
              <a:ext uri="{FF2B5EF4-FFF2-40B4-BE49-F238E27FC236}">
                <a16:creationId xmlns:a16="http://schemas.microsoft.com/office/drawing/2014/main" id="{7F4DB156-53AC-B8CA-0EC0-8EADE763D1AB}"/>
              </a:ext>
            </a:extLst>
          </p:cNvPr>
          <p:cNvSpPr/>
          <p:nvPr/>
        </p:nvSpPr>
        <p:spPr>
          <a:xfrm>
            <a:off x="4833268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118" name="Freeform 92">
            <a:extLst>
              <a:ext uri="{FF2B5EF4-FFF2-40B4-BE49-F238E27FC236}">
                <a16:creationId xmlns:a16="http://schemas.microsoft.com/office/drawing/2014/main" id="{9AD65D4C-BBEA-C488-4B30-38282E0AF3BC}"/>
              </a:ext>
            </a:extLst>
          </p:cNvPr>
          <p:cNvSpPr/>
          <p:nvPr/>
        </p:nvSpPr>
        <p:spPr>
          <a:xfrm>
            <a:off x="4833268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19" name="Freeform 80">
            <a:extLst>
              <a:ext uri="{FF2B5EF4-FFF2-40B4-BE49-F238E27FC236}">
                <a16:creationId xmlns:a16="http://schemas.microsoft.com/office/drawing/2014/main" id="{7F28E3A9-2248-790F-1CB6-13E24466CCCA}"/>
              </a:ext>
            </a:extLst>
          </p:cNvPr>
          <p:cNvSpPr/>
          <p:nvPr/>
        </p:nvSpPr>
        <p:spPr>
          <a:xfrm>
            <a:off x="9351480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120" name="Freeform 92">
            <a:extLst>
              <a:ext uri="{FF2B5EF4-FFF2-40B4-BE49-F238E27FC236}">
                <a16:creationId xmlns:a16="http://schemas.microsoft.com/office/drawing/2014/main" id="{992CF300-5971-71F1-E7CE-E794FAE08871}"/>
              </a:ext>
            </a:extLst>
          </p:cNvPr>
          <p:cNvSpPr/>
          <p:nvPr/>
        </p:nvSpPr>
        <p:spPr>
          <a:xfrm>
            <a:off x="9351480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08" name="Freeform 24">
            <a:extLst>
              <a:ext uri="{FF2B5EF4-FFF2-40B4-BE49-F238E27FC236}">
                <a16:creationId xmlns:a16="http://schemas.microsoft.com/office/drawing/2014/main" id="{D97578DA-7477-F66B-90FC-697E3EA831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Freeform 3">
            <a:extLst>
              <a:ext uri="{FF2B5EF4-FFF2-40B4-BE49-F238E27FC236}">
                <a16:creationId xmlns:a16="http://schemas.microsoft.com/office/drawing/2014/main" id="{B465D3AA-5DBB-977D-733F-759C3CB179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F08C2C98-7609-2B01-6DE3-15E8CE76D0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23E6D467-BE67-7245-2AF8-08CD075B0B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93060019-23C7-6583-0B5E-4A192E99EA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0B6F1928-926B-80CB-81A0-BA30D95565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4" name="Freeform 119">
            <a:extLst>
              <a:ext uri="{FF2B5EF4-FFF2-40B4-BE49-F238E27FC236}">
                <a16:creationId xmlns:a16="http://schemas.microsoft.com/office/drawing/2014/main" id="{49CF58AA-345B-FBD9-8655-6BFC4BA093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3 (S9 et S10)</a:t>
            </a:r>
          </a:p>
        </p:txBody>
      </p:sp>
      <p:sp>
        <p:nvSpPr>
          <p:cNvPr id="27" name="Freeform 27"/>
          <p:cNvSpPr/>
          <p:nvPr/>
        </p:nvSpPr>
        <p:spPr>
          <a:xfrm>
            <a:off x="296365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Computer Vision</a:t>
            </a:r>
          </a:p>
        </p:txBody>
      </p:sp>
      <p:sp>
        <p:nvSpPr>
          <p:cNvPr id="30" name="Freeform 30"/>
          <p:cNvSpPr/>
          <p:nvPr/>
        </p:nvSpPr>
        <p:spPr>
          <a:xfrm>
            <a:off x="9376536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Computer Vision</a:t>
            </a:r>
          </a:p>
        </p:txBody>
      </p:sp>
      <p:sp>
        <p:nvSpPr>
          <p:cNvPr id="33" name="Freeform 33"/>
          <p:cNvSpPr/>
          <p:nvPr/>
        </p:nvSpPr>
        <p:spPr>
          <a:xfrm>
            <a:off x="296365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9376536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4825000" y="3539235"/>
            <a:ext cx="4098265" cy="770128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TP Physical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2" name="Freeform 42"/>
          <p:cNvSpPr/>
          <p:nvPr/>
        </p:nvSpPr>
        <p:spPr>
          <a:xfrm>
            <a:off x="296365" y="423259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Androïd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296365" y="4925952"/>
            <a:ext cx="4094092" cy="502859"/>
          </a:xfrm>
          <a:custGeom>
            <a:avLst/>
            <a:gdLst/>
            <a:ahLst/>
            <a:cxnLst/>
            <a:rect l="l" t="t" r="r" b="b"/>
            <a:pathLst>
              <a:path w="1037435" h="127423">
                <a:moveTo>
                  <a:pt x="0" y="0"/>
                </a:moveTo>
                <a:lnTo>
                  <a:pt x="1037435" y="0"/>
                </a:lnTo>
                <a:lnTo>
                  <a:pt x="103743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FPGE</a:t>
            </a:r>
          </a:p>
        </p:txBody>
      </p:sp>
      <p:sp>
        <p:nvSpPr>
          <p:cNvPr id="48" name="Freeform 48"/>
          <p:cNvSpPr/>
          <p:nvPr/>
        </p:nvSpPr>
        <p:spPr>
          <a:xfrm>
            <a:off x="297127" y="5619311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Machine Learning</a:t>
            </a:r>
          </a:p>
        </p:txBody>
      </p:sp>
      <p:sp>
        <p:nvSpPr>
          <p:cNvPr id="51" name="Freeform 51"/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Plasma</a:t>
            </a:r>
          </a:p>
        </p:txBody>
      </p:sp>
      <p:sp>
        <p:nvSpPr>
          <p:cNvPr id="54" name="Freeform 54"/>
          <p:cNvSpPr/>
          <p:nvPr/>
        </p:nvSpPr>
        <p:spPr>
          <a:xfrm>
            <a:off x="9366686" y="4232594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Machine Learning</a:t>
            </a:r>
          </a:p>
        </p:txBody>
      </p:sp>
      <p:sp>
        <p:nvSpPr>
          <p:cNvPr id="57" name="Freeform 57"/>
          <p:cNvSpPr/>
          <p:nvPr/>
        </p:nvSpPr>
        <p:spPr>
          <a:xfrm>
            <a:off x="9366686" y="4925952"/>
            <a:ext cx="4098076" cy="770128"/>
          </a:xfrm>
          <a:custGeom>
            <a:avLst/>
            <a:gdLst/>
            <a:ahLst/>
            <a:cxnLst/>
            <a:rect l="l" t="t" r="r" b="b"/>
            <a:pathLst>
              <a:path w="1038445" h="195149">
                <a:moveTo>
                  <a:pt x="0" y="0"/>
                </a:moveTo>
                <a:lnTo>
                  <a:pt x="1038445" y="0"/>
                </a:lnTo>
                <a:lnTo>
                  <a:pt x="1038445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Physical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60" name="Freeform 60"/>
          <p:cNvSpPr/>
          <p:nvPr/>
        </p:nvSpPr>
        <p:spPr>
          <a:xfrm>
            <a:off x="13889590" y="2845876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63" name="Freeform 63"/>
          <p:cNvSpPr/>
          <p:nvPr/>
        </p:nvSpPr>
        <p:spPr>
          <a:xfrm>
            <a:off x="13889590" y="3539235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guidé</a:t>
            </a:r>
          </a:p>
        </p:txBody>
      </p:sp>
      <p:sp>
        <p:nvSpPr>
          <p:cNvPr id="65" name="Freeform 65"/>
          <p:cNvSpPr/>
          <p:nvPr/>
        </p:nvSpPr>
        <p:spPr>
          <a:xfrm>
            <a:off x="17423365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Freeform 67"/>
          <p:cNvSpPr/>
          <p:nvPr/>
        </p:nvSpPr>
        <p:spPr>
          <a:xfrm>
            <a:off x="13889590" y="4232594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17423365" y="432180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151141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297127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88" name="Freeform 88"/>
          <p:cNvSpPr/>
          <p:nvPr/>
        </p:nvSpPr>
        <p:spPr>
          <a:xfrm>
            <a:off x="3830902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Freeform 89"/>
          <p:cNvSpPr/>
          <p:nvPr/>
        </p:nvSpPr>
        <p:spPr>
          <a:xfrm>
            <a:off x="8363878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Freeform 90"/>
          <p:cNvSpPr/>
          <p:nvPr/>
        </p:nvSpPr>
        <p:spPr>
          <a:xfrm>
            <a:off x="12907257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Freeform 92"/>
          <p:cNvSpPr/>
          <p:nvPr/>
        </p:nvSpPr>
        <p:spPr>
          <a:xfrm>
            <a:off x="297127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00" name="Freeform 100"/>
          <p:cNvSpPr/>
          <p:nvPr/>
        </p:nvSpPr>
        <p:spPr>
          <a:xfrm>
            <a:off x="3830902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Freeform 101"/>
          <p:cNvSpPr/>
          <p:nvPr/>
        </p:nvSpPr>
        <p:spPr>
          <a:xfrm>
            <a:off x="8363878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Freeform 102"/>
          <p:cNvSpPr/>
          <p:nvPr/>
        </p:nvSpPr>
        <p:spPr>
          <a:xfrm>
            <a:off x="12907257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ée un document." ma:contentTypeScope="" ma:versionID="9dd84554855137b3c4e9941de9ea473a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597d1f51a261b32c39cf293dd3671caf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alises d’image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BE6D3ED-8F0C-494D-B281-B74EF2EC25F6}"/>
</file>

<file path=customXml/itemProps2.xml><?xml version="1.0" encoding="utf-8"?>
<ds:datastoreItem xmlns:ds="http://schemas.openxmlformats.org/officeDocument/2006/customXml" ds:itemID="{E267B8AD-384E-4782-B430-F82376292C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6F0A0A-BBFC-4D41-995D-6FCF93F1D7C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1632</Words>
  <Application>Microsoft Macintosh PowerPoint</Application>
  <PresentationFormat>Personnalisé</PresentationFormat>
  <Paragraphs>691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Calibri</vt:lpstr>
      <vt:lpstr>Segoe UI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Cartographie</dc:title>
  <cp:lastModifiedBy>marc skerrett</cp:lastModifiedBy>
  <cp:revision>164</cp:revision>
  <dcterms:created xsi:type="dcterms:W3CDTF">2006-08-16T00:00:00Z</dcterms:created>
  <dcterms:modified xsi:type="dcterms:W3CDTF">2025-06-15T20:58:44Z</dcterms:modified>
  <dc:identifier>DAGc1mWC1s8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  <property fmtid="{D5CDD505-2E9C-101B-9397-08002B2CF9AE}" pid="3" name="Order">
    <vt:r8>60800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